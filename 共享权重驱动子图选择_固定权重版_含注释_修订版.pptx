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2"/>
    <p:sldId id="257" r:id="rId3"/>
    <p:sldId id="258" r:id="rId4"/>
  </p:sldIdLst>
  <p:sldSz cx="15240000" cy="85725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00" y="5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Based on the user's revised algorithm. Weights w are fixed at candidate-graph generation and count distinct views, not paths. Q only shrinks; weights never change. RankedExtensions generates complete, finite candidate dependency extensions on demand. Ranking first prefers existing selected nodes, then higher fixed-weight intermediate nodes. This is a heuristic preference, not a global optimality claim.</a:t>
            </a:r>
          </a:p>
          <a:p>
            <a:endParaRPr/>
          </a:p>
          <a:p>
            <a:r>
              <a:t>Legal checks SQL-equivalent results, snapshot/delta versions, valid rewrites and consistent dependencies. SingleProducer permits at most one selected producer computation identifier per non-base result/version during partial construction. Registered but not yet completed target nodes may have zero producers. Executable requires exactly one producer for every retained non-base result. The multiple input arcs of that one computation are all necessary, not competing alternatives. Acyclic applies globally. An extension must complete at least one relevant target through v and include all side inputs.</a:t>
            </a:r>
          </a:p>
          <a:p>
            <a:endParaRPr/>
          </a:p>
          <a:p>
            <a:r>
              <a:t>P0 is a retained executable baseline subgraph satisfying semantic validity, terminal coverage, complete dependencies, single producers and global acyclicity. CompleteTargetsWithRollback fills remaining targets using retained legal paths, preferring selected nodes and higher fixed weights, and can undo conflicting choices. If this fails, restore P0.</a:t>
            </a:r>
          </a:p>
          <a:p>
            <a:endParaRPr/>
          </a:p>
          <a:p>
            <a:r>
              <a:t>PruneUnusedDependencies traverses backward from all T through selected producer computations and all their inputs. Keep only those computations and data dependencies, plus mandatory base nodes B. This removes orphan or unused intermediate nodes, not disconnected components containing a target. A base eliminated by valid constraint rewriting may remain an isolated registered terminal because K=B union T must be covered.</a:t>
            </a:r>
          </a:p>
          <a:p>
            <a:endParaRPr/>
          </a:p>
          <a:p>
            <a:r>
              <a:t>Valid means Executable plus no intermediate data node or computation outside the selected dependency closure of T. Materialization is a later decision. Logical sharing does not guarantee one physical computation. The procedure does not guarantee minimum graph size or minimum cost.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Based on the user's revised algorithm. Weights w are fixed at candidate-graph generation and count distinct views, not paths. Q only shrinks; weights never change. RankedExtensions generates complete, finite candidate dependency extensions on demand. Ranking first prefers existing selected nodes, then higher fixed-weight intermediate nodes. This is a heuristic preference, not a global optimality claim.</a:t>
            </a:r>
          </a:p>
          <a:p>
            <a:endParaRPr/>
          </a:p>
          <a:p>
            <a:r>
              <a:t>Legal checks SQL-equivalent results, snapshot/delta versions, valid rewrites and consistent dependencies. SingleProducer permits at most one selected producer computation identifier per non-base result/version during partial construction. Registered but not yet completed target nodes may have zero producers. Executable requires exactly one producer for every retained non-base result. The multiple input arcs of that one computation are all necessary, not competing alternatives. Acyclic applies globally. An extension must complete at least one relevant target through v and include all side inputs.</a:t>
            </a:r>
          </a:p>
          <a:p>
            <a:endParaRPr/>
          </a:p>
          <a:p>
            <a:r>
              <a:t>P0 is a retained executable baseline subgraph satisfying semantic validity, terminal coverage, complete dependencies, single producers and global acyclicity. CompleteTargetsWithRollback fills remaining targets using retained legal paths, preferring selected nodes and higher fixed weights, and can undo conflicting choices. If this fails, restore P0.</a:t>
            </a:r>
          </a:p>
          <a:p>
            <a:endParaRPr/>
          </a:p>
          <a:p>
            <a:r>
              <a:t>PruneUnusedDependencies traverses backward from all T through selected producer computations and all their inputs. Keep only those computations and data dependencies, plus mandatory base nodes B. This removes orphan or unused intermediate nodes, not disconnected components containing a target. A base eliminated by valid constraint rewriting may remain an isolated registered terminal because K=B union T must be covered.</a:t>
            </a:r>
          </a:p>
          <a:p>
            <a:endParaRPr/>
          </a:p>
          <a:p>
            <a:r>
              <a:t>Valid means Executable plus no intermediate data node or computation outside the selected dependency closure of T. Materialization is a later decision. Logical sharing does not guarantee one physical computation. The procedure does not guarantee minimum graph size or minimum cost.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88698-9720-0ED4-ABC6-E9186CE8A6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4B7FA5-FCCD-41A8-6A2D-3908342619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519C74-0D15-F02E-6998-8FB32FC7DD88}"/>
              </a:ext>
            </a:extLst>
          </p:cNvPr>
          <p:cNvSpPr>
            <a:spLocks noGrp="1"/>
          </p:cNvSpPr>
          <p:nvPr>
            <p:ph type="body" idx="1"/>
          </p:nvPr>
        </p:nvSpPr>
        <p:spPr/>
        <p:txBody>
          <a:bodyPr/>
          <a:lstStyle/>
          <a:p>
            <a:r>
              <a:t>Based on the user's revised algorithm. Weights w are fixed at candidate-graph generation and count distinct views, not paths. Q only shrinks; weights never change. RankedExtensions generates complete, finite candidate dependency extensions on demand. Ranking first prefers existing selected nodes, then higher fixed-weight intermediate nodes. This is a heuristic preference, not a global optimality claim.</a:t>
            </a:r>
          </a:p>
          <a:p>
            <a:endParaRPr/>
          </a:p>
          <a:p>
            <a:r>
              <a:t>Legal checks SQL-equivalent results, snapshot/delta versions, valid rewrites and consistent dependencies. SingleProducer permits at most one selected producer computation identifier per non-base result/version during partial construction. Registered but not yet completed target nodes may have zero producers. Executable requires exactly one producer for every retained non-base result. The multiple input arcs of that one computation are all necessary, not competing alternatives. Acyclic applies globally. An extension must complete at least one relevant target through v and include all side inputs.</a:t>
            </a:r>
          </a:p>
          <a:p>
            <a:endParaRPr/>
          </a:p>
          <a:p>
            <a:r>
              <a:t>P0 is a retained executable baseline subgraph satisfying semantic validity, terminal coverage, complete dependencies, single producers and global acyclicity. CompleteTargetsWithRollback fills remaining targets using retained legal paths, preferring selected nodes and higher fixed weights, and can undo conflicting choices. If this fails, restore P0.</a:t>
            </a:r>
          </a:p>
          <a:p>
            <a:endParaRPr/>
          </a:p>
          <a:p>
            <a:r>
              <a:t>PruneUnusedDependencies traverses backward from all T through selected producer computations and all their inputs. Keep only those computations and data dependencies, plus mandatory base nodes B. This removes orphan or unused intermediate nodes, not disconnected components containing a target. A base eliminated by valid constraint rewriting may remain an isolated registered terminal because K=B union T must be covered.</a:t>
            </a:r>
          </a:p>
          <a:p>
            <a:endParaRPr/>
          </a:p>
          <a:p>
            <a:r>
              <a:t>Valid means Executable plus no intermediate data node or computation outside the selected dependency closure of T. Materialization is a later decision. Logical sharing does not guarantee one physical computation. The procedure does not guarantee minimum graph size or minimum cost.</a:t>
            </a:r>
          </a:p>
        </p:txBody>
      </p:sp>
      <p:sp>
        <p:nvSpPr>
          <p:cNvPr id="4" name="Slide Number Placeholder 3">
            <a:extLst>
              <a:ext uri="{FF2B5EF4-FFF2-40B4-BE49-F238E27FC236}">
                <a16:creationId xmlns:a16="http://schemas.microsoft.com/office/drawing/2014/main" id="{57C9314E-0FE3-F37C-B6CF-D1A7F586406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7456248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title">
            <a:extLst>
              <a:ext uri="{FF2B5EF4-FFF2-40B4-BE49-F238E27FC236}">
                <a16:creationId xmlns:a16="http://schemas.microsoft.com/office/drawing/2014/main" id="{B17D9C49-DB23-4E1B-BF13-F9F30823B295}"/>
              </a:ext>
            </a:extLst>
          </p:cNvPr>
          <p:cNvSpPr>
            <a:spLocks noGrp="1"/>
          </p:cNvSpPr>
          <p:nvPr/>
        </p:nvSpPr>
        <p:spPr>
          <a:xfrm>
            <a:off x="571500" y="304800"/>
            <a:ext cx="14097000" cy="590550"/>
          </a:xfrm>
          <a:prstGeom prst="rect">
            <a:avLst/>
          </a:prstGeom>
          <a:noFill/>
          <a:ln w="0">
            <a:noFill/>
          </a:ln>
        </p:spPr>
        <p:txBody>
          <a:bodyPr wrap="none" lIns="0" tIns="0" rIns="0" bIns="0" anchor="t">
            <a:noAutofit/>
          </a:bodyPr>
          <a:lstStyle/>
          <a:p>
            <a:pPr>
              <a:defRPr sz="3300" b="1">
                <a:solidFill>
                  <a:srgbClr val="B51B32"/>
                </a:solidFill>
                <a:latin typeface="Calibri"/>
                <a:ea typeface="Calibri"/>
                <a:cs typeface="Calibri"/>
              </a:defRPr>
            </a:pPr>
            <a:r>
              <a:rPr sz="3300" b="1">
                <a:solidFill>
                  <a:srgbClr val="B51B32"/>
                </a:solidFill>
                <a:latin typeface="Calibri"/>
                <a:ea typeface="Calibri"/>
                <a:cs typeface="Calibri"/>
              </a:rPr>
              <a:t>Greedy Subgraph Selection with Fixed Sharing Weights</a:t>
            </a:r>
          </a:p>
        </p:txBody>
      </p:sp>
      <p:sp>
        <p:nvSpPr>
          <p:cNvPr id="2" name="input">
            <a:extLst>
              <a:ext uri="{FF2B5EF4-FFF2-40B4-BE49-F238E27FC236}">
                <a16:creationId xmlns:a16="http://schemas.microsoft.com/office/drawing/2014/main" id="{C7074A09-5954-48DD-9ABC-21F9530D48E0}"/>
              </a:ext>
            </a:extLst>
          </p:cNvPr>
          <p:cNvSpPr>
            <a:spLocks noGrp="1"/>
          </p:cNvSpPr>
          <p:nvPr/>
        </p:nvSpPr>
        <p:spPr>
          <a:xfrm>
            <a:off x="571500" y="990600"/>
            <a:ext cx="14097000" cy="361950"/>
          </a:xfrm>
          <a:prstGeom prst="rect">
            <a:avLst/>
          </a:prstGeom>
          <a:noFill/>
          <a:ln w="0">
            <a:noFill/>
          </a:ln>
        </p:spPr>
        <p:txBody>
          <a:bodyPr wrap="none" lIns="0" tIns="0" rIns="0" bIns="0" anchor="t">
            <a:noAutofit/>
          </a:bodyPr>
          <a:lstStyle/>
          <a:p>
            <a:pPr>
              <a:defRPr sz="2025" b="0">
                <a:solidFill>
                  <a:srgbClr val="18212B"/>
                </a:solidFill>
                <a:latin typeface="Calibri"/>
                <a:ea typeface="Calibri"/>
                <a:cs typeface="Calibri"/>
              </a:defRPr>
            </a:pPr>
            <a:r>
              <a:rPr sz="2025" b="0">
                <a:solidFill>
                  <a:srgbClr val="18212B"/>
                </a:solidFill>
                <a:latin typeface="Calibri"/>
                <a:ea typeface="Calibri"/>
                <a:cs typeface="Calibri"/>
              </a:rPr>
              <a:t>Input: G (candidate graph), B (base nodes), T (targets), w (fixed weights), P₀ (valid baseline)</a:t>
            </a:r>
          </a:p>
        </p:txBody>
      </p:sp>
      <p:sp>
        <p:nvSpPr>
          <p:cNvPr id="3" name="output">
            <a:extLst>
              <a:ext uri="{FF2B5EF4-FFF2-40B4-BE49-F238E27FC236}">
                <a16:creationId xmlns:a16="http://schemas.microsoft.com/office/drawing/2014/main" id="{CCAB92E6-64DA-4357-88D8-F297F773A621}"/>
              </a:ext>
            </a:extLst>
          </p:cNvPr>
          <p:cNvSpPr>
            <a:spLocks noGrp="1"/>
          </p:cNvSpPr>
          <p:nvPr/>
        </p:nvSpPr>
        <p:spPr>
          <a:xfrm>
            <a:off x="571500" y="1381125"/>
            <a:ext cx="14097000" cy="361950"/>
          </a:xfrm>
          <a:prstGeom prst="rect">
            <a:avLst/>
          </a:prstGeom>
          <a:noFill/>
          <a:ln w="0">
            <a:noFill/>
          </a:ln>
        </p:spPr>
        <p:txBody>
          <a:bodyPr wrap="none" lIns="0" tIns="0" rIns="0" bIns="0" anchor="t">
            <a:noAutofit/>
          </a:bodyPr>
          <a:lstStyle/>
          <a:p>
            <a:pPr>
              <a:defRPr sz="2025" b="0">
                <a:solidFill>
                  <a:srgbClr val="18212B"/>
                </a:solidFill>
                <a:latin typeface="Calibri"/>
                <a:ea typeface="Calibri"/>
                <a:cs typeface="Calibri"/>
              </a:defRPr>
            </a:pPr>
            <a:r>
              <a:rPr sz="2025" b="0">
                <a:solidFill>
                  <a:srgbClr val="18212B"/>
                </a:solidFill>
                <a:latin typeface="Calibri"/>
                <a:ea typeface="Calibri"/>
                <a:cs typeface="Calibri"/>
              </a:rPr>
              <a:t>Output: P with complete target plans, one producer per result, and no unused intermediate nodes</a:t>
            </a:r>
          </a:p>
        </p:txBody>
      </p:sp>
      <p:sp>
        <p:nvSpPr>
          <p:cNvPr id="4" name="number-1">
            <a:extLst>
              <a:ext uri="{FF2B5EF4-FFF2-40B4-BE49-F238E27FC236}">
                <a16:creationId xmlns:a16="http://schemas.microsoft.com/office/drawing/2014/main" id="{CA552D66-B08A-49E8-8E40-43B350B2B3EB}"/>
              </a:ext>
            </a:extLst>
          </p:cNvPr>
          <p:cNvSpPr>
            <a:spLocks noGrp="1"/>
          </p:cNvSpPr>
          <p:nvPr/>
        </p:nvSpPr>
        <p:spPr>
          <a:xfrm>
            <a:off x="590550" y="202882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01</a:t>
            </a:r>
          </a:p>
        </p:txBody>
      </p:sp>
      <p:sp>
        <p:nvSpPr>
          <p:cNvPr id="5" name="code-1">
            <a:extLst>
              <a:ext uri="{FF2B5EF4-FFF2-40B4-BE49-F238E27FC236}">
                <a16:creationId xmlns:a16="http://schemas.microsoft.com/office/drawing/2014/main" id="{40AB2125-AE7D-430D-B376-1F3BEBB9F7C3}"/>
              </a:ext>
            </a:extLst>
          </p:cNvPr>
          <p:cNvSpPr>
            <a:spLocks noGrp="1"/>
          </p:cNvSpPr>
          <p:nvPr/>
        </p:nvSpPr>
        <p:spPr>
          <a:xfrm>
            <a:off x="1133475" y="200025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a:solidFill>
                  <a:srgbClr val="18212B"/>
                </a:solidFill>
                <a:latin typeface="Consolas"/>
                <a:ea typeface="Consolas"/>
                <a:cs typeface="Consolas"/>
              </a:rPr>
              <a:t>K ← B ∪ T</a:t>
            </a:r>
          </a:p>
        </p:txBody>
      </p:sp>
      <p:sp>
        <p:nvSpPr>
          <p:cNvPr id="6" name="number-2">
            <a:extLst>
              <a:ext uri="{FF2B5EF4-FFF2-40B4-BE49-F238E27FC236}">
                <a16:creationId xmlns:a16="http://schemas.microsoft.com/office/drawing/2014/main" id="{31D259E4-0364-4517-988C-03DE0AF51883}"/>
              </a:ext>
            </a:extLst>
          </p:cNvPr>
          <p:cNvSpPr>
            <a:spLocks noGrp="1"/>
          </p:cNvSpPr>
          <p:nvPr/>
        </p:nvSpPr>
        <p:spPr>
          <a:xfrm>
            <a:off x="590550" y="235267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02</a:t>
            </a:r>
          </a:p>
        </p:txBody>
      </p:sp>
      <p:sp>
        <p:nvSpPr>
          <p:cNvPr id="7" name="code-2">
            <a:extLst>
              <a:ext uri="{FF2B5EF4-FFF2-40B4-BE49-F238E27FC236}">
                <a16:creationId xmlns:a16="http://schemas.microsoft.com/office/drawing/2014/main" id="{9C6346BE-9AA3-468C-9972-AA1A310FFD8B}"/>
              </a:ext>
            </a:extLst>
          </p:cNvPr>
          <p:cNvSpPr>
            <a:spLocks noGrp="1"/>
          </p:cNvSpPr>
          <p:nvPr/>
        </p:nvSpPr>
        <p:spPr>
          <a:xfrm>
            <a:off x="1133475" y="232410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a:solidFill>
                  <a:srgbClr val="18212B"/>
                </a:solidFill>
                <a:latin typeface="Consolas"/>
                <a:ea typeface="Consolas"/>
                <a:cs typeface="Consolas"/>
              </a:rPr>
              <a:t>P ← (K, ∅)</a:t>
            </a:r>
          </a:p>
        </p:txBody>
      </p:sp>
      <p:sp>
        <p:nvSpPr>
          <p:cNvPr id="8" name="number-3">
            <a:extLst>
              <a:ext uri="{FF2B5EF4-FFF2-40B4-BE49-F238E27FC236}">
                <a16:creationId xmlns:a16="http://schemas.microsoft.com/office/drawing/2014/main" id="{B8407993-9152-46A2-A3A1-4CCEAD8E0558}"/>
              </a:ext>
            </a:extLst>
          </p:cNvPr>
          <p:cNvSpPr>
            <a:spLocks noGrp="1"/>
          </p:cNvSpPr>
          <p:nvPr/>
        </p:nvSpPr>
        <p:spPr>
          <a:xfrm>
            <a:off x="590550" y="267652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03</a:t>
            </a:r>
          </a:p>
        </p:txBody>
      </p:sp>
      <p:sp>
        <p:nvSpPr>
          <p:cNvPr id="9" name="code-3">
            <a:extLst>
              <a:ext uri="{FF2B5EF4-FFF2-40B4-BE49-F238E27FC236}">
                <a16:creationId xmlns:a16="http://schemas.microsoft.com/office/drawing/2014/main" id="{46107212-2FFF-4306-A08C-D13AE7EF9BDE}"/>
              </a:ext>
            </a:extLst>
          </p:cNvPr>
          <p:cNvSpPr>
            <a:spLocks noGrp="1"/>
          </p:cNvSpPr>
          <p:nvPr/>
        </p:nvSpPr>
        <p:spPr>
          <a:xfrm>
            <a:off x="1133475" y="264795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a:solidFill>
                  <a:srgbClr val="18212B"/>
                </a:solidFill>
                <a:latin typeface="Consolas"/>
                <a:ea typeface="Consolas"/>
                <a:cs typeface="Consolas"/>
              </a:rPr>
              <a:t>Q ← IntermediateNodes(G)</a:t>
            </a:r>
          </a:p>
        </p:txBody>
      </p:sp>
      <p:sp>
        <p:nvSpPr>
          <p:cNvPr id="10" name="number-4">
            <a:extLst>
              <a:ext uri="{FF2B5EF4-FFF2-40B4-BE49-F238E27FC236}">
                <a16:creationId xmlns:a16="http://schemas.microsoft.com/office/drawing/2014/main" id="{B01681B6-7016-4AAD-8F04-CE558EF0E631}"/>
              </a:ext>
            </a:extLst>
          </p:cNvPr>
          <p:cNvSpPr>
            <a:spLocks noGrp="1"/>
          </p:cNvSpPr>
          <p:nvPr/>
        </p:nvSpPr>
        <p:spPr>
          <a:xfrm>
            <a:off x="590550" y="300037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04</a:t>
            </a:r>
          </a:p>
        </p:txBody>
      </p:sp>
      <p:sp>
        <p:nvSpPr>
          <p:cNvPr id="11" name="code-4">
            <a:extLst>
              <a:ext uri="{FF2B5EF4-FFF2-40B4-BE49-F238E27FC236}">
                <a16:creationId xmlns:a16="http://schemas.microsoft.com/office/drawing/2014/main" id="{CDA92164-C144-4184-83CB-4584F2FB1F5B}"/>
              </a:ext>
            </a:extLst>
          </p:cNvPr>
          <p:cNvSpPr>
            <a:spLocks noGrp="1"/>
          </p:cNvSpPr>
          <p:nvPr/>
        </p:nvSpPr>
        <p:spPr>
          <a:xfrm>
            <a:off x="1133475" y="297180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a:solidFill>
                  <a:srgbClr val="18212B"/>
                </a:solidFill>
                <a:latin typeface="Consolas"/>
                <a:ea typeface="Consolas"/>
                <a:cs typeface="Consolas"/>
              </a:rPr>
              <a:t>while Q ≠ ∅ and not AllTargetsComplete(P, T) do</a:t>
            </a:r>
          </a:p>
        </p:txBody>
      </p:sp>
      <p:sp>
        <p:nvSpPr>
          <p:cNvPr id="12" name="number-5">
            <a:extLst>
              <a:ext uri="{FF2B5EF4-FFF2-40B4-BE49-F238E27FC236}">
                <a16:creationId xmlns:a16="http://schemas.microsoft.com/office/drawing/2014/main" id="{82F6896E-EB20-4F83-B61E-48C6D31F9CC0}"/>
              </a:ext>
            </a:extLst>
          </p:cNvPr>
          <p:cNvSpPr>
            <a:spLocks noGrp="1"/>
          </p:cNvSpPr>
          <p:nvPr/>
        </p:nvSpPr>
        <p:spPr>
          <a:xfrm>
            <a:off x="590550" y="332422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05</a:t>
            </a:r>
          </a:p>
        </p:txBody>
      </p:sp>
      <p:sp>
        <p:nvSpPr>
          <p:cNvPr id="13" name="code-5">
            <a:extLst>
              <a:ext uri="{FF2B5EF4-FFF2-40B4-BE49-F238E27FC236}">
                <a16:creationId xmlns:a16="http://schemas.microsoft.com/office/drawing/2014/main" id="{73A857A7-404C-44A8-ABB9-E870AED41232}"/>
              </a:ext>
            </a:extLst>
          </p:cNvPr>
          <p:cNvSpPr>
            <a:spLocks noGrp="1"/>
          </p:cNvSpPr>
          <p:nvPr/>
        </p:nvSpPr>
        <p:spPr>
          <a:xfrm>
            <a:off x="1133475" y="3295650"/>
            <a:ext cx="13382625" cy="333375"/>
          </a:xfrm>
          <a:prstGeom prst="rect">
            <a:avLst/>
          </a:prstGeom>
          <a:noFill/>
          <a:ln w="0">
            <a:noFill/>
          </a:ln>
        </p:spPr>
        <p:txBody>
          <a:bodyPr wrap="none" lIns="0" tIns="0" rIns="0" bIns="0" anchor="t">
            <a:noAutofit/>
          </a:bodyPr>
          <a:lstStyle/>
          <a:p>
            <a:pPr>
              <a:defRPr sz="2100" b="0">
                <a:solidFill>
                  <a:srgbClr val="B51B32"/>
                </a:solidFill>
                <a:latin typeface="Consolas"/>
                <a:ea typeface="Consolas"/>
                <a:cs typeface="Consolas"/>
              </a:defRPr>
            </a:pPr>
            <a:r>
              <a:rPr sz="2100" b="0">
                <a:solidFill>
                  <a:srgbClr val="B51B32"/>
                </a:solidFill>
                <a:latin typeface="Consolas"/>
                <a:ea typeface="Consolas"/>
                <a:cs typeface="Consolas"/>
              </a:rPr>
              <a:t>    v ← argmax { w(u) : u ∈ Q }</a:t>
            </a:r>
          </a:p>
        </p:txBody>
      </p:sp>
      <p:sp>
        <p:nvSpPr>
          <p:cNvPr id="14" name="number-6">
            <a:extLst>
              <a:ext uri="{FF2B5EF4-FFF2-40B4-BE49-F238E27FC236}">
                <a16:creationId xmlns:a16="http://schemas.microsoft.com/office/drawing/2014/main" id="{5F4D4007-F1F6-401F-8CED-F5CA557EC98C}"/>
              </a:ext>
            </a:extLst>
          </p:cNvPr>
          <p:cNvSpPr>
            <a:spLocks noGrp="1"/>
          </p:cNvSpPr>
          <p:nvPr/>
        </p:nvSpPr>
        <p:spPr>
          <a:xfrm>
            <a:off x="590550" y="364807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06</a:t>
            </a:r>
          </a:p>
        </p:txBody>
      </p:sp>
      <p:sp>
        <p:nvSpPr>
          <p:cNvPr id="15" name="code-6">
            <a:extLst>
              <a:ext uri="{FF2B5EF4-FFF2-40B4-BE49-F238E27FC236}">
                <a16:creationId xmlns:a16="http://schemas.microsoft.com/office/drawing/2014/main" id="{D336378C-35D4-492A-999E-BEE4E39F9F9C}"/>
              </a:ext>
            </a:extLst>
          </p:cNvPr>
          <p:cNvSpPr>
            <a:spLocks noGrp="1"/>
          </p:cNvSpPr>
          <p:nvPr/>
        </p:nvSpPr>
        <p:spPr>
          <a:xfrm>
            <a:off x="1133475" y="361950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a:solidFill>
                  <a:srgbClr val="18212B"/>
                </a:solidFill>
                <a:latin typeface="Consolas"/>
                <a:ea typeface="Consolas"/>
                <a:cs typeface="Consolas"/>
              </a:rPr>
              <a:t>    Q ← Q \ {v}</a:t>
            </a:r>
          </a:p>
        </p:txBody>
      </p:sp>
      <p:sp>
        <p:nvSpPr>
          <p:cNvPr id="16" name="number-7">
            <a:extLst>
              <a:ext uri="{FF2B5EF4-FFF2-40B4-BE49-F238E27FC236}">
                <a16:creationId xmlns:a16="http://schemas.microsoft.com/office/drawing/2014/main" id="{941982CB-17E3-448E-B78E-852DE9CE8D28}"/>
              </a:ext>
            </a:extLst>
          </p:cNvPr>
          <p:cNvSpPr>
            <a:spLocks noGrp="1"/>
          </p:cNvSpPr>
          <p:nvPr/>
        </p:nvSpPr>
        <p:spPr>
          <a:xfrm>
            <a:off x="590550" y="397192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07</a:t>
            </a:r>
          </a:p>
        </p:txBody>
      </p:sp>
      <p:sp>
        <p:nvSpPr>
          <p:cNvPr id="17" name="code-7">
            <a:extLst>
              <a:ext uri="{FF2B5EF4-FFF2-40B4-BE49-F238E27FC236}">
                <a16:creationId xmlns:a16="http://schemas.microsoft.com/office/drawing/2014/main" id="{7696730D-9CD6-41CE-8BC1-554862F5E887}"/>
              </a:ext>
            </a:extLst>
          </p:cNvPr>
          <p:cNvSpPr>
            <a:spLocks noGrp="1"/>
          </p:cNvSpPr>
          <p:nvPr/>
        </p:nvSpPr>
        <p:spPr>
          <a:xfrm>
            <a:off x="1133475" y="394335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a:solidFill>
                  <a:srgbClr val="18212B"/>
                </a:solidFill>
                <a:latin typeface="Consolas"/>
                <a:ea typeface="Consolas"/>
                <a:cs typeface="Consolas"/>
              </a:rPr>
              <a:t>    for each E in RankedExtensions(G, P, v, w) do</a:t>
            </a:r>
          </a:p>
        </p:txBody>
      </p:sp>
      <p:sp>
        <p:nvSpPr>
          <p:cNvPr id="18" name="number-8">
            <a:extLst>
              <a:ext uri="{FF2B5EF4-FFF2-40B4-BE49-F238E27FC236}">
                <a16:creationId xmlns:a16="http://schemas.microsoft.com/office/drawing/2014/main" id="{574AEA98-80DF-4EEA-8E20-94B68D79575A}"/>
              </a:ext>
            </a:extLst>
          </p:cNvPr>
          <p:cNvSpPr>
            <a:spLocks noGrp="1"/>
          </p:cNvSpPr>
          <p:nvPr/>
        </p:nvSpPr>
        <p:spPr>
          <a:xfrm>
            <a:off x="590550" y="429577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08</a:t>
            </a:r>
          </a:p>
        </p:txBody>
      </p:sp>
      <p:sp>
        <p:nvSpPr>
          <p:cNvPr id="19" name="code-8">
            <a:extLst>
              <a:ext uri="{FF2B5EF4-FFF2-40B4-BE49-F238E27FC236}">
                <a16:creationId xmlns:a16="http://schemas.microsoft.com/office/drawing/2014/main" id="{CBD12EA6-22A4-4428-9381-791CC1A807C4}"/>
              </a:ext>
            </a:extLst>
          </p:cNvPr>
          <p:cNvSpPr>
            <a:spLocks noGrp="1"/>
          </p:cNvSpPr>
          <p:nvPr/>
        </p:nvSpPr>
        <p:spPr>
          <a:xfrm>
            <a:off x="1133475" y="426720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dirty="0">
                <a:solidFill>
                  <a:srgbClr val="18212B"/>
                </a:solidFill>
                <a:latin typeface="Consolas"/>
                <a:ea typeface="Consolas"/>
                <a:cs typeface="Consolas"/>
              </a:rPr>
              <a:t>        R ← P ∪ E</a:t>
            </a:r>
          </a:p>
        </p:txBody>
      </p:sp>
      <p:sp>
        <p:nvSpPr>
          <p:cNvPr id="20" name="number-9">
            <a:extLst>
              <a:ext uri="{FF2B5EF4-FFF2-40B4-BE49-F238E27FC236}">
                <a16:creationId xmlns:a16="http://schemas.microsoft.com/office/drawing/2014/main" id="{707F3D66-8FD4-44CE-9C94-45B086F06A0B}"/>
              </a:ext>
            </a:extLst>
          </p:cNvPr>
          <p:cNvSpPr>
            <a:spLocks noGrp="1"/>
          </p:cNvSpPr>
          <p:nvPr/>
        </p:nvSpPr>
        <p:spPr>
          <a:xfrm>
            <a:off x="590550" y="461962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09</a:t>
            </a:r>
          </a:p>
        </p:txBody>
      </p:sp>
      <p:sp>
        <p:nvSpPr>
          <p:cNvPr id="21" name="code-9">
            <a:extLst>
              <a:ext uri="{FF2B5EF4-FFF2-40B4-BE49-F238E27FC236}">
                <a16:creationId xmlns:a16="http://schemas.microsoft.com/office/drawing/2014/main" id="{8486EF21-35D3-44D0-A012-847091A26FD9}"/>
              </a:ext>
            </a:extLst>
          </p:cNvPr>
          <p:cNvSpPr>
            <a:spLocks noGrp="1"/>
          </p:cNvSpPr>
          <p:nvPr/>
        </p:nvSpPr>
        <p:spPr>
          <a:xfrm>
            <a:off x="1133475" y="459105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dirty="0">
                <a:solidFill>
                  <a:srgbClr val="18212B"/>
                </a:solidFill>
                <a:latin typeface="Consolas"/>
                <a:ea typeface="Consolas"/>
                <a:cs typeface="Consolas"/>
              </a:rPr>
              <a:t>        if Legal(R) and </a:t>
            </a:r>
            <a:r>
              <a:rPr sz="2100" b="0" dirty="0" err="1">
                <a:solidFill>
                  <a:srgbClr val="18212B"/>
                </a:solidFill>
                <a:latin typeface="Consolas"/>
                <a:ea typeface="Consolas"/>
                <a:cs typeface="Consolas"/>
              </a:rPr>
              <a:t>SingleProducer</a:t>
            </a:r>
            <a:r>
              <a:rPr sz="2100" b="0" dirty="0">
                <a:solidFill>
                  <a:srgbClr val="18212B"/>
                </a:solidFill>
                <a:latin typeface="Consolas"/>
                <a:ea typeface="Consolas"/>
                <a:cs typeface="Consolas"/>
              </a:rPr>
              <a:t>(R) and Acyclic(R) then</a:t>
            </a:r>
          </a:p>
        </p:txBody>
      </p:sp>
      <p:sp>
        <p:nvSpPr>
          <p:cNvPr id="22" name="number-10">
            <a:extLst>
              <a:ext uri="{FF2B5EF4-FFF2-40B4-BE49-F238E27FC236}">
                <a16:creationId xmlns:a16="http://schemas.microsoft.com/office/drawing/2014/main" id="{393C2095-7B8F-4C39-9947-A3A005939052}"/>
              </a:ext>
            </a:extLst>
          </p:cNvPr>
          <p:cNvSpPr>
            <a:spLocks noGrp="1"/>
          </p:cNvSpPr>
          <p:nvPr/>
        </p:nvSpPr>
        <p:spPr>
          <a:xfrm>
            <a:off x="590550" y="494347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10</a:t>
            </a:r>
          </a:p>
        </p:txBody>
      </p:sp>
      <p:sp>
        <p:nvSpPr>
          <p:cNvPr id="23" name="code-10">
            <a:extLst>
              <a:ext uri="{FF2B5EF4-FFF2-40B4-BE49-F238E27FC236}">
                <a16:creationId xmlns:a16="http://schemas.microsoft.com/office/drawing/2014/main" id="{999C6EC6-DCF8-4B65-9868-CBBD6C969B08}"/>
              </a:ext>
            </a:extLst>
          </p:cNvPr>
          <p:cNvSpPr>
            <a:spLocks noGrp="1"/>
          </p:cNvSpPr>
          <p:nvPr/>
        </p:nvSpPr>
        <p:spPr>
          <a:xfrm>
            <a:off x="1133475" y="491490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a:solidFill>
                  <a:srgbClr val="18212B"/>
                </a:solidFill>
                <a:latin typeface="Consolas"/>
                <a:ea typeface="Consolas"/>
                <a:cs typeface="Consolas"/>
              </a:rPr>
              <a:t>            P ← R</a:t>
            </a:r>
          </a:p>
        </p:txBody>
      </p:sp>
      <p:sp>
        <p:nvSpPr>
          <p:cNvPr id="24" name="number-11">
            <a:extLst>
              <a:ext uri="{FF2B5EF4-FFF2-40B4-BE49-F238E27FC236}">
                <a16:creationId xmlns:a16="http://schemas.microsoft.com/office/drawing/2014/main" id="{0D0F3BBD-A7BC-4E02-BC7F-9D38CB73802F}"/>
              </a:ext>
            </a:extLst>
          </p:cNvPr>
          <p:cNvSpPr>
            <a:spLocks noGrp="1"/>
          </p:cNvSpPr>
          <p:nvPr/>
        </p:nvSpPr>
        <p:spPr>
          <a:xfrm>
            <a:off x="590550" y="526732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11</a:t>
            </a:r>
          </a:p>
        </p:txBody>
      </p:sp>
      <p:sp>
        <p:nvSpPr>
          <p:cNvPr id="25" name="code-11">
            <a:extLst>
              <a:ext uri="{FF2B5EF4-FFF2-40B4-BE49-F238E27FC236}">
                <a16:creationId xmlns:a16="http://schemas.microsoft.com/office/drawing/2014/main" id="{43982A89-8C58-4BE6-9460-7A2A84F78C16}"/>
              </a:ext>
            </a:extLst>
          </p:cNvPr>
          <p:cNvSpPr>
            <a:spLocks noGrp="1"/>
          </p:cNvSpPr>
          <p:nvPr/>
        </p:nvSpPr>
        <p:spPr>
          <a:xfrm>
            <a:off x="1133475" y="523875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a:solidFill>
                  <a:srgbClr val="18212B"/>
                </a:solidFill>
                <a:latin typeface="Consolas"/>
                <a:ea typeface="Consolas"/>
                <a:cs typeface="Consolas"/>
              </a:rPr>
              <a:t>            break</a:t>
            </a:r>
          </a:p>
        </p:txBody>
      </p:sp>
      <p:sp>
        <p:nvSpPr>
          <p:cNvPr id="26" name="number-12">
            <a:extLst>
              <a:ext uri="{FF2B5EF4-FFF2-40B4-BE49-F238E27FC236}">
                <a16:creationId xmlns:a16="http://schemas.microsoft.com/office/drawing/2014/main" id="{90CD7A1F-4706-436F-BC41-B2CF2B00310E}"/>
              </a:ext>
            </a:extLst>
          </p:cNvPr>
          <p:cNvSpPr>
            <a:spLocks noGrp="1"/>
          </p:cNvSpPr>
          <p:nvPr/>
        </p:nvSpPr>
        <p:spPr>
          <a:xfrm>
            <a:off x="590550" y="559117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12</a:t>
            </a:r>
          </a:p>
        </p:txBody>
      </p:sp>
      <p:sp>
        <p:nvSpPr>
          <p:cNvPr id="27" name="code-12">
            <a:extLst>
              <a:ext uri="{FF2B5EF4-FFF2-40B4-BE49-F238E27FC236}">
                <a16:creationId xmlns:a16="http://schemas.microsoft.com/office/drawing/2014/main" id="{CFAEE834-1368-427B-88D9-F23A5EF3D323}"/>
              </a:ext>
            </a:extLst>
          </p:cNvPr>
          <p:cNvSpPr>
            <a:spLocks noGrp="1"/>
          </p:cNvSpPr>
          <p:nvPr/>
        </p:nvSpPr>
        <p:spPr>
          <a:xfrm>
            <a:off x="1133475" y="556260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a:solidFill>
                  <a:srgbClr val="18212B"/>
                </a:solidFill>
                <a:latin typeface="Consolas"/>
                <a:ea typeface="Consolas"/>
                <a:cs typeface="Consolas"/>
              </a:rPr>
              <a:t>P ← CompleteTargetsWithRollback(G, P, T, P₀, w)</a:t>
            </a:r>
          </a:p>
        </p:txBody>
      </p:sp>
      <p:sp>
        <p:nvSpPr>
          <p:cNvPr id="28" name="number-13">
            <a:extLst>
              <a:ext uri="{FF2B5EF4-FFF2-40B4-BE49-F238E27FC236}">
                <a16:creationId xmlns:a16="http://schemas.microsoft.com/office/drawing/2014/main" id="{7CCCB407-BC74-4A23-A1B8-F64CFBF98A16}"/>
              </a:ext>
            </a:extLst>
          </p:cNvPr>
          <p:cNvSpPr>
            <a:spLocks noGrp="1"/>
          </p:cNvSpPr>
          <p:nvPr/>
        </p:nvSpPr>
        <p:spPr>
          <a:xfrm>
            <a:off x="590550" y="591502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13</a:t>
            </a:r>
          </a:p>
        </p:txBody>
      </p:sp>
      <p:sp>
        <p:nvSpPr>
          <p:cNvPr id="29" name="code-13">
            <a:extLst>
              <a:ext uri="{FF2B5EF4-FFF2-40B4-BE49-F238E27FC236}">
                <a16:creationId xmlns:a16="http://schemas.microsoft.com/office/drawing/2014/main" id="{CA3C5688-5CE6-488B-A4C0-121C8554EC1C}"/>
              </a:ext>
            </a:extLst>
          </p:cNvPr>
          <p:cNvSpPr>
            <a:spLocks noGrp="1"/>
          </p:cNvSpPr>
          <p:nvPr/>
        </p:nvSpPr>
        <p:spPr>
          <a:xfrm>
            <a:off x="1133475" y="588645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a:solidFill>
                  <a:srgbClr val="18212B"/>
                </a:solidFill>
                <a:latin typeface="Consolas"/>
                <a:ea typeface="Consolas"/>
                <a:cs typeface="Consolas"/>
              </a:rPr>
              <a:t>if not Executable(P, B, T) then</a:t>
            </a:r>
          </a:p>
        </p:txBody>
      </p:sp>
      <p:sp>
        <p:nvSpPr>
          <p:cNvPr id="30" name="number-14">
            <a:extLst>
              <a:ext uri="{FF2B5EF4-FFF2-40B4-BE49-F238E27FC236}">
                <a16:creationId xmlns:a16="http://schemas.microsoft.com/office/drawing/2014/main" id="{D33C9103-DE66-4613-990F-11E1E3ADC13E}"/>
              </a:ext>
            </a:extLst>
          </p:cNvPr>
          <p:cNvSpPr>
            <a:spLocks noGrp="1"/>
          </p:cNvSpPr>
          <p:nvPr/>
        </p:nvSpPr>
        <p:spPr>
          <a:xfrm>
            <a:off x="590550" y="623887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14</a:t>
            </a:r>
          </a:p>
        </p:txBody>
      </p:sp>
      <p:sp>
        <p:nvSpPr>
          <p:cNvPr id="31" name="code-14">
            <a:extLst>
              <a:ext uri="{FF2B5EF4-FFF2-40B4-BE49-F238E27FC236}">
                <a16:creationId xmlns:a16="http://schemas.microsoft.com/office/drawing/2014/main" id="{28119F77-7958-4D14-852C-56A4C18BCEB7}"/>
              </a:ext>
            </a:extLst>
          </p:cNvPr>
          <p:cNvSpPr>
            <a:spLocks noGrp="1"/>
          </p:cNvSpPr>
          <p:nvPr/>
        </p:nvSpPr>
        <p:spPr>
          <a:xfrm>
            <a:off x="1133475" y="621030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a:solidFill>
                  <a:srgbClr val="18212B"/>
                </a:solidFill>
                <a:latin typeface="Consolas"/>
                <a:ea typeface="Consolas"/>
                <a:cs typeface="Consolas"/>
              </a:rPr>
              <a:t>    P ← P₀</a:t>
            </a:r>
          </a:p>
        </p:txBody>
      </p:sp>
      <p:sp>
        <p:nvSpPr>
          <p:cNvPr id="32" name="number-15">
            <a:extLst>
              <a:ext uri="{FF2B5EF4-FFF2-40B4-BE49-F238E27FC236}">
                <a16:creationId xmlns:a16="http://schemas.microsoft.com/office/drawing/2014/main" id="{0FB10E94-EA94-48C7-A1D5-CC3F76DE918B}"/>
              </a:ext>
            </a:extLst>
          </p:cNvPr>
          <p:cNvSpPr>
            <a:spLocks noGrp="1"/>
          </p:cNvSpPr>
          <p:nvPr/>
        </p:nvSpPr>
        <p:spPr>
          <a:xfrm>
            <a:off x="590550" y="656272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15</a:t>
            </a:r>
          </a:p>
        </p:txBody>
      </p:sp>
      <p:sp>
        <p:nvSpPr>
          <p:cNvPr id="33" name="code-15">
            <a:extLst>
              <a:ext uri="{FF2B5EF4-FFF2-40B4-BE49-F238E27FC236}">
                <a16:creationId xmlns:a16="http://schemas.microsoft.com/office/drawing/2014/main" id="{BCEA10AD-8EEE-4873-8C2F-6A8EA0C39C51}"/>
              </a:ext>
            </a:extLst>
          </p:cNvPr>
          <p:cNvSpPr>
            <a:spLocks noGrp="1"/>
          </p:cNvSpPr>
          <p:nvPr/>
        </p:nvSpPr>
        <p:spPr>
          <a:xfrm>
            <a:off x="1133475" y="6534150"/>
            <a:ext cx="13382625" cy="333375"/>
          </a:xfrm>
          <a:prstGeom prst="rect">
            <a:avLst/>
          </a:prstGeom>
          <a:noFill/>
          <a:ln w="0">
            <a:noFill/>
          </a:ln>
        </p:spPr>
        <p:txBody>
          <a:bodyPr wrap="none" lIns="0" tIns="0" rIns="0" bIns="0" anchor="t">
            <a:noAutofit/>
          </a:bodyPr>
          <a:lstStyle/>
          <a:p>
            <a:pPr>
              <a:defRPr sz="2100" b="0">
                <a:solidFill>
                  <a:srgbClr val="B51B32"/>
                </a:solidFill>
                <a:latin typeface="Consolas"/>
                <a:ea typeface="Consolas"/>
                <a:cs typeface="Consolas"/>
              </a:defRPr>
            </a:pPr>
            <a:r>
              <a:rPr sz="2100" b="0">
                <a:solidFill>
                  <a:srgbClr val="B51B32"/>
                </a:solidFill>
                <a:latin typeface="Consolas"/>
                <a:ea typeface="Consolas"/>
                <a:cs typeface="Consolas"/>
              </a:rPr>
              <a:t>P ← PruneUnusedDependencies(P, T, B)</a:t>
            </a:r>
          </a:p>
        </p:txBody>
      </p:sp>
      <p:sp>
        <p:nvSpPr>
          <p:cNvPr id="34" name="number-16">
            <a:extLst>
              <a:ext uri="{FF2B5EF4-FFF2-40B4-BE49-F238E27FC236}">
                <a16:creationId xmlns:a16="http://schemas.microsoft.com/office/drawing/2014/main" id="{C2D07504-A86F-4573-AD68-DF20477A9562}"/>
              </a:ext>
            </a:extLst>
          </p:cNvPr>
          <p:cNvSpPr>
            <a:spLocks noGrp="1"/>
          </p:cNvSpPr>
          <p:nvPr/>
        </p:nvSpPr>
        <p:spPr>
          <a:xfrm>
            <a:off x="590550" y="688657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16</a:t>
            </a:r>
          </a:p>
        </p:txBody>
      </p:sp>
      <p:sp>
        <p:nvSpPr>
          <p:cNvPr id="35" name="code-16">
            <a:extLst>
              <a:ext uri="{FF2B5EF4-FFF2-40B4-BE49-F238E27FC236}">
                <a16:creationId xmlns:a16="http://schemas.microsoft.com/office/drawing/2014/main" id="{754E4FEB-3B99-4BD0-B8BE-69B9F1E6A9CF}"/>
              </a:ext>
            </a:extLst>
          </p:cNvPr>
          <p:cNvSpPr>
            <a:spLocks noGrp="1"/>
          </p:cNvSpPr>
          <p:nvPr/>
        </p:nvSpPr>
        <p:spPr>
          <a:xfrm>
            <a:off x="1133475" y="685800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a:solidFill>
                  <a:srgbClr val="18212B"/>
                </a:solidFill>
                <a:latin typeface="Consolas"/>
                <a:ea typeface="Consolas"/>
                <a:cs typeface="Consolas"/>
              </a:rPr>
              <a:t>assert Valid(P, B, T)</a:t>
            </a:r>
          </a:p>
        </p:txBody>
      </p:sp>
      <p:sp>
        <p:nvSpPr>
          <p:cNvPr id="36" name="number-17">
            <a:extLst>
              <a:ext uri="{FF2B5EF4-FFF2-40B4-BE49-F238E27FC236}">
                <a16:creationId xmlns:a16="http://schemas.microsoft.com/office/drawing/2014/main" id="{B9A866DB-F251-40F5-9D1B-7722EDED138E}"/>
              </a:ext>
            </a:extLst>
          </p:cNvPr>
          <p:cNvSpPr>
            <a:spLocks noGrp="1"/>
          </p:cNvSpPr>
          <p:nvPr/>
        </p:nvSpPr>
        <p:spPr>
          <a:xfrm>
            <a:off x="590550" y="721042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17</a:t>
            </a:r>
          </a:p>
        </p:txBody>
      </p:sp>
      <p:sp>
        <p:nvSpPr>
          <p:cNvPr id="37" name="code-17">
            <a:extLst>
              <a:ext uri="{FF2B5EF4-FFF2-40B4-BE49-F238E27FC236}">
                <a16:creationId xmlns:a16="http://schemas.microsoft.com/office/drawing/2014/main" id="{1FD43BE6-DA10-48BB-8C8F-D36AE0E401F3}"/>
              </a:ext>
            </a:extLst>
          </p:cNvPr>
          <p:cNvSpPr>
            <a:spLocks noGrp="1"/>
          </p:cNvSpPr>
          <p:nvPr/>
        </p:nvSpPr>
        <p:spPr>
          <a:xfrm>
            <a:off x="1133475" y="7181850"/>
            <a:ext cx="13382625" cy="333375"/>
          </a:xfrm>
          <a:prstGeom prst="rect">
            <a:avLst/>
          </a:prstGeom>
          <a:noFill/>
          <a:ln w="0">
            <a:noFill/>
          </a:ln>
        </p:spPr>
        <p:txBody>
          <a:bodyPr wrap="none" lIns="0" tIns="0" rIns="0" bIns="0" anchor="t">
            <a:noAutofit/>
          </a:bodyPr>
          <a:lstStyle/>
          <a:p>
            <a:pPr>
              <a:defRPr sz="2100" b="1">
                <a:solidFill>
                  <a:srgbClr val="B51B32"/>
                </a:solidFill>
                <a:latin typeface="Consolas"/>
                <a:ea typeface="Consolas"/>
                <a:cs typeface="Consolas"/>
              </a:defRPr>
            </a:pPr>
            <a:r>
              <a:rPr sz="2100" b="1">
                <a:solidFill>
                  <a:srgbClr val="B51B32"/>
                </a:solidFill>
                <a:latin typeface="Consolas"/>
                <a:ea typeface="Consolas"/>
                <a:cs typeface="Consolas"/>
              </a:rPr>
              <a:t>return P</a:t>
            </a:r>
          </a:p>
        </p:txBody>
      </p:sp>
      <p:sp>
        <p:nvSpPr>
          <p:cNvPr id="38" name="footer">
            <a:extLst>
              <a:ext uri="{FF2B5EF4-FFF2-40B4-BE49-F238E27FC236}">
                <a16:creationId xmlns:a16="http://schemas.microsoft.com/office/drawing/2014/main" id="{7FD4EA3A-5264-4A25-9722-5D3895B64097}"/>
              </a:ext>
            </a:extLst>
          </p:cNvPr>
          <p:cNvSpPr>
            <a:spLocks noGrp="1"/>
          </p:cNvSpPr>
          <p:nvPr/>
        </p:nvSpPr>
        <p:spPr>
          <a:xfrm>
            <a:off x="571500" y="7848600"/>
            <a:ext cx="14097000" cy="381000"/>
          </a:xfrm>
          <a:prstGeom prst="rect">
            <a:avLst/>
          </a:prstGeom>
          <a:noFill/>
          <a:ln w="0">
            <a:noFill/>
          </a:ln>
        </p:spPr>
        <p:txBody>
          <a:bodyPr wrap="none" lIns="0" tIns="0" rIns="0" bIns="0" anchor="t">
            <a:noAutofit/>
          </a:bodyPr>
          <a:lstStyle/>
          <a:p>
            <a:pPr>
              <a:defRPr sz="1950" b="0">
                <a:solidFill>
                  <a:srgbClr val="5A6470"/>
                </a:solidFill>
                <a:latin typeface="Calibri"/>
                <a:ea typeface="Calibri"/>
                <a:cs typeface="Calibri"/>
              </a:defRPr>
            </a:pPr>
            <a:r>
              <a:rPr sz="1950" b="0">
                <a:solidFill>
                  <a:srgbClr val="5A6470"/>
                </a:solidFill>
                <a:latin typeface="Calibri"/>
                <a:ea typeface="Calibri"/>
                <a:cs typeface="Calibri"/>
              </a:rPr>
              <a:t>Reuse selected nodes first, then prefer higher fixed weights. Materialization is decided separately.</a:t>
            </a:r>
          </a:p>
        </p:txBody>
      </p:sp>
    </p:spTree>
    <p:extLst>
      <p:ext uri="{BB962C8B-B14F-4D97-AF65-F5344CB8AC3E}">
        <p14:creationId xmlns:p14="http://schemas.microsoft.com/office/powerpoint/2010/main" val="6475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notes-title">
            <a:extLst>
              <a:ext uri="{FF2B5EF4-FFF2-40B4-BE49-F238E27FC236}">
                <a16:creationId xmlns:a16="http://schemas.microsoft.com/office/drawing/2014/main" id="{7E092AA4-4EA9-49D9-A050-71CCE9E9E464}"/>
              </a:ext>
            </a:extLst>
          </p:cNvPr>
          <p:cNvSpPr>
            <a:spLocks noGrp="1"/>
          </p:cNvSpPr>
          <p:nvPr/>
        </p:nvSpPr>
        <p:spPr>
          <a:xfrm>
            <a:off x="571500" y="304800"/>
            <a:ext cx="14097000" cy="619125"/>
          </a:xfrm>
          <a:prstGeom prst="rect">
            <a:avLst/>
          </a:prstGeom>
          <a:noFill/>
          <a:ln w="0">
            <a:noFill/>
          </a:ln>
        </p:spPr>
        <p:txBody>
          <a:bodyPr wrap="none" lIns="0" tIns="0" rIns="0" bIns="0" anchor="t">
            <a:noAutofit/>
          </a:bodyPr>
          <a:lstStyle/>
          <a:p>
            <a:pPr>
              <a:defRPr sz="3000" b="1">
                <a:solidFill>
                  <a:srgbClr val="B51B32"/>
                </a:solidFill>
                <a:latin typeface="Microsoft YaHei"/>
                <a:ea typeface="Microsoft YaHei"/>
                <a:cs typeface="Microsoft YaHei"/>
              </a:defRPr>
            </a:pPr>
            <a:r>
              <a:rPr sz="3000" b="1">
                <a:solidFill>
                  <a:srgbClr val="B51B32"/>
                </a:solidFill>
                <a:latin typeface="Microsoft YaHei"/>
                <a:ea typeface="Microsoft YaHei"/>
                <a:cs typeface="Microsoft YaHei"/>
              </a:rPr>
              <a:t>算法注释：固定权重、路径复用与结构去冗余</a:t>
            </a:r>
          </a:p>
        </p:txBody>
      </p:sp>
      <p:sp>
        <p:nvSpPr>
          <p:cNvPr id="2" name="note-heading-0">
            <a:extLst>
              <a:ext uri="{FF2B5EF4-FFF2-40B4-BE49-F238E27FC236}">
                <a16:creationId xmlns:a16="http://schemas.microsoft.com/office/drawing/2014/main" id="{A223DF17-6084-4BDD-BAC0-BF1F88BD03B9}"/>
              </a:ext>
            </a:extLst>
          </p:cNvPr>
          <p:cNvSpPr>
            <a:spLocks noGrp="1"/>
          </p:cNvSpPr>
          <p:nvPr/>
        </p:nvSpPr>
        <p:spPr>
          <a:xfrm>
            <a:off x="571500" y="1238250"/>
            <a:ext cx="6762750" cy="371475"/>
          </a:xfrm>
          <a:prstGeom prst="rect">
            <a:avLst/>
          </a:prstGeom>
          <a:noFill/>
          <a:ln w="0">
            <a:noFill/>
          </a:ln>
        </p:spPr>
        <p:txBody>
          <a:bodyPr wrap="none" lIns="0" tIns="0" rIns="0" bIns="0" anchor="t">
            <a:noAutofit/>
          </a:bodyPr>
          <a:lstStyle/>
          <a:p>
            <a:pPr>
              <a:defRPr sz="1875" b="1">
                <a:solidFill>
                  <a:srgbClr val="B51B32"/>
                </a:solidFill>
                <a:latin typeface="Microsoft YaHei"/>
                <a:ea typeface="Microsoft YaHei"/>
                <a:cs typeface="Microsoft YaHei"/>
              </a:defRPr>
            </a:pPr>
            <a:r>
              <a:rPr sz="1875" b="1">
                <a:solidFill>
                  <a:srgbClr val="B51B32"/>
                </a:solidFill>
                <a:latin typeface="Microsoft YaHei"/>
                <a:ea typeface="Microsoft YaHei"/>
                <a:cs typeface="Microsoft YaHei"/>
              </a:rPr>
              <a:t>01  固定权重与候选选择（第 1–6 行）</a:t>
            </a:r>
          </a:p>
        </p:txBody>
      </p:sp>
      <p:sp>
        <p:nvSpPr>
          <p:cNvPr id="3" name="note-body-0">
            <a:extLst>
              <a:ext uri="{FF2B5EF4-FFF2-40B4-BE49-F238E27FC236}">
                <a16:creationId xmlns:a16="http://schemas.microsoft.com/office/drawing/2014/main" id="{9F7D2481-FE9B-4882-90AD-469AE5B644B1}"/>
              </a:ext>
            </a:extLst>
          </p:cNvPr>
          <p:cNvSpPr>
            <a:spLocks noGrp="1"/>
          </p:cNvSpPr>
          <p:nvPr/>
        </p:nvSpPr>
        <p:spPr>
          <a:xfrm>
            <a:off x="571500" y="1733550"/>
            <a:ext cx="6762750" cy="1352550"/>
          </a:xfrm>
          <a:prstGeom prst="rect">
            <a:avLst/>
          </a:prstGeom>
          <a:noFill/>
          <a:ln w="0">
            <a:noFill/>
          </a:ln>
        </p:spPr>
        <p:txBody>
          <a:bodyPr wrap="none" lIns="0" tIns="0" rIns="0" bIns="0" anchor="t">
            <a:noAutofit/>
          </a:bodyPr>
          <a:lstStyle/>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w(v) 是候选图生成时可使用 v 的不同视图数。</a:t>
            </a:r>
          </a:p>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同一视图只计一次，整个选图过程不修改 w。</a:t>
            </a:r>
          </a:p>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Q 只记录尚未尝试的中间节点，每次移除一个。</a:t>
            </a:r>
          </a:p>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终端节点初始化时尚无计算边，随后补全依赖。</a:t>
            </a:r>
          </a:p>
        </p:txBody>
      </p:sp>
      <p:sp>
        <p:nvSpPr>
          <p:cNvPr id="4" name="note-heading-1">
            <a:extLst>
              <a:ext uri="{FF2B5EF4-FFF2-40B4-BE49-F238E27FC236}">
                <a16:creationId xmlns:a16="http://schemas.microsoft.com/office/drawing/2014/main" id="{19AEA669-A3F5-48AB-8B76-644501B5B3BE}"/>
              </a:ext>
            </a:extLst>
          </p:cNvPr>
          <p:cNvSpPr>
            <a:spLocks noGrp="1"/>
          </p:cNvSpPr>
          <p:nvPr/>
        </p:nvSpPr>
        <p:spPr>
          <a:xfrm>
            <a:off x="8001000" y="1238250"/>
            <a:ext cx="6762750" cy="371475"/>
          </a:xfrm>
          <a:prstGeom prst="rect">
            <a:avLst/>
          </a:prstGeom>
          <a:noFill/>
          <a:ln w="0">
            <a:noFill/>
          </a:ln>
        </p:spPr>
        <p:txBody>
          <a:bodyPr wrap="none" lIns="0" tIns="0" rIns="0" bIns="0" anchor="t">
            <a:noAutofit/>
          </a:bodyPr>
          <a:lstStyle/>
          <a:p>
            <a:pPr>
              <a:defRPr sz="1875" b="1">
                <a:solidFill>
                  <a:srgbClr val="B51B32"/>
                </a:solidFill>
                <a:latin typeface="Microsoft YaHei"/>
                <a:ea typeface="Microsoft YaHei"/>
                <a:cs typeface="Microsoft YaHei"/>
              </a:defRPr>
            </a:pPr>
            <a:r>
              <a:rPr sz="1875" b="1">
                <a:solidFill>
                  <a:srgbClr val="B51B32"/>
                </a:solidFill>
                <a:latin typeface="Microsoft YaHei"/>
                <a:ea typeface="Microsoft YaHei"/>
                <a:cs typeface="Microsoft YaHei"/>
              </a:rPr>
              <a:t>02  路径补全与优先级（第 7 行）</a:t>
            </a:r>
          </a:p>
        </p:txBody>
      </p:sp>
      <p:sp>
        <p:nvSpPr>
          <p:cNvPr id="5" name="note-body-1">
            <a:extLst>
              <a:ext uri="{FF2B5EF4-FFF2-40B4-BE49-F238E27FC236}">
                <a16:creationId xmlns:a16="http://schemas.microsoft.com/office/drawing/2014/main" id="{ADC960AB-F8CC-4511-B11E-182143F1C2DF}"/>
              </a:ext>
            </a:extLst>
          </p:cNvPr>
          <p:cNvSpPr>
            <a:spLocks noGrp="1"/>
          </p:cNvSpPr>
          <p:nvPr/>
        </p:nvSpPr>
        <p:spPr>
          <a:xfrm>
            <a:off x="8001000" y="1733550"/>
            <a:ext cx="6762750" cy="1352550"/>
          </a:xfrm>
          <a:prstGeom prst="rect">
            <a:avLst/>
          </a:prstGeom>
          <a:noFill/>
          <a:ln w="0">
            <a:noFill/>
          </a:ln>
        </p:spPr>
        <p:txBody>
          <a:bodyPr wrap="none" lIns="0" tIns="0" rIns="0" bIns="0" anchor="t">
            <a:noAutofit/>
          </a:bodyPr>
          <a:lstStyle/>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RankedExtensions 按需生成经过 v 的补全方案，</a:t>
            </a:r>
          </a:p>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包含生产路径、通向目标的路径及必要侧输入。</a:t>
            </a:r>
          </a:p>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先复用 P 中已选节点，再优先经过高权重节点。</a:t>
            </a:r>
          </a:p>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权重取自固定 w，得到合法组合后停止当前尝试。</a:t>
            </a:r>
          </a:p>
        </p:txBody>
      </p:sp>
      <p:sp>
        <p:nvSpPr>
          <p:cNvPr id="6" name="note-heading-2">
            <a:extLst>
              <a:ext uri="{FF2B5EF4-FFF2-40B4-BE49-F238E27FC236}">
                <a16:creationId xmlns:a16="http://schemas.microsoft.com/office/drawing/2014/main" id="{E7FDF34F-1D13-4DF6-B71B-7B6134F5A667}"/>
              </a:ext>
            </a:extLst>
          </p:cNvPr>
          <p:cNvSpPr>
            <a:spLocks noGrp="1"/>
          </p:cNvSpPr>
          <p:nvPr/>
        </p:nvSpPr>
        <p:spPr>
          <a:xfrm>
            <a:off x="571500" y="3381375"/>
            <a:ext cx="6762750" cy="371475"/>
          </a:xfrm>
          <a:prstGeom prst="rect">
            <a:avLst/>
          </a:prstGeom>
          <a:noFill/>
          <a:ln w="0">
            <a:noFill/>
          </a:ln>
        </p:spPr>
        <p:txBody>
          <a:bodyPr wrap="none" lIns="0" tIns="0" rIns="0" bIns="0" anchor="t">
            <a:noAutofit/>
          </a:bodyPr>
          <a:lstStyle/>
          <a:p>
            <a:pPr>
              <a:defRPr sz="1875" b="1">
                <a:solidFill>
                  <a:srgbClr val="B51B32"/>
                </a:solidFill>
                <a:latin typeface="Microsoft YaHei"/>
                <a:ea typeface="Microsoft YaHei"/>
                <a:cs typeface="Microsoft YaHei"/>
              </a:defRPr>
            </a:pPr>
            <a:r>
              <a:rPr sz="1875" b="1">
                <a:solidFill>
                  <a:srgbClr val="B51B32"/>
                </a:solidFill>
                <a:latin typeface="Microsoft YaHei"/>
                <a:ea typeface="Microsoft YaHei"/>
                <a:cs typeface="Microsoft YaHei"/>
              </a:rPr>
              <a:t>03  每个结果只选一种生产方式（第 8–11 行）</a:t>
            </a:r>
          </a:p>
        </p:txBody>
      </p:sp>
      <p:sp>
        <p:nvSpPr>
          <p:cNvPr id="7" name="note-body-2">
            <a:extLst>
              <a:ext uri="{FF2B5EF4-FFF2-40B4-BE49-F238E27FC236}">
                <a16:creationId xmlns:a16="http://schemas.microsoft.com/office/drawing/2014/main" id="{F63B3881-45AF-4B26-ABF6-E3BE4D305A59}"/>
              </a:ext>
            </a:extLst>
          </p:cNvPr>
          <p:cNvSpPr>
            <a:spLocks noGrp="1"/>
          </p:cNvSpPr>
          <p:nvPr/>
        </p:nvSpPr>
        <p:spPr>
          <a:xfrm>
            <a:off x="571500" y="3876675"/>
            <a:ext cx="6762750" cy="1352550"/>
          </a:xfrm>
          <a:prstGeom prst="rect">
            <a:avLst/>
          </a:prstGeom>
          <a:noFill/>
          <a:ln w="0">
            <a:noFill/>
          </a:ln>
        </p:spPr>
        <p:txBody>
          <a:bodyPr wrap="none" lIns="0" tIns="0" rIns="0" bIns="0" anchor="t">
            <a:noAutofit/>
          </a:bodyPr>
          <a:lstStyle/>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SingleProducer 要求每个结果至多一个计算标识。</a:t>
            </a:r>
          </a:p>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同一多输入计算的全部输入边必须一起保留。</a:t>
            </a:r>
          </a:p>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AB+C→ABC 与 A+BC→ABC 是两种备选方式，</a:t>
            </a:r>
          </a:p>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不能同时选用；语义冲突或有环的组合也跳过。</a:t>
            </a:r>
          </a:p>
        </p:txBody>
      </p:sp>
      <p:sp>
        <p:nvSpPr>
          <p:cNvPr id="8" name="note-heading-3">
            <a:extLst>
              <a:ext uri="{FF2B5EF4-FFF2-40B4-BE49-F238E27FC236}">
                <a16:creationId xmlns:a16="http://schemas.microsoft.com/office/drawing/2014/main" id="{24B0EDAF-A6D3-455B-9BAD-CB30A8952D41}"/>
              </a:ext>
            </a:extLst>
          </p:cNvPr>
          <p:cNvSpPr>
            <a:spLocks noGrp="1"/>
          </p:cNvSpPr>
          <p:nvPr/>
        </p:nvSpPr>
        <p:spPr>
          <a:xfrm>
            <a:off x="8001000" y="3381375"/>
            <a:ext cx="6762750" cy="371475"/>
          </a:xfrm>
          <a:prstGeom prst="rect">
            <a:avLst/>
          </a:prstGeom>
          <a:noFill/>
          <a:ln w="0">
            <a:noFill/>
          </a:ln>
        </p:spPr>
        <p:txBody>
          <a:bodyPr wrap="none" lIns="0" tIns="0" rIns="0" bIns="0" anchor="t">
            <a:noAutofit/>
          </a:bodyPr>
          <a:lstStyle/>
          <a:p>
            <a:pPr>
              <a:defRPr sz="1875" b="1">
                <a:solidFill>
                  <a:srgbClr val="B51B32"/>
                </a:solidFill>
                <a:latin typeface="Microsoft YaHei"/>
                <a:ea typeface="Microsoft YaHei"/>
                <a:cs typeface="Microsoft YaHei"/>
              </a:defRPr>
            </a:pPr>
            <a:r>
              <a:rPr sz="1875" b="1">
                <a:solidFill>
                  <a:srgbClr val="B51B32"/>
                </a:solidFill>
                <a:latin typeface="Microsoft YaHei"/>
                <a:ea typeface="Microsoft YaHei"/>
                <a:cs typeface="Microsoft YaHei"/>
              </a:rPr>
              <a:t>04  补全与冲突回退（第 12–14 行）</a:t>
            </a:r>
          </a:p>
        </p:txBody>
      </p:sp>
      <p:sp>
        <p:nvSpPr>
          <p:cNvPr id="9" name="note-body-3">
            <a:extLst>
              <a:ext uri="{FF2B5EF4-FFF2-40B4-BE49-F238E27FC236}">
                <a16:creationId xmlns:a16="http://schemas.microsoft.com/office/drawing/2014/main" id="{186BD1B3-AC6F-4129-BF40-88035EBD1A10}"/>
              </a:ext>
            </a:extLst>
          </p:cNvPr>
          <p:cNvSpPr>
            <a:spLocks noGrp="1"/>
          </p:cNvSpPr>
          <p:nvPr/>
        </p:nvSpPr>
        <p:spPr>
          <a:xfrm>
            <a:off x="8001000" y="3876675"/>
            <a:ext cx="6762750" cy="1352550"/>
          </a:xfrm>
          <a:prstGeom prst="rect">
            <a:avLst/>
          </a:prstGeom>
          <a:noFill/>
          <a:ln w="0">
            <a:noFill/>
          </a:ln>
        </p:spPr>
        <p:txBody>
          <a:bodyPr wrap="none" lIns="0" tIns="0" rIns="0" bIns="0" anchor="t">
            <a:noAutofit/>
          </a:bodyPr>
          <a:lstStyle/>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用保留路径完成剩余目标，优先复用已选计算，</a:t>
            </a:r>
          </a:p>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再参考固定权重；必要时撤回冲突的贪心选择。</a:t>
            </a:r>
          </a:p>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Executable 检查覆盖、依赖完整、唯一生产与无环。</a:t>
            </a:r>
          </a:p>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补全失败则回退至满足这些条件的原始子图 P₀。</a:t>
            </a:r>
          </a:p>
        </p:txBody>
      </p:sp>
      <p:sp>
        <p:nvSpPr>
          <p:cNvPr id="10" name="note-heading-4">
            <a:extLst>
              <a:ext uri="{FF2B5EF4-FFF2-40B4-BE49-F238E27FC236}">
                <a16:creationId xmlns:a16="http://schemas.microsoft.com/office/drawing/2014/main" id="{C9D6F041-7E3E-4DC6-BB9D-06C999B1696F}"/>
              </a:ext>
            </a:extLst>
          </p:cNvPr>
          <p:cNvSpPr>
            <a:spLocks noGrp="1"/>
          </p:cNvSpPr>
          <p:nvPr/>
        </p:nvSpPr>
        <p:spPr>
          <a:xfrm>
            <a:off x="571500" y="5524500"/>
            <a:ext cx="6762750" cy="371475"/>
          </a:xfrm>
          <a:prstGeom prst="rect">
            <a:avLst/>
          </a:prstGeom>
          <a:noFill/>
          <a:ln w="0">
            <a:noFill/>
          </a:ln>
        </p:spPr>
        <p:txBody>
          <a:bodyPr wrap="none" lIns="0" tIns="0" rIns="0" bIns="0" anchor="t">
            <a:noAutofit/>
          </a:bodyPr>
          <a:lstStyle/>
          <a:p>
            <a:pPr>
              <a:defRPr sz="1875" b="1">
                <a:solidFill>
                  <a:srgbClr val="B51B32"/>
                </a:solidFill>
                <a:latin typeface="Microsoft YaHei"/>
                <a:ea typeface="Microsoft YaHei"/>
                <a:cs typeface="Microsoft YaHei"/>
              </a:defRPr>
            </a:pPr>
            <a:r>
              <a:rPr sz="1875" b="1">
                <a:solidFill>
                  <a:srgbClr val="B51B32"/>
                </a:solidFill>
                <a:latin typeface="Microsoft YaHei"/>
                <a:ea typeface="Microsoft YaHei"/>
                <a:cs typeface="Microsoft YaHei"/>
              </a:rPr>
              <a:t>05  清理无用节点与计算（第 15 行）</a:t>
            </a:r>
          </a:p>
        </p:txBody>
      </p:sp>
      <p:sp>
        <p:nvSpPr>
          <p:cNvPr id="11" name="note-body-4">
            <a:extLst>
              <a:ext uri="{FF2B5EF4-FFF2-40B4-BE49-F238E27FC236}">
                <a16:creationId xmlns:a16="http://schemas.microsoft.com/office/drawing/2014/main" id="{EA73CBE8-4702-4E2F-AF0A-2A9F5107EBCB}"/>
              </a:ext>
            </a:extLst>
          </p:cNvPr>
          <p:cNvSpPr>
            <a:spLocks noGrp="1"/>
          </p:cNvSpPr>
          <p:nvPr/>
        </p:nvSpPr>
        <p:spPr>
          <a:xfrm>
            <a:off x="571500" y="6019800"/>
            <a:ext cx="6762750" cy="1352550"/>
          </a:xfrm>
          <a:prstGeom prst="rect">
            <a:avLst/>
          </a:prstGeom>
          <a:noFill/>
          <a:ln w="0">
            <a:noFill/>
          </a:ln>
        </p:spPr>
        <p:txBody>
          <a:bodyPr wrap="none" lIns="0" tIns="0" rIns="0" bIns="0" anchor="t">
            <a:noAutofit/>
          </a:bodyPr>
          <a:lstStyle/>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从全部目标 T 反向追溯所选生产计算及全部输入，</a:t>
            </a:r>
          </a:p>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删除不服务任何目标的中间节点和计算边。</a:t>
            </a:r>
          </a:p>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保留 B∪T；不再参与计算的基表可仅登记为终端。</a:t>
            </a:r>
          </a:p>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含目标及其完整计算的独立分量正常保留。</a:t>
            </a:r>
          </a:p>
        </p:txBody>
      </p:sp>
      <p:sp>
        <p:nvSpPr>
          <p:cNvPr id="12" name="note-heading-5">
            <a:extLst>
              <a:ext uri="{FF2B5EF4-FFF2-40B4-BE49-F238E27FC236}">
                <a16:creationId xmlns:a16="http://schemas.microsoft.com/office/drawing/2014/main" id="{DCC51E56-ABA8-4A68-9DD7-44954CFFD64F}"/>
              </a:ext>
            </a:extLst>
          </p:cNvPr>
          <p:cNvSpPr>
            <a:spLocks noGrp="1"/>
          </p:cNvSpPr>
          <p:nvPr/>
        </p:nvSpPr>
        <p:spPr>
          <a:xfrm>
            <a:off x="8001000" y="5524500"/>
            <a:ext cx="6762750" cy="371475"/>
          </a:xfrm>
          <a:prstGeom prst="rect">
            <a:avLst/>
          </a:prstGeom>
          <a:noFill/>
          <a:ln w="0">
            <a:noFill/>
          </a:ln>
        </p:spPr>
        <p:txBody>
          <a:bodyPr wrap="none" lIns="0" tIns="0" rIns="0" bIns="0" anchor="t">
            <a:noAutofit/>
          </a:bodyPr>
          <a:lstStyle/>
          <a:p>
            <a:pPr>
              <a:defRPr sz="1875" b="1">
                <a:solidFill>
                  <a:srgbClr val="B51B32"/>
                </a:solidFill>
                <a:latin typeface="Microsoft YaHei"/>
                <a:ea typeface="Microsoft YaHei"/>
                <a:cs typeface="Microsoft YaHei"/>
              </a:defRPr>
            </a:pPr>
            <a:r>
              <a:rPr sz="1875" b="1">
                <a:solidFill>
                  <a:srgbClr val="B51B32"/>
                </a:solidFill>
                <a:latin typeface="Microsoft YaHei"/>
                <a:ea typeface="Microsoft YaHei"/>
                <a:cs typeface="Microsoft YaHei"/>
              </a:rPr>
              <a:t>06  最终保证与适用范围（第 16–17 行）</a:t>
            </a:r>
          </a:p>
        </p:txBody>
      </p:sp>
      <p:sp>
        <p:nvSpPr>
          <p:cNvPr id="13" name="note-body-5">
            <a:extLst>
              <a:ext uri="{FF2B5EF4-FFF2-40B4-BE49-F238E27FC236}">
                <a16:creationId xmlns:a16="http://schemas.microsoft.com/office/drawing/2014/main" id="{01C45707-3664-42CC-8B92-F40210994425}"/>
              </a:ext>
            </a:extLst>
          </p:cNvPr>
          <p:cNvSpPr>
            <a:spLocks noGrp="1"/>
          </p:cNvSpPr>
          <p:nvPr/>
        </p:nvSpPr>
        <p:spPr>
          <a:xfrm>
            <a:off x="8001000" y="6019800"/>
            <a:ext cx="6762750" cy="1352550"/>
          </a:xfrm>
          <a:prstGeom prst="rect">
            <a:avLst/>
          </a:prstGeom>
          <a:noFill/>
          <a:ln w="0">
            <a:noFill/>
          </a:ln>
        </p:spPr>
        <p:txBody>
          <a:bodyPr wrap="none" lIns="0" tIns="0" rIns="0" bIns="0" anchor="t">
            <a:noAutofit/>
          </a:bodyPr>
          <a:lstStyle/>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Valid 再次检查可执行性及清理后的无冗余性。</a:t>
            </a:r>
          </a:p>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各目标计算完整连通，整体执行依赖无环；</a:t>
            </a:r>
          </a:p>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整体无须连通，同一结果只保留一种生产方式。</a:t>
            </a:r>
          </a:p>
          <a:p>
            <a:pPr>
              <a:defRPr sz="1875" b="0">
                <a:solidFill>
                  <a:srgbClr val="18212B"/>
                </a:solidFill>
                <a:latin typeface="Microsoft YaHei"/>
                <a:ea typeface="Microsoft YaHei"/>
                <a:cs typeface="Microsoft YaHei"/>
              </a:defRPr>
            </a:pPr>
            <a:r>
              <a:rPr sz="1875" b="0">
                <a:solidFill>
                  <a:srgbClr val="18212B"/>
                </a:solidFill>
                <a:latin typeface="Microsoft YaHei"/>
                <a:ea typeface="Microsoft YaHei"/>
                <a:cs typeface="Microsoft YaHei"/>
              </a:rPr>
              <a:t>这是结构去冗余，不保证全局最低代价或最少节点。</a:t>
            </a:r>
          </a:p>
        </p:txBody>
      </p:sp>
      <p:sp>
        <p:nvSpPr>
          <p:cNvPr id="14" name="notes-footer">
            <a:extLst>
              <a:ext uri="{FF2B5EF4-FFF2-40B4-BE49-F238E27FC236}">
                <a16:creationId xmlns:a16="http://schemas.microsoft.com/office/drawing/2014/main" id="{29EA17C2-1323-4D8E-B549-324255742BF7}"/>
              </a:ext>
            </a:extLst>
          </p:cNvPr>
          <p:cNvSpPr>
            <a:spLocks noGrp="1"/>
          </p:cNvSpPr>
          <p:nvPr/>
        </p:nvSpPr>
        <p:spPr>
          <a:xfrm>
            <a:off x="571500" y="7915275"/>
            <a:ext cx="14097000" cy="381000"/>
          </a:xfrm>
          <a:prstGeom prst="rect">
            <a:avLst/>
          </a:prstGeom>
          <a:noFill/>
          <a:ln w="0">
            <a:noFill/>
          </a:ln>
        </p:spPr>
        <p:txBody>
          <a:bodyPr wrap="none" lIns="0" tIns="0" rIns="0" bIns="0" anchor="t">
            <a:noAutofit/>
          </a:bodyPr>
          <a:lstStyle/>
          <a:p>
            <a:pPr>
              <a:defRPr sz="1875" b="0">
                <a:solidFill>
                  <a:srgbClr val="5A6470"/>
                </a:solidFill>
                <a:latin typeface="Microsoft YaHei"/>
                <a:ea typeface="Microsoft YaHei"/>
                <a:cs typeface="Microsoft YaHei"/>
              </a:defRPr>
            </a:pPr>
            <a:r>
              <a:rPr sz="1875" b="0">
                <a:solidFill>
                  <a:srgbClr val="5A6470"/>
                </a:solidFill>
                <a:latin typeface="Microsoft YaHei"/>
                <a:ea typeface="Microsoft YaHei"/>
                <a:cs typeface="Microsoft YaHei"/>
              </a:rPr>
              <a:t>公共节点表示复用机会，是否物化仍由后续增量代价评估决定。</a:t>
            </a:r>
          </a:p>
        </p:txBody>
      </p:sp>
    </p:spTree>
    <p:extLst>
      <p:ext uri="{BB962C8B-B14F-4D97-AF65-F5344CB8AC3E}">
        <p14:creationId xmlns:p14="http://schemas.microsoft.com/office/powerpoint/2010/main" val="2022387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8989C07-1E53-92D7-7C77-8D16274027F7}"/>
            </a:ext>
          </a:extLst>
        </p:cNvPr>
        <p:cNvGrpSpPr/>
        <p:nvPr/>
      </p:nvGrpSpPr>
      <p:grpSpPr>
        <a:xfrm>
          <a:off x="0" y="0"/>
          <a:ext cx="0" cy="0"/>
          <a:chOff x="0" y="0"/>
          <a:chExt cx="0" cy="0"/>
        </a:xfrm>
      </p:grpSpPr>
      <p:sp>
        <p:nvSpPr>
          <p:cNvPr id="39" name="title">
            <a:extLst>
              <a:ext uri="{FF2B5EF4-FFF2-40B4-BE49-F238E27FC236}">
                <a16:creationId xmlns:a16="http://schemas.microsoft.com/office/drawing/2014/main" id="{0423338F-9779-5D8D-2392-9DC105780B1B}"/>
              </a:ext>
            </a:extLst>
          </p:cNvPr>
          <p:cNvSpPr>
            <a:spLocks noGrp="1"/>
          </p:cNvSpPr>
          <p:nvPr/>
        </p:nvSpPr>
        <p:spPr>
          <a:xfrm>
            <a:off x="571500" y="304800"/>
            <a:ext cx="14097000" cy="590550"/>
          </a:xfrm>
          <a:prstGeom prst="rect">
            <a:avLst/>
          </a:prstGeom>
          <a:noFill/>
          <a:ln w="0">
            <a:noFill/>
          </a:ln>
        </p:spPr>
        <p:txBody>
          <a:bodyPr wrap="none" lIns="0" tIns="0" rIns="0" bIns="0" anchor="t">
            <a:noAutofit/>
          </a:bodyPr>
          <a:lstStyle/>
          <a:p>
            <a:pPr>
              <a:defRPr sz="3300" b="1">
                <a:solidFill>
                  <a:srgbClr val="B51B32"/>
                </a:solidFill>
                <a:latin typeface="Calibri"/>
                <a:ea typeface="Calibri"/>
                <a:cs typeface="Calibri"/>
              </a:defRPr>
            </a:pPr>
            <a:r>
              <a:rPr sz="3300" b="1">
                <a:solidFill>
                  <a:srgbClr val="B51B32"/>
                </a:solidFill>
                <a:latin typeface="Calibri"/>
                <a:ea typeface="Calibri"/>
                <a:cs typeface="Calibri"/>
              </a:rPr>
              <a:t>Greedy Subgraph Selection with Fixed Sharing Weights</a:t>
            </a:r>
          </a:p>
        </p:txBody>
      </p:sp>
      <p:sp>
        <p:nvSpPr>
          <p:cNvPr id="2" name="input">
            <a:extLst>
              <a:ext uri="{FF2B5EF4-FFF2-40B4-BE49-F238E27FC236}">
                <a16:creationId xmlns:a16="http://schemas.microsoft.com/office/drawing/2014/main" id="{8E438498-F95B-8232-8929-3EA291C4DA9A}"/>
              </a:ext>
            </a:extLst>
          </p:cNvPr>
          <p:cNvSpPr>
            <a:spLocks noGrp="1"/>
          </p:cNvSpPr>
          <p:nvPr/>
        </p:nvSpPr>
        <p:spPr>
          <a:xfrm>
            <a:off x="571500" y="990600"/>
            <a:ext cx="14097000" cy="361950"/>
          </a:xfrm>
          <a:prstGeom prst="rect">
            <a:avLst/>
          </a:prstGeom>
          <a:noFill/>
          <a:ln w="0">
            <a:noFill/>
          </a:ln>
        </p:spPr>
        <p:txBody>
          <a:bodyPr wrap="none" lIns="0" tIns="0" rIns="0" bIns="0" anchor="t">
            <a:noAutofit/>
          </a:bodyPr>
          <a:lstStyle/>
          <a:p>
            <a:pPr>
              <a:defRPr sz="2025" b="0">
                <a:solidFill>
                  <a:srgbClr val="18212B"/>
                </a:solidFill>
                <a:latin typeface="Calibri"/>
                <a:ea typeface="Calibri"/>
                <a:cs typeface="Calibri"/>
              </a:defRPr>
            </a:pPr>
            <a:r>
              <a:rPr sz="2025" b="0">
                <a:solidFill>
                  <a:srgbClr val="18212B"/>
                </a:solidFill>
                <a:latin typeface="Calibri"/>
                <a:ea typeface="Calibri"/>
                <a:cs typeface="Calibri"/>
              </a:rPr>
              <a:t>Input: G (candidate graph), B (base nodes), T (targets), w (fixed weights), P₀ (valid baseline)</a:t>
            </a:r>
          </a:p>
        </p:txBody>
      </p:sp>
      <p:sp>
        <p:nvSpPr>
          <p:cNvPr id="3" name="output">
            <a:extLst>
              <a:ext uri="{FF2B5EF4-FFF2-40B4-BE49-F238E27FC236}">
                <a16:creationId xmlns:a16="http://schemas.microsoft.com/office/drawing/2014/main" id="{771CD748-339D-4599-FE98-3DD74C573D6A}"/>
              </a:ext>
            </a:extLst>
          </p:cNvPr>
          <p:cNvSpPr>
            <a:spLocks noGrp="1"/>
          </p:cNvSpPr>
          <p:nvPr/>
        </p:nvSpPr>
        <p:spPr>
          <a:xfrm>
            <a:off x="571500" y="1381125"/>
            <a:ext cx="14097000" cy="361950"/>
          </a:xfrm>
          <a:prstGeom prst="rect">
            <a:avLst/>
          </a:prstGeom>
          <a:noFill/>
          <a:ln w="0">
            <a:noFill/>
          </a:ln>
        </p:spPr>
        <p:txBody>
          <a:bodyPr wrap="none" lIns="0" tIns="0" rIns="0" bIns="0" anchor="t">
            <a:noAutofit/>
          </a:bodyPr>
          <a:lstStyle/>
          <a:p>
            <a:pPr>
              <a:defRPr sz="2025" b="0">
                <a:solidFill>
                  <a:srgbClr val="18212B"/>
                </a:solidFill>
                <a:latin typeface="Calibri"/>
                <a:ea typeface="Calibri"/>
                <a:cs typeface="Calibri"/>
              </a:defRPr>
            </a:pPr>
            <a:r>
              <a:rPr sz="2025" b="0">
                <a:solidFill>
                  <a:srgbClr val="18212B"/>
                </a:solidFill>
                <a:latin typeface="Calibri"/>
                <a:ea typeface="Calibri"/>
                <a:cs typeface="Calibri"/>
              </a:rPr>
              <a:t>Output: P with complete target plans, one producer per result, and no unused intermediate nodes</a:t>
            </a:r>
          </a:p>
        </p:txBody>
      </p:sp>
      <p:sp>
        <p:nvSpPr>
          <p:cNvPr id="4" name="number-1">
            <a:extLst>
              <a:ext uri="{FF2B5EF4-FFF2-40B4-BE49-F238E27FC236}">
                <a16:creationId xmlns:a16="http://schemas.microsoft.com/office/drawing/2014/main" id="{26A113F1-5CB4-586E-E905-F6D2050087E4}"/>
              </a:ext>
            </a:extLst>
          </p:cNvPr>
          <p:cNvSpPr>
            <a:spLocks noGrp="1"/>
          </p:cNvSpPr>
          <p:nvPr/>
        </p:nvSpPr>
        <p:spPr>
          <a:xfrm>
            <a:off x="590550" y="202882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01</a:t>
            </a:r>
          </a:p>
        </p:txBody>
      </p:sp>
      <p:sp>
        <p:nvSpPr>
          <p:cNvPr id="5" name="code-1">
            <a:extLst>
              <a:ext uri="{FF2B5EF4-FFF2-40B4-BE49-F238E27FC236}">
                <a16:creationId xmlns:a16="http://schemas.microsoft.com/office/drawing/2014/main" id="{3A5AA45C-5AAA-6B6F-6539-22A4E7FCEEF9}"/>
              </a:ext>
            </a:extLst>
          </p:cNvPr>
          <p:cNvSpPr>
            <a:spLocks noGrp="1"/>
          </p:cNvSpPr>
          <p:nvPr/>
        </p:nvSpPr>
        <p:spPr>
          <a:xfrm>
            <a:off x="1133475" y="200025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dirty="0">
                <a:solidFill>
                  <a:srgbClr val="18212B"/>
                </a:solidFill>
                <a:latin typeface="Consolas"/>
                <a:ea typeface="Consolas"/>
                <a:cs typeface="Consolas"/>
              </a:rPr>
              <a:t>K ← B ∪ T</a:t>
            </a:r>
          </a:p>
        </p:txBody>
      </p:sp>
      <p:sp>
        <p:nvSpPr>
          <p:cNvPr id="6" name="number-2">
            <a:extLst>
              <a:ext uri="{FF2B5EF4-FFF2-40B4-BE49-F238E27FC236}">
                <a16:creationId xmlns:a16="http://schemas.microsoft.com/office/drawing/2014/main" id="{C2A9EF80-6E79-55C6-3F3B-87327869743F}"/>
              </a:ext>
            </a:extLst>
          </p:cNvPr>
          <p:cNvSpPr>
            <a:spLocks noGrp="1"/>
          </p:cNvSpPr>
          <p:nvPr/>
        </p:nvSpPr>
        <p:spPr>
          <a:xfrm>
            <a:off x="590550" y="235267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02</a:t>
            </a:r>
          </a:p>
        </p:txBody>
      </p:sp>
      <p:sp>
        <p:nvSpPr>
          <p:cNvPr id="7" name="code-2">
            <a:extLst>
              <a:ext uri="{FF2B5EF4-FFF2-40B4-BE49-F238E27FC236}">
                <a16:creationId xmlns:a16="http://schemas.microsoft.com/office/drawing/2014/main" id="{36C37BB6-CD43-4C9B-7D64-F3F6B16DFF08}"/>
              </a:ext>
            </a:extLst>
          </p:cNvPr>
          <p:cNvSpPr>
            <a:spLocks noGrp="1"/>
          </p:cNvSpPr>
          <p:nvPr/>
        </p:nvSpPr>
        <p:spPr>
          <a:xfrm>
            <a:off x="1133475" y="232410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dirty="0">
                <a:solidFill>
                  <a:srgbClr val="18212B"/>
                </a:solidFill>
                <a:latin typeface="Consolas"/>
                <a:ea typeface="Consolas"/>
                <a:cs typeface="Consolas"/>
              </a:rPr>
              <a:t>P ← (K, ∅)</a:t>
            </a:r>
          </a:p>
        </p:txBody>
      </p:sp>
      <p:sp>
        <p:nvSpPr>
          <p:cNvPr id="8" name="number-3">
            <a:extLst>
              <a:ext uri="{FF2B5EF4-FFF2-40B4-BE49-F238E27FC236}">
                <a16:creationId xmlns:a16="http://schemas.microsoft.com/office/drawing/2014/main" id="{3DC06E83-86C4-55D7-D20B-94ACCA650FFC}"/>
              </a:ext>
            </a:extLst>
          </p:cNvPr>
          <p:cNvSpPr>
            <a:spLocks noGrp="1"/>
          </p:cNvSpPr>
          <p:nvPr/>
        </p:nvSpPr>
        <p:spPr>
          <a:xfrm>
            <a:off x="590550" y="267652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03</a:t>
            </a:r>
          </a:p>
        </p:txBody>
      </p:sp>
      <p:sp>
        <p:nvSpPr>
          <p:cNvPr id="9" name="code-3">
            <a:extLst>
              <a:ext uri="{FF2B5EF4-FFF2-40B4-BE49-F238E27FC236}">
                <a16:creationId xmlns:a16="http://schemas.microsoft.com/office/drawing/2014/main" id="{77DBE671-DE63-09D5-1399-F148EE0957D5}"/>
              </a:ext>
            </a:extLst>
          </p:cNvPr>
          <p:cNvSpPr>
            <a:spLocks noGrp="1"/>
          </p:cNvSpPr>
          <p:nvPr/>
        </p:nvSpPr>
        <p:spPr>
          <a:xfrm>
            <a:off x="1133475" y="264795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dirty="0">
                <a:solidFill>
                  <a:srgbClr val="18212B"/>
                </a:solidFill>
                <a:latin typeface="Consolas"/>
                <a:ea typeface="Consolas"/>
                <a:cs typeface="Consolas"/>
              </a:rPr>
              <a:t>Q ← </a:t>
            </a:r>
            <a:r>
              <a:rPr sz="2100" b="0" dirty="0" err="1">
                <a:solidFill>
                  <a:srgbClr val="18212B"/>
                </a:solidFill>
                <a:latin typeface="Consolas"/>
                <a:ea typeface="Consolas"/>
                <a:cs typeface="Consolas"/>
              </a:rPr>
              <a:t>IntermediateNodes</a:t>
            </a:r>
            <a:r>
              <a:rPr sz="2100" b="0" dirty="0">
                <a:solidFill>
                  <a:srgbClr val="18212B"/>
                </a:solidFill>
                <a:latin typeface="Consolas"/>
                <a:ea typeface="Consolas"/>
                <a:cs typeface="Consolas"/>
              </a:rPr>
              <a:t>(G)</a:t>
            </a:r>
          </a:p>
        </p:txBody>
      </p:sp>
      <p:sp>
        <p:nvSpPr>
          <p:cNvPr id="10" name="number-4">
            <a:extLst>
              <a:ext uri="{FF2B5EF4-FFF2-40B4-BE49-F238E27FC236}">
                <a16:creationId xmlns:a16="http://schemas.microsoft.com/office/drawing/2014/main" id="{C43568C3-10C5-BCF9-481A-A807A3AA92F3}"/>
              </a:ext>
            </a:extLst>
          </p:cNvPr>
          <p:cNvSpPr>
            <a:spLocks noGrp="1"/>
          </p:cNvSpPr>
          <p:nvPr/>
        </p:nvSpPr>
        <p:spPr>
          <a:xfrm>
            <a:off x="590550" y="300037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04</a:t>
            </a:r>
          </a:p>
        </p:txBody>
      </p:sp>
      <p:sp>
        <p:nvSpPr>
          <p:cNvPr id="11" name="code-4">
            <a:extLst>
              <a:ext uri="{FF2B5EF4-FFF2-40B4-BE49-F238E27FC236}">
                <a16:creationId xmlns:a16="http://schemas.microsoft.com/office/drawing/2014/main" id="{AB995E53-F335-D28F-F5DD-5D30B9E860DA}"/>
              </a:ext>
            </a:extLst>
          </p:cNvPr>
          <p:cNvSpPr>
            <a:spLocks noGrp="1"/>
          </p:cNvSpPr>
          <p:nvPr/>
        </p:nvSpPr>
        <p:spPr>
          <a:xfrm>
            <a:off x="1133475" y="297180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dirty="0">
                <a:solidFill>
                  <a:srgbClr val="18212B"/>
                </a:solidFill>
                <a:latin typeface="Consolas"/>
                <a:ea typeface="Consolas"/>
                <a:cs typeface="Consolas"/>
              </a:rPr>
              <a:t>while Q ≠ ∅ and not </a:t>
            </a:r>
            <a:r>
              <a:rPr sz="2100" b="0" dirty="0" err="1">
                <a:solidFill>
                  <a:srgbClr val="18212B"/>
                </a:solidFill>
                <a:latin typeface="Consolas"/>
                <a:ea typeface="Consolas"/>
                <a:cs typeface="Consolas"/>
              </a:rPr>
              <a:t>AllTargetsComplete</a:t>
            </a:r>
            <a:r>
              <a:rPr sz="2100" b="0" dirty="0">
                <a:solidFill>
                  <a:srgbClr val="18212B"/>
                </a:solidFill>
                <a:latin typeface="Consolas"/>
                <a:ea typeface="Consolas"/>
                <a:cs typeface="Consolas"/>
              </a:rPr>
              <a:t>(P, T) do</a:t>
            </a:r>
          </a:p>
        </p:txBody>
      </p:sp>
      <p:sp>
        <p:nvSpPr>
          <p:cNvPr id="12" name="number-5">
            <a:extLst>
              <a:ext uri="{FF2B5EF4-FFF2-40B4-BE49-F238E27FC236}">
                <a16:creationId xmlns:a16="http://schemas.microsoft.com/office/drawing/2014/main" id="{913650A8-8A10-0542-12E1-604BBD09A8F0}"/>
              </a:ext>
            </a:extLst>
          </p:cNvPr>
          <p:cNvSpPr>
            <a:spLocks noGrp="1"/>
          </p:cNvSpPr>
          <p:nvPr/>
        </p:nvSpPr>
        <p:spPr>
          <a:xfrm>
            <a:off x="590550" y="332422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05</a:t>
            </a:r>
          </a:p>
        </p:txBody>
      </p:sp>
      <p:sp>
        <p:nvSpPr>
          <p:cNvPr id="13" name="code-5">
            <a:extLst>
              <a:ext uri="{FF2B5EF4-FFF2-40B4-BE49-F238E27FC236}">
                <a16:creationId xmlns:a16="http://schemas.microsoft.com/office/drawing/2014/main" id="{31CC6A05-A011-E4E3-18E2-29C8A620D8EB}"/>
              </a:ext>
            </a:extLst>
          </p:cNvPr>
          <p:cNvSpPr>
            <a:spLocks noGrp="1"/>
          </p:cNvSpPr>
          <p:nvPr/>
        </p:nvSpPr>
        <p:spPr>
          <a:xfrm>
            <a:off x="1133475" y="3295650"/>
            <a:ext cx="13382625" cy="333375"/>
          </a:xfrm>
          <a:prstGeom prst="rect">
            <a:avLst/>
          </a:prstGeom>
          <a:noFill/>
          <a:ln w="0">
            <a:noFill/>
          </a:ln>
        </p:spPr>
        <p:txBody>
          <a:bodyPr wrap="none" lIns="0" tIns="0" rIns="0" bIns="0" anchor="t">
            <a:noAutofit/>
          </a:bodyPr>
          <a:lstStyle/>
          <a:p>
            <a:pPr>
              <a:defRPr sz="2100" b="0">
                <a:solidFill>
                  <a:srgbClr val="B51B32"/>
                </a:solidFill>
                <a:latin typeface="Consolas"/>
                <a:ea typeface="Consolas"/>
                <a:cs typeface="Consolas"/>
              </a:defRPr>
            </a:pPr>
            <a:r>
              <a:rPr sz="2100" dirty="0">
                <a:solidFill>
                  <a:schemeClr val="tx1">
                    <a:lumMod val="95000"/>
                    <a:lumOff val="5000"/>
                  </a:schemeClr>
                </a:solidFill>
                <a:latin typeface="Consolas"/>
                <a:ea typeface="Consolas"/>
                <a:cs typeface="Consolas"/>
              </a:rPr>
              <a:t>    v ← argmax { w(u) : u ∈ Q }</a:t>
            </a:r>
          </a:p>
        </p:txBody>
      </p:sp>
      <p:sp>
        <p:nvSpPr>
          <p:cNvPr id="14" name="number-6">
            <a:extLst>
              <a:ext uri="{FF2B5EF4-FFF2-40B4-BE49-F238E27FC236}">
                <a16:creationId xmlns:a16="http://schemas.microsoft.com/office/drawing/2014/main" id="{BE1CCCEB-0E53-09D4-ED7F-85A27050FE6C}"/>
              </a:ext>
            </a:extLst>
          </p:cNvPr>
          <p:cNvSpPr>
            <a:spLocks noGrp="1"/>
          </p:cNvSpPr>
          <p:nvPr/>
        </p:nvSpPr>
        <p:spPr>
          <a:xfrm>
            <a:off x="590550" y="364807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06</a:t>
            </a:r>
          </a:p>
        </p:txBody>
      </p:sp>
      <p:sp>
        <p:nvSpPr>
          <p:cNvPr id="15" name="code-6">
            <a:extLst>
              <a:ext uri="{FF2B5EF4-FFF2-40B4-BE49-F238E27FC236}">
                <a16:creationId xmlns:a16="http://schemas.microsoft.com/office/drawing/2014/main" id="{F82A7F83-8D8D-6BA5-100A-3A608FF8F73E}"/>
              </a:ext>
            </a:extLst>
          </p:cNvPr>
          <p:cNvSpPr>
            <a:spLocks noGrp="1"/>
          </p:cNvSpPr>
          <p:nvPr/>
        </p:nvSpPr>
        <p:spPr>
          <a:xfrm>
            <a:off x="1133475" y="361950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dirty="0">
                <a:solidFill>
                  <a:srgbClr val="18212B"/>
                </a:solidFill>
                <a:latin typeface="Consolas"/>
                <a:ea typeface="Consolas"/>
                <a:cs typeface="Consolas"/>
              </a:rPr>
              <a:t>    Q ← Q \ {v}</a:t>
            </a:r>
          </a:p>
        </p:txBody>
      </p:sp>
      <p:sp>
        <p:nvSpPr>
          <p:cNvPr id="16" name="number-7">
            <a:extLst>
              <a:ext uri="{FF2B5EF4-FFF2-40B4-BE49-F238E27FC236}">
                <a16:creationId xmlns:a16="http://schemas.microsoft.com/office/drawing/2014/main" id="{D89B7E35-0C92-A34E-845C-6433F0F5522C}"/>
              </a:ext>
            </a:extLst>
          </p:cNvPr>
          <p:cNvSpPr>
            <a:spLocks noGrp="1"/>
          </p:cNvSpPr>
          <p:nvPr/>
        </p:nvSpPr>
        <p:spPr>
          <a:xfrm>
            <a:off x="590550" y="397192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07</a:t>
            </a:r>
          </a:p>
        </p:txBody>
      </p:sp>
      <p:sp>
        <p:nvSpPr>
          <p:cNvPr id="17" name="code-7">
            <a:extLst>
              <a:ext uri="{FF2B5EF4-FFF2-40B4-BE49-F238E27FC236}">
                <a16:creationId xmlns:a16="http://schemas.microsoft.com/office/drawing/2014/main" id="{20B9F7B6-641B-85A6-EEE6-10D4BFED7992}"/>
              </a:ext>
            </a:extLst>
          </p:cNvPr>
          <p:cNvSpPr>
            <a:spLocks noGrp="1"/>
          </p:cNvSpPr>
          <p:nvPr/>
        </p:nvSpPr>
        <p:spPr>
          <a:xfrm>
            <a:off x="1133475" y="394335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dirty="0">
                <a:solidFill>
                  <a:srgbClr val="18212B"/>
                </a:solidFill>
                <a:latin typeface="Consolas"/>
                <a:ea typeface="Consolas"/>
                <a:cs typeface="Consolas"/>
              </a:rPr>
              <a:t>    for each E in </a:t>
            </a:r>
            <a:r>
              <a:rPr sz="2100" b="0" dirty="0" err="1">
                <a:solidFill>
                  <a:srgbClr val="18212B"/>
                </a:solidFill>
                <a:latin typeface="Consolas"/>
                <a:ea typeface="Consolas"/>
                <a:cs typeface="Consolas"/>
              </a:rPr>
              <a:t>RankedExtensions</a:t>
            </a:r>
            <a:r>
              <a:rPr sz="2100" b="0" dirty="0">
                <a:solidFill>
                  <a:srgbClr val="18212B"/>
                </a:solidFill>
                <a:latin typeface="Consolas"/>
                <a:ea typeface="Consolas"/>
                <a:cs typeface="Consolas"/>
              </a:rPr>
              <a:t>(G, P, v, w) do</a:t>
            </a:r>
          </a:p>
        </p:txBody>
      </p:sp>
      <p:sp>
        <p:nvSpPr>
          <p:cNvPr id="18" name="number-8">
            <a:extLst>
              <a:ext uri="{FF2B5EF4-FFF2-40B4-BE49-F238E27FC236}">
                <a16:creationId xmlns:a16="http://schemas.microsoft.com/office/drawing/2014/main" id="{DAB8ACB8-C649-F3D3-88AC-D52E5E164BCF}"/>
              </a:ext>
            </a:extLst>
          </p:cNvPr>
          <p:cNvSpPr>
            <a:spLocks noGrp="1"/>
          </p:cNvSpPr>
          <p:nvPr/>
        </p:nvSpPr>
        <p:spPr>
          <a:xfrm>
            <a:off x="590550" y="429577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08</a:t>
            </a:r>
          </a:p>
        </p:txBody>
      </p:sp>
      <p:sp>
        <p:nvSpPr>
          <p:cNvPr id="19" name="code-8">
            <a:extLst>
              <a:ext uri="{FF2B5EF4-FFF2-40B4-BE49-F238E27FC236}">
                <a16:creationId xmlns:a16="http://schemas.microsoft.com/office/drawing/2014/main" id="{2F48DB27-A04F-75AC-8B6F-234F37F45B19}"/>
              </a:ext>
            </a:extLst>
          </p:cNvPr>
          <p:cNvSpPr>
            <a:spLocks noGrp="1"/>
          </p:cNvSpPr>
          <p:nvPr/>
        </p:nvSpPr>
        <p:spPr>
          <a:xfrm>
            <a:off x="1133475" y="426720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dirty="0">
                <a:solidFill>
                  <a:srgbClr val="18212B"/>
                </a:solidFill>
                <a:latin typeface="Consolas"/>
                <a:ea typeface="Consolas"/>
                <a:cs typeface="Consolas"/>
              </a:rPr>
              <a:t>        R ← P ∪ E</a:t>
            </a:r>
          </a:p>
        </p:txBody>
      </p:sp>
      <p:sp>
        <p:nvSpPr>
          <p:cNvPr id="20" name="number-9">
            <a:extLst>
              <a:ext uri="{FF2B5EF4-FFF2-40B4-BE49-F238E27FC236}">
                <a16:creationId xmlns:a16="http://schemas.microsoft.com/office/drawing/2014/main" id="{7513E0D7-3600-2E91-8944-AF0F1B6739F9}"/>
              </a:ext>
            </a:extLst>
          </p:cNvPr>
          <p:cNvSpPr>
            <a:spLocks noGrp="1"/>
          </p:cNvSpPr>
          <p:nvPr/>
        </p:nvSpPr>
        <p:spPr>
          <a:xfrm>
            <a:off x="590550" y="461962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09</a:t>
            </a:r>
          </a:p>
        </p:txBody>
      </p:sp>
      <p:sp>
        <p:nvSpPr>
          <p:cNvPr id="21" name="code-9">
            <a:extLst>
              <a:ext uri="{FF2B5EF4-FFF2-40B4-BE49-F238E27FC236}">
                <a16:creationId xmlns:a16="http://schemas.microsoft.com/office/drawing/2014/main" id="{F690C06C-4B7E-221E-17CB-7B1F353F91A9}"/>
              </a:ext>
            </a:extLst>
          </p:cNvPr>
          <p:cNvSpPr>
            <a:spLocks noGrp="1"/>
          </p:cNvSpPr>
          <p:nvPr/>
        </p:nvSpPr>
        <p:spPr>
          <a:xfrm>
            <a:off x="1133475" y="459105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dirty="0">
                <a:solidFill>
                  <a:srgbClr val="18212B"/>
                </a:solidFill>
                <a:latin typeface="Consolas"/>
                <a:ea typeface="Consolas"/>
                <a:cs typeface="Consolas"/>
              </a:rPr>
              <a:t>        if Legal(R) and </a:t>
            </a:r>
            <a:r>
              <a:rPr sz="2100" b="0" dirty="0" err="1">
                <a:solidFill>
                  <a:srgbClr val="18212B"/>
                </a:solidFill>
                <a:latin typeface="Consolas"/>
                <a:ea typeface="Consolas"/>
                <a:cs typeface="Consolas"/>
              </a:rPr>
              <a:t>SingleProducer</a:t>
            </a:r>
            <a:r>
              <a:rPr sz="2100" b="0" dirty="0">
                <a:solidFill>
                  <a:srgbClr val="18212B"/>
                </a:solidFill>
                <a:latin typeface="Consolas"/>
                <a:ea typeface="Consolas"/>
                <a:cs typeface="Consolas"/>
              </a:rPr>
              <a:t>(R) and Acyclic(R) then</a:t>
            </a:r>
          </a:p>
        </p:txBody>
      </p:sp>
      <p:sp>
        <p:nvSpPr>
          <p:cNvPr id="22" name="number-10">
            <a:extLst>
              <a:ext uri="{FF2B5EF4-FFF2-40B4-BE49-F238E27FC236}">
                <a16:creationId xmlns:a16="http://schemas.microsoft.com/office/drawing/2014/main" id="{A1EA965C-1F53-354A-4A8C-C168377B5FFC}"/>
              </a:ext>
            </a:extLst>
          </p:cNvPr>
          <p:cNvSpPr>
            <a:spLocks noGrp="1"/>
          </p:cNvSpPr>
          <p:nvPr/>
        </p:nvSpPr>
        <p:spPr>
          <a:xfrm>
            <a:off x="590550" y="494347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10</a:t>
            </a:r>
          </a:p>
        </p:txBody>
      </p:sp>
      <p:sp>
        <p:nvSpPr>
          <p:cNvPr id="23" name="code-10">
            <a:extLst>
              <a:ext uri="{FF2B5EF4-FFF2-40B4-BE49-F238E27FC236}">
                <a16:creationId xmlns:a16="http://schemas.microsoft.com/office/drawing/2014/main" id="{92BA6251-B8CA-E1C8-3CF8-7A230D736357}"/>
              </a:ext>
            </a:extLst>
          </p:cNvPr>
          <p:cNvSpPr>
            <a:spLocks noGrp="1"/>
          </p:cNvSpPr>
          <p:nvPr/>
        </p:nvSpPr>
        <p:spPr>
          <a:xfrm>
            <a:off x="1133475" y="491490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dirty="0">
                <a:solidFill>
                  <a:srgbClr val="18212B"/>
                </a:solidFill>
                <a:latin typeface="Consolas"/>
                <a:ea typeface="Consolas"/>
                <a:cs typeface="Consolas"/>
              </a:rPr>
              <a:t>            P ← R</a:t>
            </a:r>
          </a:p>
        </p:txBody>
      </p:sp>
      <p:sp>
        <p:nvSpPr>
          <p:cNvPr id="24" name="number-11">
            <a:extLst>
              <a:ext uri="{FF2B5EF4-FFF2-40B4-BE49-F238E27FC236}">
                <a16:creationId xmlns:a16="http://schemas.microsoft.com/office/drawing/2014/main" id="{F0362B89-4A74-B3CF-F1AE-643251A05D58}"/>
              </a:ext>
            </a:extLst>
          </p:cNvPr>
          <p:cNvSpPr>
            <a:spLocks noGrp="1"/>
          </p:cNvSpPr>
          <p:nvPr/>
        </p:nvSpPr>
        <p:spPr>
          <a:xfrm>
            <a:off x="590550" y="526732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11</a:t>
            </a:r>
          </a:p>
        </p:txBody>
      </p:sp>
      <p:sp>
        <p:nvSpPr>
          <p:cNvPr id="25" name="code-11">
            <a:extLst>
              <a:ext uri="{FF2B5EF4-FFF2-40B4-BE49-F238E27FC236}">
                <a16:creationId xmlns:a16="http://schemas.microsoft.com/office/drawing/2014/main" id="{B3EE0722-F99A-3B1F-170B-6855DF9AE687}"/>
              </a:ext>
            </a:extLst>
          </p:cNvPr>
          <p:cNvSpPr>
            <a:spLocks noGrp="1"/>
          </p:cNvSpPr>
          <p:nvPr/>
        </p:nvSpPr>
        <p:spPr>
          <a:xfrm>
            <a:off x="1133475" y="5238750"/>
            <a:ext cx="13382625" cy="333375"/>
          </a:xfrm>
          <a:prstGeom prst="rect">
            <a:avLst/>
          </a:prstGeom>
          <a:noFill/>
          <a:ln w="0">
            <a:noFill/>
          </a:ln>
        </p:spPr>
        <p:txBody>
          <a:bodyPr wrap="none" lIns="0" tIns="0" rIns="0" bIns="0" anchor="t">
            <a:noAutofit/>
          </a:bodyPr>
          <a:lstStyle/>
          <a:p>
            <a:pPr>
              <a:defRPr sz="2100" b="0">
                <a:solidFill>
                  <a:srgbClr val="18212B"/>
                </a:solidFill>
                <a:latin typeface="Consolas"/>
                <a:ea typeface="Consolas"/>
                <a:cs typeface="Consolas"/>
              </a:defRPr>
            </a:pPr>
            <a:r>
              <a:rPr sz="2100" b="0" dirty="0">
                <a:solidFill>
                  <a:srgbClr val="18212B"/>
                </a:solidFill>
                <a:latin typeface="Consolas"/>
                <a:ea typeface="Consolas"/>
                <a:cs typeface="Consolas"/>
              </a:rPr>
              <a:t>            break</a:t>
            </a:r>
          </a:p>
        </p:txBody>
      </p:sp>
      <p:sp>
        <p:nvSpPr>
          <p:cNvPr id="26" name="number-12">
            <a:extLst>
              <a:ext uri="{FF2B5EF4-FFF2-40B4-BE49-F238E27FC236}">
                <a16:creationId xmlns:a16="http://schemas.microsoft.com/office/drawing/2014/main" id="{1553D559-E89A-9491-89E0-5F552AD5EFDC}"/>
              </a:ext>
            </a:extLst>
          </p:cNvPr>
          <p:cNvSpPr>
            <a:spLocks noGrp="1"/>
          </p:cNvSpPr>
          <p:nvPr/>
        </p:nvSpPr>
        <p:spPr>
          <a:xfrm>
            <a:off x="590550" y="559117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12</a:t>
            </a:r>
          </a:p>
        </p:txBody>
      </p:sp>
      <p:sp>
        <p:nvSpPr>
          <p:cNvPr id="28" name="number-13">
            <a:extLst>
              <a:ext uri="{FF2B5EF4-FFF2-40B4-BE49-F238E27FC236}">
                <a16:creationId xmlns:a16="http://schemas.microsoft.com/office/drawing/2014/main" id="{3270D635-81C4-441A-06D5-947FEB153875}"/>
              </a:ext>
            </a:extLst>
          </p:cNvPr>
          <p:cNvSpPr>
            <a:spLocks noGrp="1"/>
          </p:cNvSpPr>
          <p:nvPr/>
        </p:nvSpPr>
        <p:spPr>
          <a:xfrm>
            <a:off x="590550" y="591502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13</a:t>
            </a:r>
          </a:p>
        </p:txBody>
      </p:sp>
      <p:sp>
        <p:nvSpPr>
          <p:cNvPr id="30" name="number-14">
            <a:extLst>
              <a:ext uri="{FF2B5EF4-FFF2-40B4-BE49-F238E27FC236}">
                <a16:creationId xmlns:a16="http://schemas.microsoft.com/office/drawing/2014/main" id="{B7B63854-1C8D-EB4C-EF48-2A3D5FE3E397}"/>
              </a:ext>
            </a:extLst>
          </p:cNvPr>
          <p:cNvSpPr>
            <a:spLocks noGrp="1"/>
          </p:cNvSpPr>
          <p:nvPr/>
        </p:nvSpPr>
        <p:spPr>
          <a:xfrm>
            <a:off x="590550" y="623887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dirty="0">
                <a:solidFill>
                  <a:srgbClr val="8A929B"/>
                </a:solidFill>
                <a:latin typeface="Consolas"/>
                <a:ea typeface="Consolas"/>
                <a:cs typeface="Consolas"/>
              </a:rPr>
              <a:t>14</a:t>
            </a:r>
          </a:p>
        </p:txBody>
      </p:sp>
      <p:sp>
        <p:nvSpPr>
          <p:cNvPr id="32" name="number-15">
            <a:extLst>
              <a:ext uri="{FF2B5EF4-FFF2-40B4-BE49-F238E27FC236}">
                <a16:creationId xmlns:a16="http://schemas.microsoft.com/office/drawing/2014/main" id="{D21AA027-39DA-D0A4-4E1D-FE4FFEC5347A}"/>
              </a:ext>
            </a:extLst>
          </p:cNvPr>
          <p:cNvSpPr>
            <a:spLocks noGrp="1"/>
          </p:cNvSpPr>
          <p:nvPr/>
        </p:nvSpPr>
        <p:spPr>
          <a:xfrm>
            <a:off x="590550" y="656272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15</a:t>
            </a:r>
          </a:p>
        </p:txBody>
      </p:sp>
      <p:sp>
        <p:nvSpPr>
          <p:cNvPr id="33" name="code-15">
            <a:extLst>
              <a:ext uri="{FF2B5EF4-FFF2-40B4-BE49-F238E27FC236}">
                <a16:creationId xmlns:a16="http://schemas.microsoft.com/office/drawing/2014/main" id="{023174A7-E1F1-9A7F-E19A-59CD160A926D}"/>
              </a:ext>
            </a:extLst>
          </p:cNvPr>
          <p:cNvSpPr>
            <a:spLocks noGrp="1"/>
          </p:cNvSpPr>
          <p:nvPr/>
        </p:nvSpPr>
        <p:spPr>
          <a:xfrm>
            <a:off x="1133475" y="5562600"/>
            <a:ext cx="13382625" cy="333375"/>
          </a:xfrm>
          <a:prstGeom prst="rect">
            <a:avLst/>
          </a:prstGeom>
          <a:noFill/>
          <a:ln w="0">
            <a:noFill/>
          </a:ln>
        </p:spPr>
        <p:txBody>
          <a:bodyPr wrap="none" lIns="0" tIns="0" rIns="0" bIns="0" anchor="t">
            <a:noAutofit/>
          </a:bodyPr>
          <a:lstStyle/>
          <a:p>
            <a:pPr>
              <a:defRPr sz="2100" b="0">
                <a:solidFill>
                  <a:srgbClr val="B51B32"/>
                </a:solidFill>
                <a:latin typeface="Consolas"/>
                <a:ea typeface="Consolas"/>
                <a:cs typeface="Consolas"/>
              </a:defRPr>
            </a:pPr>
            <a:r>
              <a:rPr sz="2100" dirty="0">
                <a:solidFill>
                  <a:schemeClr val="tx1">
                    <a:lumMod val="95000"/>
                    <a:lumOff val="5000"/>
                  </a:schemeClr>
                </a:solidFill>
                <a:latin typeface="Consolas"/>
                <a:ea typeface="Consolas"/>
                <a:cs typeface="Consolas"/>
              </a:rPr>
              <a:t>P ← </a:t>
            </a:r>
            <a:r>
              <a:rPr lang="en-US" altLang="zh-CN" sz="2100" dirty="0">
                <a:solidFill>
                  <a:srgbClr val="18212B"/>
                </a:solidFill>
                <a:latin typeface="Consolas"/>
                <a:ea typeface="Consolas"/>
                <a:cs typeface="Consolas"/>
              </a:rPr>
              <a:t>V</a:t>
            </a:r>
            <a:r>
              <a:rPr lang="en-US" altLang="zh-CN" sz="2100" dirty="0">
                <a:solidFill>
                  <a:schemeClr val="tx1">
                    <a:lumMod val="95000"/>
                    <a:lumOff val="5000"/>
                  </a:schemeClr>
                </a:solidFill>
                <a:latin typeface="Consolas"/>
                <a:ea typeface="Consolas"/>
                <a:cs typeface="Consolas"/>
              </a:rPr>
              <a:t>alid</a:t>
            </a:r>
            <a:r>
              <a:rPr sz="2100" dirty="0">
                <a:solidFill>
                  <a:schemeClr val="tx1">
                    <a:lumMod val="95000"/>
                    <a:lumOff val="5000"/>
                  </a:schemeClr>
                </a:solidFill>
                <a:latin typeface="Consolas"/>
                <a:ea typeface="Consolas"/>
                <a:cs typeface="Consolas"/>
              </a:rPr>
              <a:t>(P, T, B</a:t>
            </a:r>
            <a:r>
              <a:rPr lang="en-US" sz="2100" dirty="0">
                <a:solidFill>
                  <a:schemeClr val="tx1">
                    <a:lumMod val="95000"/>
                    <a:lumOff val="5000"/>
                  </a:schemeClr>
                </a:solidFill>
                <a:latin typeface="Consolas"/>
                <a:ea typeface="Consolas"/>
                <a:cs typeface="Consolas"/>
              </a:rPr>
              <a:t>,</a:t>
            </a:r>
            <a:r>
              <a:rPr lang="zh-CN" altLang="en-US" sz="2100" dirty="0">
                <a:solidFill>
                  <a:schemeClr val="tx1">
                    <a:lumMod val="95000"/>
                    <a:lumOff val="5000"/>
                  </a:schemeClr>
                </a:solidFill>
                <a:latin typeface="Consolas"/>
                <a:ea typeface="Consolas"/>
                <a:cs typeface="Consolas"/>
              </a:rPr>
              <a:t> </a:t>
            </a:r>
            <a:r>
              <a:rPr lang="en-US" altLang="zh-CN" sz="2100" dirty="0">
                <a:solidFill>
                  <a:schemeClr val="tx1">
                    <a:lumMod val="95000"/>
                    <a:lumOff val="5000"/>
                  </a:schemeClr>
                </a:solidFill>
                <a:latin typeface="Consolas"/>
                <a:ea typeface="Consolas"/>
                <a:cs typeface="Consolas"/>
              </a:rPr>
              <a:t>Q</a:t>
            </a:r>
            <a:r>
              <a:rPr sz="2100" dirty="0">
                <a:solidFill>
                  <a:schemeClr val="tx1">
                    <a:lumMod val="95000"/>
                    <a:lumOff val="5000"/>
                  </a:schemeClr>
                </a:solidFill>
                <a:latin typeface="Consolas"/>
                <a:ea typeface="Consolas"/>
                <a:cs typeface="Consolas"/>
              </a:rPr>
              <a:t>)</a:t>
            </a:r>
          </a:p>
        </p:txBody>
      </p:sp>
      <p:sp>
        <p:nvSpPr>
          <p:cNvPr id="34" name="number-16">
            <a:extLst>
              <a:ext uri="{FF2B5EF4-FFF2-40B4-BE49-F238E27FC236}">
                <a16:creationId xmlns:a16="http://schemas.microsoft.com/office/drawing/2014/main" id="{F9B7193B-15A6-64FC-297F-534D4210AED8}"/>
              </a:ext>
            </a:extLst>
          </p:cNvPr>
          <p:cNvSpPr>
            <a:spLocks noGrp="1"/>
          </p:cNvSpPr>
          <p:nvPr/>
        </p:nvSpPr>
        <p:spPr>
          <a:xfrm>
            <a:off x="590550" y="688657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16</a:t>
            </a:r>
          </a:p>
        </p:txBody>
      </p:sp>
      <p:sp>
        <p:nvSpPr>
          <p:cNvPr id="36" name="number-17">
            <a:extLst>
              <a:ext uri="{FF2B5EF4-FFF2-40B4-BE49-F238E27FC236}">
                <a16:creationId xmlns:a16="http://schemas.microsoft.com/office/drawing/2014/main" id="{C0CC7153-65A3-F1DB-C3A6-FE50089944F6}"/>
              </a:ext>
            </a:extLst>
          </p:cNvPr>
          <p:cNvSpPr>
            <a:spLocks noGrp="1"/>
          </p:cNvSpPr>
          <p:nvPr/>
        </p:nvSpPr>
        <p:spPr>
          <a:xfrm>
            <a:off x="590550" y="7210425"/>
            <a:ext cx="419100" cy="323850"/>
          </a:xfrm>
          <a:prstGeom prst="rect">
            <a:avLst/>
          </a:prstGeom>
          <a:noFill/>
          <a:ln w="0">
            <a:noFill/>
          </a:ln>
        </p:spPr>
        <p:txBody>
          <a:bodyPr wrap="none" lIns="0" tIns="0" rIns="0" bIns="0" anchor="t">
            <a:noAutofit/>
          </a:bodyPr>
          <a:lstStyle/>
          <a:p>
            <a:pPr>
              <a:defRPr sz="1650" b="0">
                <a:solidFill>
                  <a:srgbClr val="8A929B"/>
                </a:solidFill>
                <a:latin typeface="Consolas"/>
                <a:ea typeface="Consolas"/>
                <a:cs typeface="Consolas"/>
              </a:defRPr>
            </a:pPr>
            <a:r>
              <a:rPr sz="1650" b="0">
                <a:solidFill>
                  <a:srgbClr val="8A929B"/>
                </a:solidFill>
                <a:latin typeface="Consolas"/>
                <a:ea typeface="Consolas"/>
                <a:cs typeface="Consolas"/>
              </a:rPr>
              <a:t>17</a:t>
            </a:r>
          </a:p>
        </p:txBody>
      </p:sp>
      <p:sp>
        <p:nvSpPr>
          <p:cNvPr id="37" name="code-17">
            <a:extLst>
              <a:ext uri="{FF2B5EF4-FFF2-40B4-BE49-F238E27FC236}">
                <a16:creationId xmlns:a16="http://schemas.microsoft.com/office/drawing/2014/main" id="{87EEDE62-35B2-FB21-9391-A80026453800}"/>
              </a:ext>
            </a:extLst>
          </p:cNvPr>
          <p:cNvSpPr>
            <a:spLocks noGrp="1"/>
          </p:cNvSpPr>
          <p:nvPr/>
        </p:nvSpPr>
        <p:spPr>
          <a:xfrm>
            <a:off x="1133475" y="5910262"/>
            <a:ext cx="13382625" cy="333375"/>
          </a:xfrm>
          <a:prstGeom prst="rect">
            <a:avLst/>
          </a:prstGeom>
          <a:noFill/>
          <a:ln w="0">
            <a:noFill/>
          </a:ln>
        </p:spPr>
        <p:txBody>
          <a:bodyPr wrap="none" lIns="0" tIns="0" rIns="0" bIns="0" anchor="t">
            <a:noAutofit/>
          </a:bodyPr>
          <a:lstStyle/>
          <a:p>
            <a:pPr>
              <a:defRPr sz="2100" b="1">
                <a:solidFill>
                  <a:srgbClr val="B51B32"/>
                </a:solidFill>
                <a:latin typeface="Consolas"/>
                <a:ea typeface="Consolas"/>
                <a:cs typeface="Consolas"/>
              </a:defRPr>
            </a:pPr>
            <a:r>
              <a:rPr sz="2100" b="1">
                <a:solidFill>
                  <a:srgbClr val="B51B32"/>
                </a:solidFill>
                <a:latin typeface="Consolas"/>
                <a:ea typeface="Consolas"/>
                <a:cs typeface="Consolas"/>
              </a:rPr>
              <a:t>return P</a:t>
            </a:r>
          </a:p>
        </p:txBody>
      </p:sp>
      <p:sp>
        <p:nvSpPr>
          <p:cNvPr id="38" name="footer">
            <a:extLst>
              <a:ext uri="{FF2B5EF4-FFF2-40B4-BE49-F238E27FC236}">
                <a16:creationId xmlns:a16="http://schemas.microsoft.com/office/drawing/2014/main" id="{9BEBE1A1-E47B-7832-50DA-C1383F7A461D}"/>
              </a:ext>
            </a:extLst>
          </p:cNvPr>
          <p:cNvSpPr>
            <a:spLocks noGrp="1"/>
          </p:cNvSpPr>
          <p:nvPr/>
        </p:nvSpPr>
        <p:spPr>
          <a:xfrm>
            <a:off x="571500" y="7848600"/>
            <a:ext cx="14097000" cy="381000"/>
          </a:xfrm>
          <a:prstGeom prst="rect">
            <a:avLst/>
          </a:prstGeom>
          <a:noFill/>
          <a:ln w="0">
            <a:noFill/>
          </a:ln>
        </p:spPr>
        <p:txBody>
          <a:bodyPr wrap="none" lIns="0" tIns="0" rIns="0" bIns="0" anchor="t">
            <a:noAutofit/>
          </a:bodyPr>
          <a:lstStyle/>
          <a:p>
            <a:pPr>
              <a:defRPr sz="1950" b="0">
                <a:solidFill>
                  <a:srgbClr val="5A6470"/>
                </a:solidFill>
                <a:latin typeface="Calibri"/>
                <a:ea typeface="Calibri"/>
                <a:cs typeface="Calibri"/>
              </a:defRPr>
            </a:pPr>
            <a:r>
              <a:rPr sz="1950" b="0">
                <a:solidFill>
                  <a:srgbClr val="5A6470"/>
                </a:solidFill>
                <a:latin typeface="Calibri"/>
                <a:ea typeface="Calibri"/>
                <a:cs typeface="Calibri"/>
              </a:rPr>
              <a:t>Reuse selected nodes first, then prefer higher fixed weights. Materialization is decided separately.</a:t>
            </a:r>
          </a:p>
        </p:txBody>
      </p:sp>
    </p:spTree>
    <p:extLst>
      <p:ext uri="{BB962C8B-B14F-4D97-AF65-F5344CB8AC3E}">
        <p14:creationId xmlns:p14="http://schemas.microsoft.com/office/powerpoint/2010/main" val="327868264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1571</Words>
  <Application>Microsoft Office PowerPoint</Application>
  <DocSecurity>0</DocSecurity>
  <PresentationFormat>自定义</PresentationFormat>
  <Paragraphs>131</Paragraphs>
  <Slides>3</Slides>
  <Notes>3</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vt:i4>
      </vt:variant>
    </vt:vector>
  </HeadingPairs>
  <TitlesOfParts>
    <vt:vector size="7" baseType="lpstr">
      <vt:lpstr>Microsoft YaHei</vt:lpstr>
      <vt:lpstr>Calibri</vt:lpstr>
      <vt:lpstr>Consolas</vt:lpstr>
      <vt:lpstr>ChatGPT</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志强 程</cp:lastModifiedBy>
  <cp:revision>4</cp:revision>
  <dcterms:created xsi:type="dcterms:W3CDTF">2026-09-23T08:10:05Z</dcterms:created>
  <dcterms:modified xsi:type="dcterms:W3CDTF">2026-09-23T08:21:13Z</dcterms:modified>
</cp:coreProperties>
</file>