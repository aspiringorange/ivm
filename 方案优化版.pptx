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96D4-B7EC-70DE-F8D2-DB20DEBB9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8217012-75C6-7CBC-917E-BE989195B755}"/>
              </a:ext>
            </a:extLst>
          </p:cNvPr>
          <p:cNvSpPr txBox="1"/>
          <p:nvPr/>
        </p:nvSpPr>
        <p:spPr>
          <a:xfrm>
            <a:off x="322286" y="643963"/>
            <a:ext cx="5400000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面向</a:t>
            </a:r>
            <a:r>
              <a:rPr lang="zh-CN" altLang="en-US" sz="1000" b="1" dirty="0"/>
              <a:t>多物化视图共享机会难发现、路径枚举开销大、共享维护收益不确定</a:t>
            </a:r>
            <a:r>
              <a:rPr lang="zh-CN" altLang="en-US" sz="1000" dirty="0"/>
              <a:t>等问题，本方案在前期工作 </a:t>
            </a:r>
            <a:r>
              <a:rPr lang="en-US" altLang="zh-CN" sz="1000" dirty="0" err="1"/>
              <a:t>IncreQueryFusion</a:t>
            </a:r>
            <a:r>
              <a:rPr lang="en-US" altLang="zh-CN" sz="1000" dirty="0"/>
              <a:t> [VLDB26] </a:t>
            </a:r>
            <a:r>
              <a:rPr lang="zh-CN" altLang="en-US" sz="1000" dirty="0"/>
              <a:t>的查询依赖组织与增量状态复用思想基础上，构建面向视图组的</a:t>
            </a:r>
            <a:r>
              <a:rPr lang="zh-CN" altLang="en-US" sz="1000" b="1" dirty="0"/>
              <a:t>统一计算图</a:t>
            </a:r>
            <a:r>
              <a:rPr lang="zh-CN" altLang="en-US" sz="1000" dirty="0"/>
              <a:t>。通过增量语义、数据包含与约束改写，按需生成共享节点及候选路径，再按共享权重选择计算子图、按增量代价决定中间物化并生成 </a:t>
            </a:r>
            <a:r>
              <a:rPr lang="en-US" altLang="zh-CN" sz="1000" dirty="0"/>
              <a:t>pipeline</a:t>
            </a:r>
            <a:r>
              <a:rPr lang="zh-CN" altLang="en-US" sz="1000" dirty="0"/>
              <a:t>，实现单视图优化与跨视图共享的协同。</a:t>
            </a:r>
            <a:endParaRPr lang="en-US" altLang="zh-CN" sz="1000" b="1" dirty="0"/>
          </a:p>
          <a:p>
            <a:r>
              <a:rPr lang="zh-CN" altLang="en-US" sz="1100" b="1" dirty="0"/>
              <a:t>一、候选计算图生成</a:t>
            </a:r>
            <a:endParaRPr lang="en-US" altLang="zh-CN" sz="1000" dirty="0"/>
          </a:p>
          <a:p>
            <a:r>
              <a:rPr lang="zh-CN" altLang="en-US" sz="1000" b="1" dirty="0"/>
              <a:t>计算图定义</a:t>
            </a:r>
            <a:r>
              <a:rPr lang="zh-CN" altLang="en-US" sz="1000" dirty="0"/>
              <a:t>：采用有向图，节点表示基表、中间结果及目标视图，边表示连接、过滤、投影、聚合等计算。边以计算标识区分不同生产路径，同一数据节点可通过不同生产路径得到。节点权重为可使用该节点的不同视图数，同一视图只计一次。</a:t>
            </a:r>
            <a:endParaRPr lang="en-US" altLang="zh-CN" sz="1000" dirty="0"/>
          </a:p>
          <a:p>
            <a:endParaRPr lang="en-US" altLang="zh-CN" sz="1000" dirty="0"/>
          </a:p>
          <a:p>
            <a:r>
              <a:rPr lang="zh-CN" altLang="en-US" sz="1000" b="1" dirty="0"/>
              <a:t>迭代建图与关联发现</a:t>
            </a:r>
            <a:r>
              <a:rPr lang="zh-CN" altLang="en-US" sz="1000" dirty="0"/>
              <a:t>。逐个插入视图，从基表建立一条基本计算路径，复用等价节点，暂不枚举路径。对新增节点，从其依赖基表出发，收集具有共同基表依赖的全部节点。</a:t>
            </a:r>
            <a:endParaRPr lang="en-US" altLang="zh-CN" sz="1000" dirty="0"/>
          </a:p>
          <a:p>
            <a:endParaRPr lang="en-US" altLang="zh-CN" sz="1000" dirty="0"/>
          </a:p>
          <a:p>
            <a:r>
              <a:rPr lang="zh-CN" altLang="en-US" sz="1000" b="1" dirty="0"/>
              <a:t>按需扩展</a:t>
            </a:r>
            <a:r>
              <a:rPr lang="zh-CN" altLang="en-US" sz="1000" dirty="0"/>
              <a:t>。对相关节点：①提取或生成公共节点，补充共享路径；②通过过滤、投影、再聚合建立结果恢复路径。两类路径可同时保留。例如，如下图所示，插入 </a:t>
            </a:r>
            <a:r>
              <a:rPr lang="en-US" altLang="zh-CN" sz="1000" dirty="0"/>
              <a:t>join(B,C,D)</a:t>
            </a:r>
            <a:r>
              <a:rPr lang="zh-CN" altLang="en-US" sz="1000" dirty="0"/>
              <a:t>节点</a:t>
            </a:r>
            <a:r>
              <a:rPr lang="en-US" altLang="zh-CN" sz="1000" dirty="0"/>
              <a:t> </a:t>
            </a:r>
            <a:r>
              <a:rPr lang="zh-CN" altLang="en-US" sz="1000" dirty="0"/>
              <a:t>后发现插入 </a:t>
            </a:r>
            <a:r>
              <a:rPr lang="en-US" altLang="zh-CN" sz="1000" dirty="0"/>
              <a:t>join(A,B,C) </a:t>
            </a:r>
            <a:r>
              <a:rPr lang="zh-CN" altLang="en-US" sz="1000" dirty="0"/>
              <a:t>节点，若 </a:t>
            </a:r>
            <a:r>
              <a:rPr lang="en-US" altLang="zh-CN" sz="1000" dirty="0"/>
              <a:t>B</a:t>
            </a:r>
            <a:r>
              <a:rPr lang="zh-CN" altLang="en-US" sz="1000" dirty="0"/>
              <a:t>、</a:t>
            </a:r>
            <a:r>
              <a:rPr lang="en-US" altLang="zh-CN" sz="1000" dirty="0"/>
              <a:t>C </a:t>
            </a:r>
            <a:r>
              <a:rPr lang="zh-CN" altLang="en-US" sz="1000" dirty="0"/>
              <a:t>上的语义兼容，则生成 </a:t>
            </a:r>
            <a:r>
              <a:rPr lang="en-US" altLang="zh-CN" sz="1000" dirty="0"/>
              <a:t>join(B,C)</a:t>
            </a:r>
            <a:r>
              <a:rPr lang="zh-CN" altLang="en-US" sz="1000" dirty="0"/>
              <a:t>，添加 </a:t>
            </a:r>
            <a:r>
              <a:rPr lang="en-US" altLang="zh-CN" sz="1000" dirty="0"/>
              <a:t>`B+C→BC`</a:t>
            </a:r>
            <a:r>
              <a:rPr lang="zh-CN" altLang="en-US" sz="1000" dirty="0"/>
              <a:t>、</a:t>
            </a:r>
            <a:r>
              <a:rPr lang="en-US" altLang="zh-CN" sz="1000" dirty="0"/>
              <a:t>`BC+A→ABC`</a:t>
            </a:r>
            <a:r>
              <a:rPr lang="zh-CN" altLang="en-US" sz="1000" dirty="0"/>
              <a:t>、</a:t>
            </a:r>
            <a:r>
              <a:rPr lang="en-US" altLang="zh-CN" sz="1000" dirty="0"/>
              <a:t>`BC+D→BCD`</a:t>
            </a:r>
            <a:r>
              <a:rPr lang="zh-CN" altLang="en-US" sz="1000" dirty="0"/>
              <a:t>路径，保留原路径并更新权重。新增节点继续检索扩展。</a:t>
            </a:r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b="1" dirty="0"/>
          </a:p>
          <a:p>
            <a:r>
              <a:rPr lang="zh-CN" altLang="en-US" sz="1000" b="1" dirty="0"/>
              <a:t>增量特性融入</a:t>
            </a:r>
            <a:r>
              <a:rPr lang="zh-CN" altLang="en-US" sz="1000" dirty="0"/>
              <a:t>。在初始建图及共享扩展中引入增量特性。</a:t>
            </a:r>
            <a:r>
              <a:rPr lang="en-US" altLang="zh-CN" sz="1000" dirty="0"/>
              <a:t>a)</a:t>
            </a:r>
            <a:r>
              <a:rPr lang="zh-CN" altLang="en-US" sz="1000" dirty="0"/>
              <a:t>增量维护语义，同一算子在全量计算和增量计算中的执行并不相同。例如，</a:t>
            </a:r>
            <a:r>
              <a:rPr lang="en-US" altLang="zh-CN" sz="1000" dirty="0"/>
              <a:t> LEFT JOIN</a:t>
            </a:r>
            <a:r>
              <a:rPr lang="zh-CN" altLang="en-US" sz="1000" dirty="0"/>
              <a:t>在增量场景下被分解为</a:t>
            </a:r>
            <a:r>
              <a:rPr lang="en-US" altLang="zh-CN" sz="1000" dirty="0"/>
              <a:t>INNER JOIN</a:t>
            </a:r>
            <a:r>
              <a:rPr lang="zh-CN" altLang="en-US" sz="1000" dirty="0"/>
              <a:t>和</a:t>
            </a:r>
            <a:r>
              <a:rPr lang="en-US" altLang="zh-CN" sz="1000" dirty="0"/>
              <a:t>ANTI JOIN</a:t>
            </a:r>
            <a:r>
              <a:rPr lang="zh-CN" altLang="en-US" sz="1000" dirty="0"/>
              <a:t>进行分别维护；</a:t>
            </a:r>
            <a:r>
              <a:rPr lang="en-US" altLang="zh-CN" sz="1000" dirty="0"/>
              <a:t> </a:t>
            </a:r>
            <a:r>
              <a:rPr lang="zh-CN" altLang="en-US" sz="1000" dirty="0"/>
              <a:t>聚合函数</a:t>
            </a:r>
            <a:r>
              <a:rPr lang="en-US" altLang="zh-CN" sz="1000" dirty="0"/>
              <a:t>AVG</a:t>
            </a:r>
            <a:r>
              <a:rPr lang="zh-CN" altLang="en-US" sz="1000" dirty="0"/>
              <a:t>需要同时维护</a:t>
            </a:r>
            <a:r>
              <a:rPr lang="en-US" altLang="zh-CN" sz="1000" dirty="0"/>
              <a:t>SUM</a:t>
            </a:r>
            <a:r>
              <a:rPr lang="zh-CN" altLang="en-US" sz="1000" dirty="0"/>
              <a:t>和</a:t>
            </a:r>
            <a:r>
              <a:rPr lang="en-US" altLang="zh-CN" sz="1000" dirty="0"/>
              <a:t>COUNT</a:t>
            </a:r>
            <a:r>
              <a:rPr lang="zh-CN" altLang="en-US" sz="1000" dirty="0"/>
              <a:t>聚合结果等等。</a:t>
            </a:r>
            <a:r>
              <a:rPr lang="en-US" altLang="zh-CN" sz="1000" dirty="0"/>
              <a:t>b)</a:t>
            </a:r>
            <a:r>
              <a:rPr lang="zh-CN" altLang="en-US" sz="1000" dirty="0"/>
              <a:t>数据包含关系 ，利用结果间可准确恢复的关系增加路径，例如从 </a:t>
            </a:r>
            <a:r>
              <a:rPr lang="en-US" altLang="zh-CN" sz="1000" dirty="0"/>
              <a:t>LEFT JOIN </a:t>
            </a:r>
            <a:r>
              <a:rPr lang="zh-CN" altLang="en-US" sz="1000" dirty="0"/>
              <a:t>按可靠匹配标记过滤得到 </a:t>
            </a:r>
            <a:r>
              <a:rPr lang="en-US" altLang="zh-CN" sz="1000" dirty="0"/>
              <a:t>INNER JOIN</a:t>
            </a:r>
            <a:r>
              <a:rPr lang="zh-CN" altLang="en-US" sz="1000" dirty="0"/>
              <a:t>或 </a:t>
            </a:r>
            <a:r>
              <a:rPr lang="en-US" altLang="zh-CN" sz="1000" dirty="0"/>
              <a:t>ANTI JOIN</a:t>
            </a:r>
            <a:r>
              <a:rPr lang="zh-CN" altLang="en-US" sz="1000" dirty="0"/>
              <a:t>；连接聚合场景下的聚合下推等。 </a:t>
            </a:r>
            <a:r>
              <a:rPr lang="en-US" altLang="zh-CN" sz="1000" dirty="0"/>
              <a:t>c)</a:t>
            </a:r>
            <a:r>
              <a:rPr lang="zh-CN" altLang="en-US" sz="1000" dirty="0"/>
              <a:t>约束引导，例如外键依赖支持多表</a:t>
            </a:r>
            <a:r>
              <a:rPr lang="en-US" altLang="zh-CN" sz="1000" dirty="0"/>
              <a:t>JOIN</a:t>
            </a:r>
            <a:r>
              <a:rPr lang="zh-CN" altLang="en-US" sz="1000" dirty="0"/>
              <a:t>间的无损投影；唯一性约束化简</a:t>
            </a:r>
            <a:r>
              <a:rPr lang="en-US" altLang="zh-CN" sz="1000" dirty="0"/>
              <a:t>LEFT JOIN</a:t>
            </a:r>
            <a:r>
              <a:rPr lang="zh-CN" altLang="en-US" sz="1000" dirty="0"/>
              <a:t>计算路径等等。</a:t>
            </a:r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A361390-82AC-3DFB-4C74-53DF668EC7E1}"/>
                  </a:ext>
                </a:extLst>
              </p:cNvPr>
              <p:cNvSpPr txBox="1"/>
              <p:nvPr/>
            </p:nvSpPr>
            <p:spPr>
              <a:xfrm>
                <a:off x="6469714" y="673329"/>
                <a:ext cx="5400000" cy="6140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50" b="1" dirty="0"/>
                  <a:t>二、计算子图选择与</a:t>
                </a:r>
                <a:r>
                  <a:rPr lang="en-US" altLang="zh-CN" sz="1050" b="1" dirty="0"/>
                  <a:t>pipeline</a:t>
                </a:r>
                <a:r>
                  <a:rPr lang="zh-CN" altLang="en-US" sz="1050" b="1" dirty="0"/>
                  <a:t>生成</a:t>
                </a:r>
                <a:endParaRPr lang="en-US" altLang="zh-CN" sz="1050" b="1" dirty="0"/>
              </a:p>
              <a:p>
                <a:r>
                  <a:rPr lang="zh-CN" altLang="en-US" sz="1050" dirty="0"/>
                  <a:t>设 </a:t>
                </a:r>
                <a:r>
                  <a:rPr lang="en-US" altLang="zh-CN" sz="1050" dirty="0"/>
                  <a:t>B </a:t>
                </a:r>
                <a:r>
                  <a:rPr lang="zh-CN" altLang="en-US" sz="1050" dirty="0"/>
                  <a:t>为视图组涉及的基表节点集合，</a:t>
                </a:r>
                <a:r>
                  <a:rPr lang="en-US" altLang="zh-CN" sz="1050" dirty="0"/>
                  <a:t>T </a:t>
                </a:r>
                <a:r>
                  <a:rPr lang="zh-CN" altLang="en-US" sz="1050" dirty="0"/>
                  <a:t>为全部目标物化视图的结果节点集合，终端集合为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5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CN" sz="105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05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10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US" altLang="zh-CN" sz="105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zh-CN" sz="1050" dirty="0"/>
                  <a:t> </a:t>
                </a:r>
                <a:r>
                  <a:rPr lang="zh-CN" altLang="en-US" sz="1050" dirty="0"/>
                  <a:t>。</a:t>
                </a:r>
                <a:endParaRPr lang="en-US" altLang="zh-CN" sz="1050" dirty="0"/>
              </a:p>
              <a:p>
                <a:r>
                  <a:rPr lang="zh-CN" altLang="en-US" sz="1050" dirty="0"/>
                  <a:t>在候选图 </a:t>
                </a:r>
                <a:r>
                  <a:rPr lang="en-US" altLang="zh-CN" sz="1050" dirty="0"/>
                  <a:t>G </a:t>
                </a:r>
                <a:r>
                  <a:rPr lang="zh-CN" altLang="en-US" sz="1050" dirty="0"/>
                  <a:t>中选择计算子图 </a:t>
                </a:r>
                <a:r>
                  <a:rPr lang="en-US" altLang="zh-CN" sz="1050" dirty="0"/>
                  <a:t>P</a:t>
                </a:r>
                <a:r>
                  <a:rPr lang="zh-CN" altLang="en-US" sz="1050" dirty="0"/>
                  <a:t>，使其覆盖 </a:t>
                </a:r>
                <a:r>
                  <a:rPr lang="en-US" altLang="zh-CN" sz="1050" dirty="0"/>
                  <a:t>K </a:t>
                </a:r>
                <a:r>
                  <a:rPr lang="zh-CN" altLang="en-US" sz="1050" dirty="0"/>
                  <a:t>中的全部节点，并保证每个目标视图分别具有完整、连通、无环的计算结构。</a:t>
                </a:r>
                <a:endParaRPr lang="en-US" altLang="zh-CN" sz="1050" dirty="0"/>
              </a:p>
              <a:p>
                <a:endParaRPr lang="en-US" altLang="zh-CN" sz="1050" dirty="0"/>
              </a:p>
              <a:p>
                <a:r>
                  <a:rPr lang="en-US" altLang="zh-CN" sz="1050" b="1" dirty="0"/>
                  <a:t>1</a:t>
                </a:r>
                <a:r>
                  <a:rPr lang="zh-CN" altLang="en-US" sz="1050" b="1" dirty="0"/>
                  <a:t>、共享权重驱动的计算子图选择</a:t>
                </a:r>
                <a:endParaRPr lang="en-US" altLang="zh-CN" sz="1050" b="1" dirty="0"/>
              </a:p>
              <a:p>
                <a:r>
                  <a:rPr lang="zh-CN" altLang="en-US" sz="1050" dirty="0"/>
                  <a:t>贪心优先选择高权重节点，补全其生产路径及通向目标的后续路径，最终覆盖全部基表和目标视图，保证每个视图的计算结构完整连通、执行依赖无环。</a:t>
                </a:r>
                <a:endParaRPr lang="en-US" altLang="zh-CN" sz="1050" dirty="0"/>
              </a:p>
              <a:p>
                <a:r>
                  <a:rPr lang="zh-CN" altLang="en-US" sz="1050" dirty="0"/>
                  <a:t>权重表示共享潜力，选中公共节点不等于物化。</a:t>
                </a:r>
                <a:endParaRPr lang="en-US" altLang="zh-CN" sz="1050" dirty="0"/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endParaRPr lang="en-US" altLang="zh-CN" sz="1050" b="1" dirty="0"/>
              </a:p>
              <a:p>
                <a:r>
                  <a:rPr lang="en-US" altLang="zh-CN" sz="1050" b="1" dirty="0"/>
                  <a:t>2</a:t>
                </a:r>
                <a:r>
                  <a:rPr lang="zh-CN" altLang="en-US" sz="1050" b="1" dirty="0"/>
                  <a:t>、基于增量代价的中间物化选择</a:t>
                </a:r>
                <a:endParaRPr lang="en-US" altLang="zh-CN" sz="1050" b="1" dirty="0"/>
              </a:p>
              <a:p>
                <a:r>
                  <a:rPr lang="zh-CN" altLang="en-US" sz="1050" dirty="0"/>
                  <a:t>在 </a:t>
                </a:r>
                <a:r>
                  <a:rPr lang="en-US" altLang="zh-CN" sz="1050" dirty="0"/>
                  <a:t>P </a:t>
                </a:r>
                <a:r>
                  <a:rPr lang="zh-CN" altLang="en-US" sz="1050" dirty="0"/>
                  <a:t>内比较分别计算与物化共享的成本。设节点 </a:t>
                </a:r>
                <a:r>
                  <a:rPr lang="en-US" altLang="zh-CN" sz="1050" dirty="0"/>
                  <a:t>v </a:t>
                </a:r>
                <a:r>
                  <a:rPr lang="zh-CN" altLang="en-US" sz="1050" dirty="0"/>
                  <a:t>有 </a:t>
                </a:r>
                <a:r>
                  <a:rPr lang="en-US" altLang="zh-CN" sz="1050" dirty="0"/>
                  <a:t>n </a:t>
                </a:r>
                <a:r>
                  <a:rPr lang="zh-CN" altLang="en-US" sz="1050" dirty="0"/>
                  <a:t>个实际消费者，在同一维护窗口内：</a:t>
                </a:r>
                <a:endParaRPr lang="en-US" altLang="zh-CN" sz="1050" dirty="0"/>
              </a:p>
              <a:p>
                <a:r>
                  <a:rPr lang="en-US" altLang="zh-CN" sz="10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05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050" i="1">
                            <a:latin typeface="Cambria Math" panose="02040503050406030204" pitchFamily="18" charset="0"/>
                          </a:rPr>
                          <m:t>compute</m:t>
                        </m:r>
                      </m:sub>
                    </m:sSub>
                    <m:r>
                      <a:rPr lang="en-US" altLang="zh-CN" sz="105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05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sz="10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input</m:t>
                            </m:r>
                          </m:sub>
                        </m:sSub>
                        <m:r>
                          <a:rPr lang="en-US" altLang="zh-CN" sz="105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US" altLang="zh-C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calc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05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altLang="zh-CN" sz="10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05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050" b="0" i="0" smtClean="0">
                            <a:latin typeface="Cambria Math" panose="02040503050406030204" pitchFamily="18" charset="0"/>
                          </a:rPr>
                          <m:t>share</m:t>
                        </m:r>
                      </m:sub>
                    </m:sSub>
                    <m:r>
                      <a:rPr lang="en-US" altLang="zh-CN" sz="105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05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05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input</m:t>
                        </m:r>
                      </m:sub>
                    </m:sSub>
                    <m:r>
                      <a:rPr lang="en-US" altLang="zh-CN" sz="105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altLang="zh-CN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05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05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calc</m:t>
                        </m:r>
                      </m:sub>
                    </m:sSub>
                    <m:r>
                      <a:rPr lang="en-US" altLang="zh-CN" sz="105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05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05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update</m:t>
                        </m:r>
                      </m:sub>
                    </m:sSub>
                    <m:r>
                      <a:rPr lang="en-US" altLang="zh-CN" sz="105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1050" i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105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05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05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read</m:t>
                        </m:r>
                      </m:sub>
                    </m:sSub>
                  </m:oMath>
                </a14:m>
                <a:endParaRPr lang="en-US" altLang="zh-CN" sz="1050" dirty="0"/>
              </a:p>
              <a:p>
                <a:r>
                  <a:rPr lang="zh-CN" altLang="en-US" sz="1050" dirty="0"/>
                  <a:t>其中，</a:t>
                </a:r>
                <a:r>
                  <a:rPr lang="en-US" altLang="zh-CN" sz="105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0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0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input</m:t>
                        </m:r>
                      </m:sub>
                    </m:sSub>
                  </m:oMath>
                </a14:m>
                <a:r>
                  <a:rPr lang="zh-CN" altLang="en-US" sz="1050" dirty="0"/>
                  <a:t>为生成中间增量所需的输入访问成本，含增量日志及基表状态读取；</a:t>
                </a:r>
                <a:r>
                  <a:rPr lang="en-US" altLang="zh-CN" sz="105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0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0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calc</m:t>
                        </m:r>
                      </m:sub>
                    </m:sSub>
                  </m:oMath>
                </a14:m>
                <a:r>
                  <a:rPr lang="zh-CN" altLang="en-US" sz="1050" dirty="0"/>
                  <a:t>为计算成本；</a:t>
                </a:r>
                <a:r>
                  <a:rPr lang="en-US" altLang="zh-CN" sz="105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0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0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update</m:t>
                        </m:r>
                      </m:sub>
                    </m:sSub>
                  </m:oMath>
                </a14:m>
                <a:r>
                  <a:rPr lang="zh-CN" altLang="en-US" sz="1050" dirty="0"/>
                  <a:t>为增量结果物化成本；</a:t>
                </a:r>
                <a:r>
                  <a:rPr lang="en-US" altLang="zh-CN" sz="105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0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0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read</m:t>
                        </m:r>
                      </m:sub>
                    </m:sSub>
                  </m:oMath>
                </a14:m>
                <a:r>
                  <a:rPr lang="zh-CN" altLang="en-US" sz="1050" dirty="0"/>
                  <a:t>为消费者读取所需增量或状态的成本。</a:t>
                </a:r>
                <a:endParaRPr lang="en-US" altLang="zh-CN" sz="1050" b="1" dirty="0"/>
              </a:p>
              <a:p>
                <a:r>
                  <a:rPr lang="zh-CN" altLang="en-US" sz="1050" b="1" dirty="0"/>
                  <a:t>代价获取</a:t>
                </a:r>
                <a:r>
                  <a:rPr lang="zh-CN" altLang="en-US" sz="1050" dirty="0"/>
                  <a:t>。复用数据库内部代价模型，对独立计算与共享维护两种执行方案进行估价。针对未来增量规模和分布未知的问题，按照预设增量比例对基表采样。</a:t>
                </a:r>
                <a:endParaRPr lang="en-US" altLang="zh-CN" sz="1050" dirty="0"/>
              </a:p>
              <a:p>
                <a:endParaRPr lang="en-US" altLang="zh-CN" sz="1050" dirty="0"/>
              </a:p>
              <a:p>
                <a:r>
                  <a:rPr lang="zh-CN" altLang="en-US" sz="1050" dirty="0"/>
                  <a:t>逐步采用具有正收益的物化候选，并更新相关成本。允许不共享任何中间物化结果，目标视图及必要维护状态仍保留。例如，</a:t>
                </a:r>
                <a:r>
                  <a:rPr lang="en-US" altLang="zh-CN" sz="1050" dirty="0"/>
                  <a:t> join(B,C) </a:t>
                </a:r>
                <a:r>
                  <a:rPr lang="zh-CN" altLang="en-US" sz="1050" dirty="0"/>
                  <a:t>统一维护和读取更便宜时才物化，否则由 </a:t>
                </a:r>
                <a:r>
                  <a:rPr lang="en-US" altLang="zh-CN" sz="1050" dirty="0"/>
                  <a:t>join(A,B,C) </a:t>
                </a:r>
                <a:r>
                  <a:rPr lang="zh-CN" altLang="en-US" sz="1050" dirty="0"/>
                  <a:t>、</a:t>
                </a:r>
                <a:r>
                  <a:rPr lang="en-US" altLang="zh-CN" sz="1050" dirty="0"/>
                  <a:t> join(B,C,D) </a:t>
                </a:r>
                <a:r>
                  <a:rPr lang="zh-CN" altLang="en-US" sz="1050" dirty="0"/>
                  <a:t>分别计算。</a:t>
                </a:r>
                <a:endParaRPr lang="en-US" altLang="zh-CN" sz="1050" dirty="0"/>
              </a:p>
              <a:p>
                <a:endParaRPr lang="en-US" altLang="zh-CN" sz="1050" dirty="0"/>
              </a:p>
              <a:p>
                <a:r>
                  <a:rPr lang="zh-CN" altLang="en-US" sz="1050" dirty="0"/>
                  <a:t>综上，</a:t>
                </a:r>
                <a:r>
                  <a:rPr lang="zh-CN" altLang="en-US" sz="105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子图确定公共计算，代价决定是否物化复用</a:t>
                </a:r>
                <a:r>
                  <a:rPr lang="zh-CN" altLang="en-US" sz="1050" dirty="0"/>
                  <a:t>。</a:t>
                </a:r>
                <a:endParaRPr lang="en-US" altLang="zh-CN" sz="105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A361390-82AC-3DFB-4C74-53DF668EC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714" y="673329"/>
                <a:ext cx="5400000" cy="6140207"/>
              </a:xfrm>
              <a:prstGeom prst="rect">
                <a:avLst/>
              </a:prstGeom>
              <a:blipFill>
                <a:blip r:embed="rId2"/>
                <a:stretch>
                  <a:fillRect r="-16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7324F7B8-D656-75DF-EFEF-76D14FC95B59}"/>
              </a:ext>
            </a:extLst>
          </p:cNvPr>
          <p:cNvSpPr txBox="1"/>
          <p:nvPr/>
        </p:nvSpPr>
        <p:spPr>
          <a:xfrm>
            <a:off x="2971798" y="102204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基于统一计算图与增量代价的物化视图协同维护方案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33A8575-6D48-8332-A977-624690E78B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26" y="3301822"/>
            <a:ext cx="4189544" cy="134854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8EDD060-E3CB-8645-AB20-51FF58D5B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900" y="2354262"/>
            <a:ext cx="4628640" cy="202723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A29612E-98B9-B7E1-ECA8-AAD628CE64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03" y="5583311"/>
            <a:ext cx="4264389" cy="130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7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1E7AEAF0-4D86-71E2-B652-491975D0F3B2}"/>
              </a:ext>
            </a:extLst>
          </p:cNvPr>
          <p:cNvSpPr/>
          <p:nvPr/>
        </p:nvSpPr>
        <p:spPr>
          <a:xfrm>
            <a:off x="445615" y="363834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259DCEF-9392-F895-A2E1-F69848186C46}"/>
              </a:ext>
            </a:extLst>
          </p:cNvPr>
          <p:cNvSpPr/>
          <p:nvPr/>
        </p:nvSpPr>
        <p:spPr>
          <a:xfrm>
            <a:off x="445616" y="1051630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3762296-E326-44D2-CC47-FC18A44C48CE}"/>
              </a:ext>
            </a:extLst>
          </p:cNvPr>
          <p:cNvSpPr/>
          <p:nvPr/>
        </p:nvSpPr>
        <p:spPr>
          <a:xfrm>
            <a:off x="445616" y="1739426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C83147-C3B4-2EF9-6BD6-93114B5D9B54}"/>
              </a:ext>
            </a:extLst>
          </p:cNvPr>
          <p:cNvSpPr/>
          <p:nvPr/>
        </p:nvSpPr>
        <p:spPr>
          <a:xfrm>
            <a:off x="2238658" y="930900"/>
            <a:ext cx="1474928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Join(A,B,C)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38D1715-B270-1C5D-CE0A-5386E567409A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1272233" y="1146698"/>
            <a:ext cx="966425" cy="120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13D6314A-53E8-190B-8032-1E742DE37613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1272232" y="579632"/>
            <a:ext cx="966426" cy="567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F79C971-0AB4-6026-A0D1-FB0F5D9DB2B2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1272233" y="1146698"/>
            <a:ext cx="966425" cy="808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795F5934-7E25-0CB0-A932-9CDB49D438ED}"/>
              </a:ext>
            </a:extLst>
          </p:cNvPr>
          <p:cNvSpPr/>
          <p:nvPr/>
        </p:nvSpPr>
        <p:spPr>
          <a:xfrm>
            <a:off x="445615" y="2427222"/>
            <a:ext cx="826617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418A15FB-093C-221A-D569-EFA84B8F63AA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>
            <a:off x="1272233" y="1955224"/>
            <a:ext cx="954169" cy="29310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A7AB6FD3-4A45-2E61-2D6F-10166A347387}"/>
              </a:ext>
            </a:extLst>
          </p:cNvPr>
          <p:cNvCxnSpPr>
            <a:cxnSpLocks/>
            <a:stCxn id="58" idx="3"/>
            <a:endCxn id="66" idx="1"/>
          </p:cNvCxnSpPr>
          <p:nvPr/>
        </p:nvCxnSpPr>
        <p:spPr>
          <a:xfrm flipV="1">
            <a:off x="1272232" y="2248327"/>
            <a:ext cx="954170" cy="39469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17A6F5C6-8EB0-966B-2CE6-081A64D74918}"/>
              </a:ext>
            </a:extLst>
          </p:cNvPr>
          <p:cNvSpPr/>
          <p:nvPr/>
        </p:nvSpPr>
        <p:spPr>
          <a:xfrm>
            <a:off x="2226402" y="2032529"/>
            <a:ext cx="1474927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Join(B,C,D)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D0BD2A40-F284-811C-0364-2E5D0C089B24}"/>
              </a:ext>
            </a:extLst>
          </p:cNvPr>
          <p:cNvCxnSpPr>
            <a:cxnSpLocks/>
            <a:stCxn id="7" idx="3"/>
            <a:endCxn id="66" idx="1"/>
          </p:cNvCxnSpPr>
          <p:nvPr/>
        </p:nvCxnSpPr>
        <p:spPr>
          <a:xfrm>
            <a:off x="1272233" y="1267428"/>
            <a:ext cx="954169" cy="980899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D5FFC09B-DAD2-9C45-FD60-E124ACE07582}"/>
              </a:ext>
            </a:extLst>
          </p:cNvPr>
          <p:cNvSpPr/>
          <p:nvPr/>
        </p:nvSpPr>
        <p:spPr>
          <a:xfrm>
            <a:off x="5398615" y="508000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E68D4469-9376-FB2A-66B7-05C510B952BA}"/>
              </a:ext>
            </a:extLst>
          </p:cNvPr>
          <p:cNvSpPr/>
          <p:nvPr/>
        </p:nvSpPr>
        <p:spPr>
          <a:xfrm>
            <a:off x="5398615" y="1148989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60A2447D-E458-501A-268A-D5C503EB7454}"/>
              </a:ext>
            </a:extLst>
          </p:cNvPr>
          <p:cNvSpPr/>
          <p:nvPr/>
        </p:nvSpPr>
        <p:spPr>
          <a:xfrm>
            <a:off x="5398613" y="1789978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525DB2FE-8C0A-23A5-8BEF-44B7B6670FD5}"/>
              </a:ext>
            </a:extLst>
          </p:cNvPr>
          <p:cNvSpPr/>
          <p:nvPr/>
        </p:nvSpPr>
        <p:spPr>
          <a:xfrm>
            <a:off x="6664138" y="1518586"/>
            <a:ext cx="1252728" cy="4315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Join(B,C)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01DF647E-6B53-A1EE-488F-E9DB25CE96AF}"/>
              </a:ext>
            </a:extLst>
          </p:cNvPr>
          <p:cNvSpPr/>
          <p:nvPr/>
        </p:nvSpPr>
        <p:spPr>
          <a:xfrm>
            <a:off x="8543229" y="923983"/>
            <a:ext cx="1474928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Join(A,B,C)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418CF8EE-F346-E6FF-3FA1-C97A5CB625E2}"/>
              </a:ext>
            </a:extLst>
          </p:cNvPr>
          <p:cNvCxnSpPr>
            <a:cxnSpLocks/>
            <a:stCxn id="145" idx="3"/>
            <a:endCxn id="150" idx="1"/>
          </p:cNvCxnSpPr>
          <p:nvPr/>
        </p:nvCxnSpPr>
        <p:spPr>
          <a:xfrm>
            <a:off x="6225232" y="723798"/>
            <a:ext cx="2317997" cy="415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4CE21FCE-AB4C-0B4F-F35A-A3ABDD30CE75}"/>
              </a:ext>
            </a:extLst>
          </p:cNvPr>
          <p:cNvCxnSpPr>
            <a:cxnSpLocks/>
            <a:stCxn id="146" idx="3"/>
            <a:endCxn id="149" idx="1"/>
          </p:cNvCxnSpPr>
          <p:nvPr/>
        </p:nvCxnSpPr>
        <p:spPr>
          <a:xfrm>
            <a:off x="6225232" y="1364787"/>
            <a:ext cx="438906" cy="36959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60011397-68C1-AEC5-ACA8-AB9F2D1CC166}"/>
              </a:ext>
            </a:extLst>
          </p:cNvPr>
          <p:cNvCxnSpPr>
            <a:cxnSpLocks/>
            <a:stCxn id="146" idx="3"/>
            <a:endCxn id="150" idx="1"/>
          </p:cNvCxnSpPr>
          <p:nvPr/>
        </p:nvCxnSpPr>
        <p:spPr>
          <a:xfrm flipV="1">
            <a:off x="6225232" y="1139781"/>
            <a:ext cx="2317997" cy="225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6B85135-592F-DB92-7276-629439FFD25B}"/>
              </a:ext>
            </a:extLst>
          </p:cNvPr>
          <p:cNvCxnSpPr>
            <a:cxnSpLocks/>
            <a:stCxn id="147" idx="3"/>
            <a:endCxn id="149" idx="1"/>
          </p:cNvCxnSpPr>
          <p:nvPr/>
        </p:nvCxnSpPr>
        <p:spPr>
          <a:xfrm flipV="1">
            <a:off x="6225230" y="1734384"/>
            <a:ext cx="438908" cy="27139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A011AA7F-DAFB-B911-4ECD-249832C9C375}"/>
              </a:ext>
            </a:extLst>
          </p:cNvPr>
          <p:cNvSpPr/>
          <p:nvPr/>
        </p:nvSpPr>
        <p:spPr>
          <a:xfrm>
            <a:off x="5398613" y="2430968"/>
            <a:ext cx="826617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3944193B-7B2D-C354-552C-070021CF2C02}"/>
              </a:ext>
            </a:extLst>
          </p:cNvPr>
          <p:cNvCxnSpPr>
            <a:cxnSpLocks/>
            <a:stCxn id="147" idx="3"/>
            <a:endCxn id="163" idx="1"/>
          </p:cNvCxnSpPr>
          <p:nvPr/>
        </p:nvCxnSpPr>
        <p:spPr>
          <a:xfrm>
            <a:off x="6225230" y="2005776"/>
            <a:ext cx="2318000" cy="24255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919A91F4-65D9-9C6B-9213-2D23F3FB602C}"/>
              </a:ext>
            </a:extLst>
          </p:cNvPr>
          <p:cNvCxnSpPr>
            <a:cxnSpLocks/>
            <a:stCxn id="159" idx="3"/>
            <a:endCxn id="163" idx="1"/>
          </p:cNvCxnSpPr>
          <p:nvPr/>
        </p:nvCxnSpPr>
        <p:spPr>
          <a:xfrm flipV="1">
            <a:off x="6225230" y="2248327"/>
            <a:ext cx="2318000" cy="398439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A0DF0052-F804-9D36-7F87-8D33F8D6A4DC}"/>
              </a:ext>
            </a:extLst>
          </p:cNvPr>
          <p:cNvSpPr/>
          <p:nvPr/>
        </p:nvSpPr>
        <p:spPr>
          <a:xfrm>
            <a:off x="8543230" y="2032529"/>
            <a:ext cx="1474927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Join(B,C,D)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BB348428-67BC-3C5C-AE2B-C4A144A89F9B}"/>
              </a:ext>
            </a:extLst>
          </p:cNvPr>
          <p:cNvCxnSpPr>
            <a:cxnSpLocks/>
            <a:stCxn id="147" idx="3"/>
            <a:endCxn id="150" idx="1"/>
          </p:cNvCxnSpPr>
          <p:nvPr/>
        </p:nvCxnSpPr>
        <p:spPr>
          <a:xfrm flipV="1">
            <a:off x="6225230" y="1139781"/>
            <a:ext cx="2317999" cy="865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261147E2-7A85-3F58-32CC-9A563B405701}"/>
              </a:ext>
            </a:extLst>
          </p:cNvPr>
          <p:cNvCxnSpPr>
            <a:cxnSpLocks/>
            <a:stCxn id="149" idx="3"/>
            <a:endCxn id="150" idx="1"/>
          </p:cNvCxnSpPr>
          <p:nvPr/>
        </p:nvCxnSpPr>
        <p:spPr>
          <a:xfrm flipV="1">
            <a:off x="7916866" y="1139781"/>
            <a:ext cx="626363" cy="5946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4" name="弧形 203">
            <a:extLst>
              <a:ext uri="{FF2B5EF4-FFF2-40B4-BE49-F238E27FC236}">
                <a16:creationId xmlns:a16="http://schemas.microsoft.com/office/drawing/2014/main" id="{45CD29E4-45B4-C42F-2219-494387D4335A}"/>
              </a:ext>
            </a:extLst>
          </p:cNvPr>
          <p:cNvSpPr/>
          <p:nvPr/>
        </p:nvSpPr>
        <p:spPr>
          <a:xfrm>
            <a:off x="3225574" y="714589"/>
            <a:ext cx="5626654" cy="1176058"/>
          </a:xfrm>
          <a:prstGeom prst="arc">
            <a:avLst>
              <a:gd name="adj1" fmla="val 17180877"/>
              <a:gd name="adj2" fmla="val 21252519"/>
            </a:avLst>
          </a:prstGeom>
          <a:ln w="254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9122AC29-0439-D569-6E76-98842CB36CCB}"/>
              </a:ext>
            </a:extLst>
          </p:cNvPr>
          <p:cNvCxnSpPr>
            <a:cxnSpLocks/>
            <a:stCxn id="149" idx="3"/>
            <a:endCxn id="163" idx="1"/>
          </p:cNvCxnSpPr>
          <p:nvPr/>
        </p:nvCxnSpPr>
        <p:spPr>
          <a:xfrm>
            <a:off x="7916866" y="1734384"/>
            <a:ext cx="626364" cy="51394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DBC21AE5-4862-E25A-70AF-605F7D3EBE86}"/>
              </a:ext>
            </a:extLst>
          </p:cNvPr>
          <p:cNvCxnSpPr>
            <a:cxnSpLocks/>
            <a:stCxn id="146" idx="3"/>
            <a:endCxn id="163" idx="1"/>
          </p:cNvCxnSpPr>
          <p:nvPr/>
        </p:nvCxnSpPr>
        <p:spPr>
          <a:xfrm>
            <a:off x="6225232" y="1364787"/>
            <a:ext cx="2317998" cy="88354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弧形 218">
            <a:extLst>
              <a:ext uri="{FF2B5EF4-FFF2-40B4-BE49-F238E27FC236}">
                <a16:creationId xmlns:a16="http://schemas.microsoft.com/office/drawing/2014/main" id="{8646CB8C-8619-CEBB-1ADD-8176EE46506C}"/>
              </a:ext>
            </a:extLst>
          </p:cNvPr>
          <p:cNvSpPr/>
          <p:nvPr/>
        </p:nvSpPr>
        <p:spPr>
          <a:xfrm flipV="1">
            <a:off x="3225428" y="1467511"/>
            <a:ext cx="5626800" cy="1177200"/>
          </a:xfrm>
          <a:prstGeom prst="arc">
            <a:avLst>
              <a:gd name="adj1" fmla="val 17180877"/>
              <a:gd name="adj2" fmla="val 21252519"/>
            </a:avLst>
          </a:prstGeom>
          <a:ln w="254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0" name="箭头: 右 249">
            <a:extLst>
              <a:ext uri="{FF2B5EF4-FFF2-40B4-BE49-F238E27FC236}">
                <a16:creationId xmlns:a16="http://schemas.microsoft.com/office/drawing/2014/main" id="{953405F4-01AE-566D-FCCD-7BA1ED2EA18D}"/>
              </a:ext>
            </a:extLst>
          </p:cNvPr>
          <p:cNvSpPr/>
          <p:nvPr/>
        </p:nvSpPr>
        <p:spPr>
          <a:xfrm>
            <a:off x="4010375" y="1286900"/>
            <a:ext cx="1075056" cy="741261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</a:rPr>
              <a:t>按需拓展</a:t>
            </a:r>
            <a:endParaRPr lang="en-US" altLang="zh-CN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</a:rPr>
              <a:t>共享节点</a:t>
            </a: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F4F355C1-AC3A-D2D9-4314-0611518DB99E}"/>
              </a:ext>
            </a:extLst>
          </p:cNvPr>
          <p:cNvSpPr txBox="1"/>
          <p:nvPr/>
        </p:nvSpPr>
        <p:spPr>
          <a:xfrm>
            <a:off x="1879339" y="2987960"/>
            <a:ext cx="6547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计算图迭代插入与按需拓展共享节点，数字代表该节点权重</a:t>
            </a:r>
          </a:p>
        </p:txBody>
      </p:sp>
    </p:spTree>
    <p:extLst>
      <p:ext uri="{BB962C8B-B14F-4D97-AF65-F5344CB8AC3E}">
        <p14:creationId xmlns:p14="http://schemas.microsoft.com/office/powerpoint/2010/main" val="398333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文本框 275">
            <a:extLst>
              <a:ext uri="{FF2B5EF4-FFF2-40B4-BE49-F238E27FC236}">
                <a16:creationId xmlns:a16="http://schemas.microsoft.com/office/drawing/2014/main" id="{EF3AA0CF-D36A-3576-1E9E-4439DC005450}"/>
              </a:ext>
            </a:extLst>
          </p:cNvPr>
          <p:cNvSpPr txBox="1"/>
          <p:nvPr/>
        </p:nvSpPr>
        <p:spPr>
          <a:xfrm>
            <a:off x="7183878" y="2541027"/>
            <a:ext cx="1331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foreign key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C3354AA-019F-ED74-26E2-F935558AD156}"/>
              </a:ext>
            </a:extLst>
          </p:cNvPr>
          <p:cNvSpPr/>
          <p:nvPr/>
        </p:nvSpPr>
        <p:spPr>
          <a:xfrm>
            <a:off x="207236" y="571142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DAF6F76-B247-7CA1-D4AC-92B33797C0FF}"/>
              </a:ext>
            </a:extLst>
          </p:cNvPr>
          <p:cNvSpPr/>
          <p:nvPr/>
        </p:nvSpPr>
        <p:spPr>
          <a:xfrm>
            <a:off x="1553684" y="571142"/>
            <a:ext cx="1252728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AVG(A)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5FDA5F8-7C7C-6C19-84AF-08C379A0E145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1033853" y="786940"/>
            <a:ext cx="519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6609E98-D4F7-9533-3176-34BB3913B57D}"/>
              </a:ext>
            </a:extLst>
          </p:cNvPr>
          <p:cNvSpPr/>
          <p:nvPr/>
        </p:nvSpPr>
        <p:spPr>
          <a:xfrm>
            <a:off x="1553684" y="1135175"/>
            <a:ext cx="1252728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SUM(A)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EF230C4-EC38-A7E2-7F78-79FB9D4091E1}"/>
              </a:ext>
            </a:extLst>
          </p:cNvPr>
          <p:cNvCxnSpPr>
            <a:cxnSpLocks/>
            <a:stCxn id="27" idx="3"/>
            <a:endCxn id="37" idx="1"/>
          </p:cNvCxnSpPr>
          <p:nvPr/>
        </p:nvCxnSpPr>
        <p:spPr>
          <a:xfrm>
            <a:off x="1033853" y="786940"/>
            <a:ext cx="519831" cy="56403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47A246E1-EAE0-3E45-85E3-534D3BB87A40}"/>
              </a:ext>
            </a:extLst>
          </p:cNvPr>
          <p:cNvSpPr/>
          <p:nvPr/>
        </p:nvSpPr>
        <p:spPr>
          <a:xfrm>
            <a:off x="207236" y="2056601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8CFE20D2-0B8A-B294-D28B-EC6D42DB6B54}"/>
              </a:ext>
            </a:extLst>
          </p:cNvPr>
          <p:cNvSpPr/>
          <p:nvPr/>
        </p:nvSpPr>
        <p:spPr>
          <a:xfrm>
            <a:off x="1553684" y="2056601"/>
            <a:ext cx="1252728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AVG(A)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FAB61B6-4029-1EC0-7372-DE367B648F64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1033853" y="2272399"/>
            <a:ext cx="519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F84988A7-48AC-15F5-0C71-993E4C941AAC}"/>
              </a:ext>
            </a:extLst>
          </p:cNvPr>
          <p:cNvSpPr/>
          <p:nvPr/>
        </p:nvSpPr>
        <p:spPr>
          <a:xfrm>
            <a:off x="1553684" y="2910348"/>
            <a:ext cx="1252728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SUM(A)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3AB2164-86F7-56CC-E4F5-1C2C5B87608F}"/>
              </a:ext>
            </a:extLst>
          </p:cNvPr>
          <p:cNvSpPr txBox="1"/>
          <p:nvPr/>
        </p:nvSpPr>
        <p:spPr>
          <a:xfrm>
            <a:off x="1435873" y="2534378"/>
            <a:ext cx="850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project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053D0756-5293-6DC2-F258-E48BB5BDC548}"/>
              </a:ext>
            </a:extLst>
          </p:cNvPr>
          <p:cNvCxnSpPr>
            <a:cxnSpLocks/>
            <a:stCxn id="42" idx="3"/>
            <a:endCxn id="45" idx="1"/>
          </p:cNvCxnSpPr>
          <p:nvPr/>
        </p:nvCxnSpPr>
        <p:spPr>
          <a:xfrm>
            <a:off x="1033853" y="2272399"/>
            <a:ext cx="519831" cy="853747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F17F8D26-D9D7-D94A-426E-23ECB6AD6C3A}"/>
              </a:ext>
            </a:extLst>
          </p:cNvPr>
          <p:cNvSpPr txBox="1"/>
          <p:nvPr/>
        </p:nvSpPr>
        <p:spPr>
          <a:xfrm>
            <a:off x="2268158" y="2534378"/>
            <a:ext cx="850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division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9B3B882C-3C45-4E7C-2D14-61BCC0CED45E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>
            <a:off x="2180048" y="2488197"/>
            <a:ext cx="0" cy="422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7CFFCA72-8CCB-E1E8-3228-9DC8BA601EFF}"/>
              </a:ext>
            </a:extLst>
          </p:cNvPr>
          <p:cNvCxnSpPr>
            <a:cxnSpLocks/>
            <a:stCxn id="45" idx="3"/>
            <a:endCxn id="43" idx="3"/>
          </p:cNvCxnSpPr>
          <p:nvPr/>
        </p:nvCxnSpPr>
        <p:spPr>
          <a:xfrm flipV="1">
            <a:off x="2806412" y="2272399"/>
            <a:ext cx="12700" cy="853747"/>
          </a:xfrm>
          <a:prstGeom prst="bentConnector3">
            <a:avLst>
              <a:gd name="adj1" fmla="val 1800000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8CA95399-9641-7EF2-6087-131B9FDC0D87}"/>
              </a:ext>
            </a:extLst>
          </p:cNvPr>
          <p:cNvSpPr/>
          <p:nvPr/>
        </p:nvSpPr>
        <p:spPr>
          <a:xfrm>
            <a:off x="3450556" y="571142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10D58040-DA35-18D0-06A9-606EEEB04331}"/>
              </a:ext>
            </a:extLst>
          </p:cNvPr>
          <p:cNvSpPr/>
          <p:nvPr/>
        </p:nvSpPr>
        <p:spPr>
          <a:xfrm>
            <a:off x="3450556" y="1135175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C2F28CE3-3429-B0FB-F891-0E2659491886}"/>
              </a:ext>
            </a:extLst>
          </p:cNvPr>
          <p:cNvSpPr/>
          <p:nvPr/>
        </p:nvSpPr>
        <p:spPr>
          <a:xfrm>
            <a:off x="5112660" y="571142"/>
            <a:ext cx="1794690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Left Join(A,B)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4DC6D13C-A6FF-8549-F7DF-DE6219925D10}"/>
              </a:ext>
            </a:extLst>
          </p:cNvPr>
          <p:cNvCxnSpPr>
            <a:cxnSpLocks/>
            <a:stCxn id="99" idx="3"/>
            <a:endCxn id="101" idx="1"/>
          </p:cNvCxnSpPr>
          <p:nvPr/>
        </p:nvCxnSpPr>
        <p:spPr>
          <a:xfrm>
            <a:off x="4277173" y="786940"/>
            <a:ext cx="8354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22C5B90-54CF-6882-5C5B-22A1BBF7266A}"/>
              </a:ext>
            </a:extLst>
          </p:cNvPr>
          <p:cNvCxnSpPr>
            <a:cxnSpLocks/>
            <a:stCxn id="100" idx="3"/>
            <a:endCxn id="101" idx="1"/>
          </p:cNvCxnSpPr>
          <p:nvPr/>
        </p:nvCxnSpPr>
        <p:spPr>
          <a:xfrm flipV="1">
            <a:off x="4277173" y="786940"/>
            <a:ext cx="835487" cy="56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30FBC585-CC01-0C77-9AF4-03CA04FFA68F}"/>
              </a:ext>
            </a:extLst>
          </p:cNvPr>
          <p:cNvCxnSpPr>
            <a:cxnSpLocks/>
            <a:stCxn id="100" idx="3"/>
            <a:endCxn id="126" idx="1"/>
          </p:cNvCxnSpPr>
          <p:nvPr/>
        </p:nvCxnSpPr>
        <p:spPr>
          <a:xfrm>
            <a:off x="4277173" y="1350973"/>
            <a:ext cx="835487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2E2AA728-3E67-D26D-42CC-2988B88AA3F8}"/>
              </a:ext>
            </a:extLst>
          </p:cNvPr>
          <p:cNvSpPr/>
          <p:nvPr/>
        </p:nvSpPr>
        <p:spPr>
          <a:xfrm>
            <a:off x="5112660" y="1135175"/>
            <a:ext cx="1794691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Inner Join(A,B)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5C430EAB-5CF6-BB01-9912-542627E95EBE}"/>
              </a:ext>
            </a:extLst>
          </p:cNvPr>
          <p:cNvCxnSpPr>
            <a:cxnSpLocks/>
            <a:stCxn id="99" idx="3"/>
            <a:endCxn id="126" idx="1"/>
          </p:cNvCxnSpPr>
          <p:nvPr/>
        </p:nvCxnSpPr>
        <p:spPr>
          <a:xfrm>
            <a:off x="4277173" y="786940"/>
            <a:ext cx="835487" cy="56403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3DB0DD85-4947-C315-9AAC-2C93972CA0AE}"/>
              </a:ext>
            </a:extLst>
          </p:cNvPr>
          <p:cNvSpPr/>
          <p:nvPr/>
        </p:nvSpPr>
        <p:spPr>
          <a:xfrm>
            <a:off x="3450556" y="2056601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61350CB3-4F5A-2972-AD0B-D2B687AB4937}"/>
              </a:ext>
            </a:extLst>
          </p:cNvPr>
          <p:cNvSpPr/>
          <p:nvPr/>
        </p:nvSpPr>
        <p:spPr>
          <a:xfrm>
            <a:off x="3450556" y="2910348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79CE2B56-F382-F017-DB76-9EF40940F268}"/>
              </a:ext>
            </a:extLst>
          </p:cNvPr>
          <p:cNvSpPr/>
          <p:nvPr/>
        </p:nvSpPr>
        <p:spPr>
          <a:xfrm>
            <a:off x="5112660" y="2056601"/>
            <a:ext cx="1794690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Left Join(A,B)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CA323EC1-F850-B0F3-78BC-F65F0BBC4647}"/>
              </a:ext>
            </a:extLst>
          </p:cNvPr>
          <p:cNvCxnSpPr>
            <a:cxnSpLocks/>
            <a:stCxn id="153" idx="3"/>
            <a:endCxn id="155" idx="1"/>
          </p:cNvCxnSpPr>
          <p:nvPr/>
        </p:nvCxnSpPr>
        <p:spPr>
          <a:xfrm>
            <a:off x="4277173" y="2272399"/>
            <a:ext cx="8354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6F88376F-8BBF-9445-1AA4-BF0D32AD2E1D}"/>
              </a:ext>
            </a:extLst>
          </p:cNvPr>
          <p:cNvCxnSpPr>
            <a:cxnSpLocks/>
            <a:stCxn id="154" idx="3"/>
            <a:endCxn id="155" idx="1"/>
          </p:cNvCxnSpPr>
          <p:nvPr/>
        </p:nvCxnSpPr>
        <p:spPr>
          <a:xfrm flipV="1">
            <a:off x="4277173" y="2272399"/>
            <a:ext cx="835487" cy="853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FF912BFE-3649-5BBB-A18C-6B567DC6D10D}"/>
              </a:ext>
            </a:extLst>
          </p:cNvPr>
          <p:cNvCxnSpPr>
            <a:cxnSpLocks/>
            <a:stCxn id="154" idx="3"/>
            <a:endCxn id="159" idx="1"/>
          </p:cNvCxnSpPr>
          <p:nvPr/>
        </p:nvCxnSpPr>
        <p:spPr>
          <a:xfrm>
            <a:off x="4277173" y="3126146"/>
            <a:ext cx="835487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FD803D6B-ABD0-6467-0341-0E62BE7FB43B}"/>
              </a:ext>
            </a:extLst>
          </p:cNvPr>
          <p:cNvSpPr/>
          <p:nvPr/>
        </p:nvSpPr>
        <p:spPr>
          <a:xfrm>
            <a:off x="5112660" y="2910348"/>
            <a:ext cx="1794691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Inner Join(A,B)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693AABA2-9C73-A2E9-F50A-D03E31C72F36}"/>
              </a:ext>
            </a:extLst>
          </p:cNvPr>
          <p:cNvCxnSpPr>
            <a:cxnSpLocks/>
            <a:stCxn id="153" idx="3"/>
            <a:endCxn id="159" idx="1"/>
          </p:cNvCxnSpPr>
          <p:nvPr/>
        </p:nvCxnSpPr>
        <p:spPr>
          <a:xfrm>
            <a:off x="4277173" y="2272399"/>
            <a:ext cx="835487" cy="853747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D378756F-71B4-B54A-9805-824BFB4A8B31}"/>
              </a:ext>
            </a:extLst>
          </p:cNvPr>
          <p:cNvCxnSpPr>
            <a:cxnSpLocks/>
            <a:stCxn id="155" idx="2"/>
            <a:endCxn id="159" idx="0"/>
          </p:cNvCxnSpPr>
          <p:nvPr/>
        </p:nvCxnSpPr>
        <p:spPr>
          <a:xfrm>
            <a:off x="6010005" y="2488197"/>
            <a:ext cx="1" cy="422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4" name="文本框 163">
            <a:extLst>
              <a:ext uri="{FF2B5EF4-FFF2-40B4-BE49-F238E27FC236}">
                <a16:creationId xmlns:a16="http://schemas.microsoft.com/office/drawing/2014/main" id="{613BF3FC-D7DE-2C53-D015-82DCAE07A81A}"/>
              </a:ext>
            </a:extLst>
          </p:cNvPr>
          <p:cNvSpPr txBox="1"/>
          <p:nvPr/>
        </p:nvSpPr>
        <p:spPr>
          <a:xfrm>
            <a:off x="5481731" y="2533645"/>
            <a:ext cx="850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filter</a:t>
            </a:r>
          </a:p>
        </p:txBody>
      </p: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5A8190CB-402F-4C38-9FA1-5234FB5E967F}"/>
              </a:ext>
            </a:extLst>
          </p:cNvPr>
          <p:cNvSpPr/>
          <p:nvPr/>
        </p:nvSpPr>
        <p:spPr>
          <a:xfrm>
            <a:off x="7472632" y="1135175"/>
            <a:ext cx="147492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Join(A,B,C)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8" name="矩形: 圆角 187">
            <a:extLst>
              <a:ext uri="{FF2B5EF4-FFF2-40B4-BE49-F238E27FC236}">
                <a16:creationId xmlns:a16="http://schemas.microsoft.com/office/drawing/2014/main" id="{C21B7095-9E85-0237-677B-5B920518238B}"/>
              </a:ext>
            </a:extLst>
          </p:cNvPr>
          <p:cNvSpPr/>
          <p:nvPr/>
        </p:nvSpPr>
        <p:spPr>
          <a:xfrm>
            <a:off x="9487865" y="571142"/>
            <a:ext cx="1707273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Join(A,B,C,D)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9" name="矩形: 圆角 188">
            <a:extLst>
              <a:ext uri="{FF2B5EF4-FFF2-40B4-BE49-F238E27FC236}">
                <a16:creationId xmlns:a16="http://schemas.microsoft.com/office/drawing/2014/main" id="{EE00FCA0-EFC7-3DE2-0812-04ECABA7FB1C}"/>
              </a:ext>
            </a:extLst>
          </p:cNvPr>
          <p:cNvSpPr/>
          <p:nvPr/>
        </p:nvSpPr>
        <p:spPr>
          <a:xfrm>
            <a:off x="7796787" y="571142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9419DA40-F635-5520-AF1D-E7C55D105444}"/>
              </a:ext>
            </a:extLst>
          </p:cNvPr>
          <p:cNvSpPr/>
          <p:nvPr/>
        </p:nvSpPr>
        <p:spPr>
          <a:xfrm>
            <a:off x="9715137" y="1135175"/>
            <a:ext cx="1252728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SUM(A)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94BAC2AF-D570-71EF-37D1-659D19D6C5F2}"/>
              </a:ext>
            </a:extLst>
          </p:cNvPr>
          <p:cNvCxnSpPr>
            <a:cxnSpLocks/>
            <a:stCxn id="186" idx="3"/>
            <a:endCxn id="188" idx="1"/>
          </p:cNvCxnSpPr>
          <p:nvPr/>
        </p:nvCxnSpPr>
        <p:spPr>
          <a:xfrm flipV="1">
            <a:off x="8947559" y="786940"/>
            <a:ext cx="540306" cy="56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47710F56-646D-C468-D8B0-2171EFAD34F1}"/>
              </a:ext>
            </a:extLst>
          </p:cNvPr>
          <p:cNvCxnSpPr>
            <a:cxnSpLocks/>
            <a:stCxn id="186" idx="3"/>
            <a:endCxn id="190" idx="1"/>
          </p:cNvCxnSpPr>
          <p:nvPr/>
        </p:nvCxnSpPr>
        <p:spPr>
          <a:xfrm>
            <a:off x="8947559" y="1350973"/>
            <a:ext cx="767578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F8A99F55-CB56-CC73-3776-F344E174C03C}"/>
              </a:ext>
            </a:extLst>
          </p:cNvPr>
          <p:cNvCxnSpPr>
            <a:cxnSpLocks/>
            <a:stCxn id="189" idx="3"/>
            <a:endCxn id="188" idx="1"/>
          </p:cNvCxnSpPr>
          <p:nvPr/>
        </p:nvCxnSpPr>
        <p:spPr>
          <a:xfrm>
            <a:off x="8623404" y="786940"/>
            <a:ext cx="864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3DF76C7E-76FF-9E17-E629-397BB1B25580}"/>
              </a:ext>
            </a:extLst>
          </p:cNvPr>
          <p:cNvSpPr/>
          <p:nvPr/>
        </p:nvSpPr>
        <p:spPr>
          <a:xfrm>
            <a:off x="7472632" y="2910348"/>
            <a:ext cx="147492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Join(A,B,C)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6" name="矩形: 圆角 205">
            <a:extLst>
              <a:ext uri="{FF2B5EF4-FFF2-40B4-BE49-F238E27FC236}">
                <a16:creationId xmlns:a16="http://schemas.microsoft.com/office/drawing/2014/main" id="{AA45B7FF-476B-095F-95E9-FFCB58A5FF6B}"/>
              </a:ext>
            </a:extLst>
          </p:cNvPr>
          <p:cNvSpPr/>
          <p:nvPr/>
        </p:nvSpPr>
        <p:spPr>
          <a:xfrm>
            <a:off x="9487865" y="2056601"/>
            <a:ext cx="1707273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Join(A,B,C,D)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7" name="矩形: 圆角 206">
            <a:extLst>
              <a:ext uri="{FF2B5EF4-FFF2-40B4-BE49-F238E27FC236}">
                <a16:creationId xmlns:a16="http://schemas.microsoft.com/office/drawing/2014/main" id="{081ACCA6-73A3-6B0B-6FE3-D4C2D23568A1}"/>
              </a:ext>
            </a:extLst>
          </p:cNvPr>
          <p:cNvSpPr/>
          <p:nvPr/>
        </p:nvSpPr>
        <p:spPr>
          <a:xfrm>
            <a:off x="7796787" y="2056601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8" name="矩形: 圆角 207">
            <a:extLst>
              <a:ext uri="{FF2B5EF4-FFF2-40B4-BE49-F238E27FC236}">
                <a16:creationId xmlns:a16="http://schemas.microsoft.com/office/drawing/2014/main" id="{23D32323-E29D-538D-3E55-073F3CB37D5E}"/>
              </a:ext>
            </a:extLst>
          </p:cNvPr>
          <p:cNvSpPr/>
          <p:nvPr/>
        </p:nvSpPr>
        <p:spPr>
          <a:xfrm>
            <a:off x="9715137" y="2910348"/>
            <a:ext cx="1252728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SUM(A)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6BADC02F-FF93-73A7-E3D9-393EB9B7648F}"/>
              </a:ext>
            </a:extLst>
          </p:cNvPr>
          <p:cNvCxnSpPr>
            <a:cxnSpLocks/>
            <a:stCxn id="205" idx="3"/>
            <a:endCxn id="206" idx="1"/>
          </p:cNvCxnSpPr>
          <p:nvPr/>
        </p:nvCxnSpPr>
        <p:spPr>
          <a:xfrm flipV="1">
            <a:off x="8947559" y="2272399"/>
            <a:ext cx="540306" cy="853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FC599D31-E850-4B80-E276-C315B2DEBECE}"/>
              </a:ext>
            </a:extLst>
          </p:cNvPr>
          <p:cNvCxnSpPr>
            <a:cxnSpLocks/>
            <a:stCxn id="205" idx="3"/>
            <a:endCxn id="208" idx="1"/>
          </p:cNvCxnSpPr>
          <p:nvPr/>
        </p:nvCxnSpPr>
        <p:spPr>
          <a:xfrm>
            <a:off x="8947559" y="3126146"/>
            <a:ext cx="767578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504357A7-C190-E033-1CF4-5253B7E57DA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8623404" y="2272399"/>
            <a:ext cx="864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23FD3323-15A9-7D20-6584-D0863E6FD9CC}"/>
              </a:ext>
            </a:extLst>
          </p:cNvPr>
          <p:cNvCxnSpPr>
            <a:cxnSpLocks/>
            <a:stCxn id="206" idx="2"/>
            <a:endCxn id="208" idx="0"/>
          </p:cNvCxnSpPr>
          <p:nvPr/>
        </p:nvCxnSpPr>
        <p:spPr>
          <a:xfrm flipH="1">
            <a:off x="10341501" y="2488197"/>
            <a:ext cx="1" cy="422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77171592-4EB3-5E9E-CA5A-51BA14A78038}"/>
              </a:ext>
            </a:extLst>
          </p:cNvPr>
          <p:cNvCxnSpPr>
            <a:cxnSpLocks/>
            <a:stCxn id="205" idx="0"/>
            <a:endCxn id="207" idx="2"/>
          </p:cNvCxnSpPr>
          <p:nvPr/>
        </p:nvCxnSpPr>
        <p:spPr>
          <a:xfrm flipV="1">
            <a:off x="8210096" y="2488197"/>
            <a:ext cx="0" cy="422151"/>
          </a:xfrm>
          <a:prstGeom prst="straightConnector1">
            <a:avLst/>
          </a:prstGeom>
          <a:ln w="12700" cmpd="sng">
            <a:prstDash val="dash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88" name="组合 287">
            <a:extLst>
              <a:ext uri="{FF2B5EF4-FFF2-40B4-BE49-F238E27FC236}">
                <a16:creationId xmlns:a16="http://schemas.microsoft.com/office/drawing/2014/main" id="{B25E03E1-9C4C-B1D3-FB1A-4C91681DCDD2}"/>
              </a:ext>
            </a:extLst>
          </p:cNvPr>
          <p:cNvGrpSpPr/>
          <p:nvPr/>
        </p:nvGrpSpPr>
        <p:grpSpPr>
          <a:xfrm>
            <a:off x="4277173" y="1646062"/>
            <a:ext cx="3389814" cy="365091"/>
            <a:chOff x="4694916" y="31934"/>
            <a:chExt cx="3389814" cy="365091"/>
          </a:xfrm>
        </p:grpSpPr>
        <p:sp>
          <p:nvSpPr>
            <p:cNvPr id="283" name="箭头: 下 282">
              <a:extLst>
                <a:ext uri="{FF2B5EF4-FFF2-40B4-BE49-F238E27FC236}">
                  <a16:creationId xmlns:a16="http://schemas.microsoft.com/office/drawing/2014/main" id="{874DFE0E-EB49-33E5-A4C9-D282520E3178}"/>
                </a:ext>
              </a:extLst>
            </p:cNvPr>
            <p:cNvSpPr/>
            <p:nvPr/>
          </p:nvSpPr>
          <p:spPr>
            <a:xfrm>
              <a:off x="4844818" y="31934"/>
              <a:ext cx="454205" cy="365091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7" name="文本框 286">
              <a:extLst>
                <a:ext uri="{FF2B5EF4-FFF2-40B4-BE49-F238E27FC236}">
                  <a16:creationId xmlns:a16="http://schemas.microsoft.com/office/drawing/2014/main" id="{DEF8BFF5-F4D5-796C-B270-24EBD64BD83D}"/>
                </a:ext>
              </a:extLst>
            </p:cNvPr>
            <p:cNvSpPr txBox="1"/>
            <p:nvPr/>
          </p:nvSpPr>
          <p:spPr>
            <a:xfrm>
              <a:off x="4694916" y="47567"/>
              <a:ext cx="338981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accent5">
                      <a:lumMod val="75000"/>
                    </a:schemeClr>
                  </a:solidFill>
                </a:rPr>
                <a:t>增量特性引入共享节点发现</a:t>
              </a:r>
            </a:p>
          </p:txBody>
        </p:sp>
      </p:grpSp>
      <p:cxnSp>
        <p:nvCxnSpPr>
          <p:cNvPr id="290" name="直接连接符 289">
            <a:extLst>
              <a:ext uri="{FF2B5EF4-FFF2-40B4-BE49-F238E27FC236}">
                <a16:creationId xmlns:a16="http://schemas.microsoft.com/office/drawing/2014/main" id="{9C8F5ED7-BBC8-BF01-465A-19E87CAFB7C3}"/>
              </a:ext>
            </a:extLst>
          </p:cNvPr>
          <p:cNvCxnSpPr/>
          <p:nvPr/>
        </p:nvCxnSpPr>
        <p:spPr>
          <a:xfrm>
            <a:off x="3230380" y="479685"/>
            <a:ext cx="0" cy="28772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id="{751ED7FF-DEE7-D109-1F9E-7678499C7DC9}"/>
              </a:ext>
            </a:extLst>
          </p:cNvPr>
          <p:cNvCxnSpPr/>
          <p:nvPr/>
        </p:nvCxnSpPr>
        <p:spPr>
          <a:xfrm>
            <a:off x="7183878" y="472190"/>
            <a:ext cx="0" cy="28772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文本框 291">
            <a:extLst>
              <a:ext uri="{FF2B5EF4-FFF2-40B4-BE49-F238E27FC236}">
                <a16:creationId xmlns:a16="http://schemas.microsoft.com/office/drawing/2014/main" id="{C72F8878-F433-E60C-3849-ABBD5347E65D}"/>
              </a:ext>
            </a:extLst>
          </p:cNvPr>
          <p:cNvSpPr txBox="1"/>
          <p:nvPr/>
        </p:nvSpPr>
        <p:spPr>
          <a:xfrm>
            <a:off x="749138" y="3391525"/>
            <a:ext cx="1609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增量维护语义</a:t>
            </a: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7BD79F88-0E5B-766D-E602-F8A8F168D6D6}"/>
              </a:ext>
            </a:extLst>
          </p:cNvPr>
          <p:cNvSpPr txBox="1"/>
          <p:nvPr/>
        </p:nvSpPr>
        <p:spPr>
          <a:xfrm>
            <a:off x="4336663" y="3391525"/>
            <a:ext cx="1679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数据包含关系</a:t>
            </a: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A3BB2C25-11E7-4905-E6C5-8539D9836157}"/>
              </a:ext>
            </a:extLst>
          </p:cNvPr>
          <p:cNvSpPr txBox="1"/>
          <p:nvPr/>
        </p:nvSpPr>
        <p:spPr>
          <a:xfrm>
            <a:off x="8629878" y="3391525"/>
            <a:ext cx="1201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约束引导</a:t>
            </a:r>
          </a:p>
        </p:txBody>
      </p:sp>
    </p:spTree>
    <p:extLst>
      <p:ext uri="{BB962C8B-B14F-4D97-AF65-F5344CB8AC3E}">
        <p14:creationId xmlns:p14="http://schemas.microsoft.com/office/powerpoint/2010/main" val="37283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7F2ACDD-E72C-3D8F-3B45-713C4A04708F}"/>
              </a:ext>
            </a:extLst>
          </p:cNvPr>
          <p:cNvSpPr txBox="1"/>
          <p:nvPr/>
        </p:nvSpPr>
        <p:spPr>
          <a:xfrm>
            <a:off x="1122389" y="1698034"/>
            <a:ext cx="7362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物化视图组 </a:t>
            </a:r>
            <a:r>
              <a:rPr lang="en-US" altLang="zh-CN" dirty="0"/>
              <a:t>V</a:t>
            </a:r>
            <a:r>
              <a:rPr lang="zh-CN" altLang="en-US" dirty="0"/>
              <a:t>、约束与统计信息、规则集合 </a:t>
            </a:r>
            <a:endParaRPr lang="en-US" altLang="zh-CN" dirty="0"/>
          </a:p>
          <a:p>
            <a:r>
              <a:rPr lang="en-US" altLang="zh-CN" dirty="0"/>
              <a:t>R← </a:t>
            </a:r>
            <a:r>
              <a:rPr lang="zh-CN" altLang="en-US" dirty="0"/>
              <a:t>空图；</a:t>
            </a:r>
            <a:endParaRPr lang="en-US" altLang="zh-CN" dirty="0"/>
          </a:p>
          <a:p>
            <a:r>
              <a:rPr lang="zh-CN" altLang="en-US" dirty="0"/>
              <a:t>对每个视图 </a:t>
            </a:r>
            <a:r>
              <a:rPr lang="en-US" altLang="zh-CN" dirty="0" err="1"/>
              <a:t>V_i</a:t>
            </a:r>
            <a:r>
              <a:rPr lang="zh-CN" altLang="en-US" dirty="0"/>
              <a:t>：    </a:t>
            </a:r>
            <a:endParaRPr lang="en-US" altLang="zh-CN" dirty="0"/>
          </a:p>
          <a:p>
            <a:r>
              <a:rPr lang="zh-CN" altLang="en-US" dirty="0"/>
              <a:t>从基表生成其基本关系路径及合法的替代路径    </a:t>
            </a:r>
            <a:endParaRPr lang="en-US" altLang="zh-CN" dirty="0"/>
          </a:p>
          <a:p>
            <a:r>
              <a:rPr lang="zh-CN" altLang="en-US" dirty="0"/>
              <a:t>应用增量语义、数据包含和约束驱动规则 </a:t>
            </a:r>
            <a:endParaRPr lang="en-US" altLang="zh-CN" dirty="0"/>
          </a:p>
          <a:p>
            <a:r>
              <a:rPr lang="zh-CN" altLang="en-US" dirty="0"/>
              <a:t>将路径插入 </a:t>
            </a:r>
            <a:r>
              <a:rPr lang="en-US" altLang="zh-CN" dirty="0"/>
              <a:t>G</a:t>
            </a:r>
            <a:r>
              <a:rPr lang="zh-CN" altLang="en-US" dirty="0"/>
              <a:t>，复用语义相同的数据节点，更新权重  </a:t>
            </a:r>
            <a:endParaRPr lang="en-US" altLang="zh-CN" dirty="0"/>
          </a:p>
          <a:p>
            <a:r>
              <a:rPr lang="zh-CN" altLang="en-US" dirty="0"/>
              <a:t>  </a:t>
            </a:r>
            <a:endParaRPr lang="en-US" altLang="zh-CN" dirty="0"/>
          </a:p>
          <a:p>
            <a:r>
              <a:rPr lang="zh-CN" altLang="en-US" dirty="0"/>
              <a:t>输出：候选图 </a:t>
            </a:r>
            <a:r>
              <a:rPr lang="en-US" altLang="zh-CN" dirty="0"/>
              <a:t>G</a:t>
            </a:r>
            <a:r>
              <a:rPr lang="zh-CN" altLang="en-US" dirty="0"/>
              <a:t>、节点权重 </a:t>
            </a:r>
            <a:r>
              <a:rPr lang="en-US" altLang="zh-CN" dirty="0"/>
              <a:t>w</a:t>
            </a:r>
            <a:r>
              <a:rPr lang="zh-CN" altLang="en-US" dirty="0"/>
              <a:t>、基表集合 </a:t>
            </a:r>
            <a:r>
              <a:rPr lang="en-US" altLang="zh-CN" dirty="0"/>
              <a:t>B</a:t>
            </a:r>
            <a:r>
              <a:rPr lang="zh-CN" altLang="en-US" dirty="0"/>
              <a:t>、目标集合 </a:t>
            </a:r>
            <a:r>
              <a:rPr lang="en-US" altLang="zh-CN" dirty="0"/>
              <a:t>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9566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0151A-2BEC-3AC1-5BEF-0EE6FA87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034CC2D7-EFED-8BB5-DB43-0AE16C4FA92C}"/>
              </a:ext>
            </a:extLst>
          </p:cNvPr>
          <p:cNvSpPr/>
          <p:nvPr/>
        </p:nvSpPr>
        <p:spPr>
          <a:xfrm>
            <a:off x="826618" y="840030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933C5E7-BF3B-3FC9-79E7-2D5F1EF52B52}"/>
              </a:ext>
            </a:extLst>
          </p:cNvPr>
          <p:cNvSpPr/>
          <p:nvPr/>
        </p:nvSpPr>
        <p:spPr>
          <a:xfrm>
            <a:off x="826617" y="1628852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21F2D3C-1799-632E-E67A-8B6C6DA2AECC}"/>
              </a:ext>
            </a:extLst>
          </p:cNvPr>
          <p:cNvSpPr/>
          <p:nvPr/>
        </p:nvSpPr>
        <p:spPr>
          <a:xfrm>
            <a:off x="826616" y="2484730"/>
            <a:ext cx="826617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18AB4AF-ED87-EC10-2159-84151F13591D}"/>
              </a:ext>
            </a:extLst>
          </p:cNvPr>
          <p:cNvSpPr/>
          <p:nvPr/>
        </p:nvSpPr>
        <p:spPr>
          <a:xfrm>
            <a:off x="2617013" y="889107"/>
            <a:ext cx="1252728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Join(A,B)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A8DD774-E7C1-BDCD-19DB-372E13000ABA}"/>
              </a:ext>
            </a:extLst>
          </p:cNvPr>
          <p:cNvSpPr/>
          <p:nvPr/>
        </p:nvSpPr>
        <p:spPr>
          <a:xfrm>
            <a:off x="2617013" y="2437637"/>
            <a:ext cx="1252728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Join(B,C) 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885120D-387B-AEEA-BB5C-128409A217F4}"/>
              </a:ext>
            </a:extLst>
          </p:cNvPr>
          <p:cNvSpPr/>
          <p:nvPr/>
        </p:nvSpPr>
        <p:spPr>
          <a:xfrm>
            <a:off x="4223613" y="1628852"/>
            <a:ext cx="1474928" cy="4315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Join(A,B,C)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75D0976-E77F-234A-7EFF-637381290D0E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653235" y="1055828"/>
            <a:ext cx="963778" cy="49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2042CDF-784A-C18B-B821-99CBAB7371F7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1653234" y="1844650"/>
            <a:ext cx="963779" cy="808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299611C-5E35-B97D-12B5-801DC099C612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1653234" y="1104905"/>
            <a:ext cx="963779" cy="739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0BCF50D-FBFF-DEDE-EB70-FA87E4011773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1653233" y="2653435"/>
            <a:ext cx="963780" cy="47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328D060-DCB5-4C6E-C702-307F3A94BCE5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3869741" y="1104905"/>
            <a:ext cx="353872" cy="739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4D9988B-400C-E2CC-C9DD-7A54C66CBEDA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1653233" y="1844650"/>
            <a:ext cx="2570380" cy="855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91B077B-5CD4-0267-7778-D6EF500AD5F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3869741" y="1844650"/>
            <a:ext cx="353872" cy="808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39C0449-DC5B-20B2-B831-028D1FC025EF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1653235" y="1055828"/>
            <a:ext cx="2570378" cy="788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FAC59E1-845C-1E16-7E6F-DCC47C159527}"/>
              </a:ext>
            </a:extLst>
          </p:cNvPr>
          <p:cNvSpPr/>
          <p:nvPr/>
        </p:nvSpPr>
        <p:spPr>
          <a:xfrm>
            <a:off x="826615" y="3395165"/>
            <a:ext cx="826617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9E328C7-4734-5F32-5538-240B8F3E92EA}"/>
              </a:ext>
            </a:extLst>
          </p:cNvPr>
          <p:cNvSpPr/>
          <p:nvPr/>
        </p:nvSpPr>
        <p:spPr>
          <a:xfrm>
            <a:off x="2617013" y="3395165"/>
            <a:ext cx="1252728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Join(C,D)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DA43C33-A29F-C3BC-3DCC-CDD39086E268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1653233" y="2700528"/>
            <a:ext cx="963780" cy="91043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12FC9A6-0C0C-43A9-6230-EA75A46D79FD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1653232" y="3610963"/>
            <a:ext cx="963781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F007487-69FE-D643-B247-0DB570D01EB5}"/>
              </a:ext>
            </a:extLst>
          </p:cNvPr>
          <p:cNvSpPr/>
          <p:nvPr/>
        </p:nvSpPr>
        <p:spPr>
          <a:xfrm>
            <a:off x="4223612" y="2785718"/>
            <a:ext cx="1474927" cy="4315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Join(B,C,D) 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1CD5FE9-4E0A-4514-1009-B906206DFB7D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 flipV="1">
            <a:off x="3869741" y="3001516"/>
            <a:ext cx="353871" cy="609447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1D52B82-31D4-BED7-6778-BFB8781EDEF6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>
            <a:off x="1653234" y="1844650"/>
            <a:ext cx="2570378" cy="1156866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C7E0FC9-7A1E-D1A0-A14C-B5290C3D6D7E}"/>
              </a:ext>
            </a:extLst>
          </p:cNvPr>
          <p:cNvCxnSpPr>
            <a:cxnSpLocks/>
            <a:stCxn id="20" idx="3"/>
            <a:endCxn id="24" idx="1"/>
          </p:cNvCxnSpPr>
          <p:nvPr/>
        </p:nvCxnSpPr>
        <p:spPr>
          <a:xfrm flipV="1">
            <a:off x="1653232" y="3001516"/>
            <a:ext cx="2570380" cy="60944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06B8056-590A-624E-7B3A-620FFE84AFA5}"/>
              </a:ext>
            </a:extLst>
          </p:cNvPr>
          <p:cNvCxnSpPr>
            <a:cxnSpLocks/>
            <a:stCxn id="10" idx="3"/>
            <a:endCxn id="24" idx="1"/>
          </p:cNvCxnSpPr>
          <p:nvPr/>
        </p:nvCxnSpPr>
        <p:spPr>
          <a:xfrm>
            <a:off x="3869741" y="2653435"/>
            <a:ext cx="353871" cy="3480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BF07094-6347-552C-A388-5AABD1BEB351}"/>
              </a:ext>
            </a:extLst>
          </p:cNvPr>
          <p:cNvSpPr txBox="1"/>
          <p:nvPr/>
        </p:nvSpPr>
        <p:spPr>
          <a:xfrm>
            <a:off x="1047438" y="4203950"/>
            <a:ext cx="7362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Join(B,C)</a:t>
            </a:r>
            <a:r>
              <a:rPr lang="zh-CN" altLang="en-US" dirty="0"/>
              <a:t>只为两个物化视图使用，物化它带来空间与</a:t>
            </a:r>
            <a:r>
              <a:rPr lang="en-US" altLang="zh-CN" dirty="0"/>
              <a:t>IO</a:t>
            </a:r>
            <a:r>
              <a:rPr lang="zh-CN" altLang="en-US" dirty="0"/>
              <a:t>延迟，不一定值得。</a:t>
            </a:r>
            <a:endParaRPr lang="en-US" altLang="zh-CN" dirty="0"/>
          </a:p>
          <a:p>
            <a:r>
              <a:rPr lang="zh-CN" altLang="en-US" dirty="0"/>
              <a:t>如果本身</a:t>
            </a:r>
            <a:r>
              <a:rPr lang="en-US" altLang="zh-CN" dirty="0" err="1"/>
              <a:t>delta_Q</a:t>
            </a:r>
            <a:r>
              <a:rPr lang="en-US" altLang="zh-CN" dirty="0"/>
              <a:t>(Join(B,C))</a:t>
            </a:r>
            <a:r>
              <a:rPr lang="zh-CN" altLang="en-US" dirty="0"/>
              <a:t>开销较大，可以考虑物化</a:t>
            </a:r>
            <a:r>
              <a:rPr lang="en-US" altLang="zh-CN" dirty="0"/>
              <a:t>Join(B,C) 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1784834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</TotalTime>
  <Words>1257</Words>
  <Application>Microsoft Office PowerPoint</Application>
  <PresentationFormat>宽屏</PresentationFormat>
  <Paragraphs>113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</dc:creator>
  <cp:lastModifiedBy>志强 程</cp:lastModifiedBy>
  <cp:revision>154</cp:revision>
  <dcterms:created xsi:type="dcterms:W3CDTF">2023-08-09T12:44:00Z</dcterms:created>
  <dcterms:modified xsi:type="dcterms:W3CDTF">2026-09-28T03:41:17Z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