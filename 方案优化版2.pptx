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2"/>
    <p:sldId id="264" r:id="rId3"/>
    <p:sldId id="266" r:id="rId4"/>
    <p:sldId id="257" r:id="rId5"/>
    <p:sldId id="258" r:id="rId6"/>
    <p:sldId id="263" r:id="rId7"/>
    <p:sldId id="265" r:id="rId8"/>
    <p:sldId id="267" r:id="rId9"/>
    <p:sldId id="268" r:id="rId10"/>
    <p:sldId id="269" r:id="rId11"/>
    <p:sldId id="259" r:id="rId12"/>
    <p:sldId id="260"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E6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87" d="100"/>
          <a:sy n="87" d="100"/>
        </p:scale>
        <p:origin x="84" y="6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2026/10/14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796D4-B7EC-70DE-F8D2-DB20DEBB95C0}"/>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8217012-75C6-7CBC-917E-BE989195B755}"/>
              </a:ext>
            </a:extLst>
          </p:cNvPr>
          <p:cNvSpPr txBox="1"/>
          <p:nvPr/>
        </p:nvSpPr>
        <p:spPr>
          <a:xfrm>
            <a:off x="322286" y="643963"/>
            <a:ext cx="5400000" cy="5339923"/>
          </a:xfrm>
          <a:prstGeom prst="rect">
            <a:avLst/>
          </a:prstGeom>
          <a:noFill/>
        </p:spPr>
        <p:txBody>
          <a:bodyPr wrap="square" rtlCol="0">
            <a:spAutoFit/>
          </a:bodyPr>
          <a:lstStyle/>
          <a:p>
            <a:r>
              <a:rPr lang="zh-CN" altLang="en-US" sz="1000" dirty="0"/>
              <a:t>面向</a:t>
            </a:r>
            <a:r>
              <a:rPr lang="zh-CN" altLang="en-US" sz="1000" b="1" dirty="0"/>
              <a:t>多物化视图共享机会难发现、路径枚举开销大、共享维护收益不确定</a:t>
            </a:r>
            <a:r>
              <a:rPr lang="zh-CN" altLang="en-US" sz="1000" dirty="0"/>
              <a:t>等问题，本方案在前期工作 </a:t>
            </a:r>
            <a:r>
              <a:rPr lang="en-US" altLang="zh-CN" sz="1000" dirty="0" err="1"/>
              <a:t>IncreQueryFusion</a:t>
            </a:r>
            <a:r>
              <a:rPr lang="en-US" altLang="zh-CN" sz="1000" dirty="0"/>
              <a:t> [VLDB26] </a:t>
            </a:r>
            <a:r>
              <a:rPr lang="zh-CN" altLang="en-US" sz="1000" dirty="0"/>
              <a:t>的查询依赖组织与增量状态复用思想基础上，构建面向视图组的</a:t>
            </a:r>
            <a:r>
              <a:rPr lang="zh-CN" altLang="en-US" sz="1000" b="1" dirty="0"/>
              <a:t>统一计算图</a:t>
            </a:r>
            <a:r>
              <a:rPr lang="zh-CN" altLang="en-US" sz="1000" dirty="0"/>
              <a:t>。通过增量语义、数据包含与约束改写，按需生成共享节点及候选路径，再按共享权重选择计算子图、按增量代价决定中间物化并生成 </a:t>
            </a:r>
            <a:r>
              <a:rPr lang="en-US" altLang="zh-CN" sz="1000" dirty="0"/>
              <a:t>pipeline</a:t>
            </a:r>
            <a:r>
              <a:rPr lang="zh-CN" altLang="en-US" sz="1000" dirty="0"/>
              <a:t>，实现单视图优化与跨视图共享的协同。</a:t>
            </a:r>
            <a:endParaRPr lang="en-US" altLang="zh-CN" sz="1000" b="1" dirty="0"/>
          </a:p>
          <a:p>
            <a:r>
              <a:rPr lang="zh-CN" altLang="en-US" sz="1100" b="1" dirty="0"/>
              <a:t>一、候选计算图生成</a:t>
            </a:r>
            <a:endParaRPr lang="en-US" altLang="zh-CN" sz="1000" dirty="0"/>
          </a:p>
          <a:p>
            <a:r>
              <a:rPr lang="zh-CN" altLang="en-US" sz="1000" b="1" dirty="0"/>
              <a:t>计算图定义</a:t>
            </a:r>
            <a:r>
              <a:rPr lang="zh-CN" altLang="en-US" sz="1000" dirty="0"/>
              <a:t>：采用有向图，节点表示基表、中间结果及目标视图，边表示连接、过滤、投影、聚合等计算。边以计算标识区分不同生产路径，同一数据节点可通过不同生产路径得到。节点权重为可使用该节点的不同视图数，同一视图只计一次。</a:t>
            </a:r>
            <a:endParaRPr lang="en-US" altLang="zh-CN" sz="1000" dirty="0"/>
          </a:p>
          <a:p>
            <a:endParaRPr lang="en-US" altLang="zh-CN" sz="1000" dirty="0"/>
          </a:p>
          <a:p>
            <a:r>
              <a:rPr lang="zh-CN" altLang="en-US" sz="1000" b="1" dirty="0"/>
              <a:t>迭代建图与关联发现</a:t>
            </a:r>
            <a:r>
              <a:rPr lang="zh-CN" altLang="en-US" sz="1000" dirty="0"/>
              <a:t>。逐个插入视图，从基表建立一条基本计算路径，复用等价节点，暂不枚举路径。对新增节点，从其依赖基表出发，收集具有共同基表依赖的全部节点。</a:t>
            </a:r>
            <a:endParaRPr lang="en-US" altLang="zh-CN" sz="1000" dirty="0"/>
          </a:p>
          <a:p>
            <a:endParaRPr lang="en-US" altLang="zh-CN" sz="1000" dirty="0"/>
          </a:p>
          <a:p>
            <a:r>
              <a:rPr lang="zh-CN" altLang="en-US" sz="1000" b="1" dirty="0"/>
              <a:t>按需扩展</a:t>
            </a:r>
            <a:r>
              <a:rPr lang="zh-CN" altLang="en-US" sz="1000" dirty="0"/>
              <a:t>。对相关节点：①提取或生成公共节点，补充共享路径；②通过过滤、投影、再聚合建立结果恢复路径。两类路径可同时保留。例如，如下图所示，插入 </a:t>
            </a:r>
            <a:r>
              <a:rPr lang="en-US" altLang="zh-CN" sz="1000" dirty="0"/>
              <a:t>join(B,C,D)</a:t>
            </a:r>
            <a:r>
              <a:rPr lang="zh-CN" altLang="en-US" sz="1000" dirty="0"/>
              <a:t>节点</a:t>
            </a:r>
            <a:r>
              <a:rPr lang="en-US" altLang="zh-CN" sz="1000" dirty="0"/>
              <a:t> </a:t>
            </a:r>
            <a:r>
              <a:rPr lang="zh-CN" altLang="en-US" sz="1000" dirty="0"/>
              <a:t>后发现插入 </a:t>
            </a:r>
            <a:r>
              <a:rPr lang="en-US" altLang="zh-CN" sz="1000" dirty="0"/>
              <a:t>join(A,B,C) </a:t>
            </a:r>
            <a:r>
              <a:rPr lang="zh-CN" altLang="en-US" sz="1000" dirty="0"/>
              <a:t>节点，若 </a:t>
            </a:r>
            <a:r>
              <a:rPr lang="en-US" altLang="zh-CN" sz="1000" dirty="0"/>
              <a:t>B</a:t>
            </a:r>
            <a:r>
              <a:rPr lang="zh-CN" altLang="en-US" sz="1000" dirty="0"/>
              <a:t>、</a:t>
            </a:r>
            <a:r>
              <a:rPr lang="en-US" altLang="zh-CN" sz="1000" dirty="0"/>
              <a:t>C </a:t>
            </a:r>
            <a:r>
              <a:rPr lang="zh-CN" altLang="en-US" sz="1000" dirty="0"/>
              <a:t>上的语义兼容，则生成 </a:t>
            </a:r>
            <a:r>
              <a:rPr lang="en-US" altLang="zh-CN" sz="1000" dirty="0"/>
              <a:t>join(B,C)</a:t>
            </a:r>
            <a:r>
              <a:rPr lang="zh-CN" altLang="en-US" sz="1000" dirty="0"/>
              <a:t>，添加 </a:t>
            </a:r>
            <a:r>
              <a:rPr lang="en-US" altLang="zh-CN" sz="1000" dirty="0"/>
              <a:t>`B+C→BC`</a:t>
            </a:r>
            <a:r>
              <a:rPr lang="zh-CN" altLang="en-US" sz="1000" dirty="0"/>
              <a:t>、</a:t>
            </a:r>
            <a:r>
              <a:rPr lang="en-US" altLang="zh-CN" sz="1000" dirty="0"/>
              <a:t>`BC+A→ABC`</a:t>
            </a:r>
            <a:r>
              <a:rPr lang="zh-CN" altLang="en-US" sz="1000" dirty="0"/>
              <a:t>、</a:t>
            </a:r>
            <a:r>
              <a:rPr lang="en-US" altLang="zh-CN" sz="1000" dirty="0"/>
              <a:t>`BC+D→BCD`</a:t>
            </a:r>
            <a:r>
              <a:rPr lang="zh-CN" altLang="en-US" sz="1000" dirty="0"/>
              <a:t>路径，保留原路径并更新权重。新增节点继续检索扩展。</a:t>
            </a:r>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b="1" dirty="0"/>
          </a:p>
          <a:p>
            <a:r>
              <a:rPr lang="zh-CN" altLang="en-US" sz="1000" b="1" dirty="0"/>
              <a:t>增量特性融入</a:t>
            </a:r>
            <a:r>
              <a:rPr lang="zh-CN" altLang="en-US" sz="1000" dirty="0"/>
              <a:t>。在初始建图及共享扩展中引入增量特性。</a:t>
            </a:r>
            <a:r>
              <a:rPr lang="en-US" altLang="zh-CN" sz="1000" dirty="0"/>
              <a:t>a)</a:t>
            </a:r>
            <a:r>
              <a:rPr lang="zh-CN" altLang="en-US" sz="1000" dirty="0"/>
              <a:t>增量维护语义，同一算子在全量计算和增量计算中的执行并不相同。例如，</a:t>
            </a:r>
            <a:r>
              <a:rPr lang="en-US" altLang="zh-CN" sz="1000" dirty="0"/>
              <a:t> LEFT JOIN</a:t>
            </a:r>
            <a:r>
              <a:rPr lang="zh-CN" altLang="en-US" sz="1000" dirty="0"/>
              <a:t>在增量场景下被分解为</a:t>
            </a:r>
            <a:r>
              <a:rPr lang="en-US" altLang="zh-CN" sz="1000" dirty="0"/>
              <a:t>INNER JOIN</a:t>
            </a:r>
            <a:r>
              <a:rPr lang="zh-CN" altLang="en-US" sz="1000" dirty="0"/>
              <a:t>和</a:t>
            </a:r>
            <a:r>
              <a:rPr lang="en-US" altLang="zh-CN" sz="1000" dirty="0"/>
              <a:t>ANTI JOIN</a:t>
            </a:r>
            <a:r>
              <a:rPr lang="zh-CN" altLang="en-US" sz="1000" dirty="0"/>
              <a:t>进行分别维护；</a:t>
            </a:r>
            <a:r>
              <a:rPr lang="en-US" altLang="zh-CN" sz="1000" dirty="0"/>
              <a:t> </a:t>
            </a:r>
            <a:r>
              <a:rPr lang="zh-CN" altLang="en-US" sz="1000" dirty="0"/>
              <a:t>聚合函数</a:t>
            </a:r>
            <a:r>
              <a:rPr lang="en-US" altLang="zh-CN" sz="1000" dirty="0"/>
              <a:t>AVG</a:t>
            </a:r>
            <a:r>
              <a:rPr lang="zh-CN" altLang="en-US" sz="1000" dirty="0"/>
              <a:t>需要同时维护</a:t>
            </a:r>
            <a:r>
              <a:rPr lang="en-US" altLang="zh-CN" sz="1000" dirty="0"/>
              <a:t>SUM</a:t>
            </a:r>
            <a:r>
              <a:rPr lang="zh-CN" altLang="en-US" sz="1000" dirty="0"/>
              <a:t>和</a:t>
            </a:r>
            <a:r>
              <a:rPr lang="en-US" altLang="zh-CN" sz="1000" dirty="0"/>
              <a:t>COUNT</a:t>
            </a:r>
            <a:r>
              <a:rPr lang="zh-CN" altLang="en-US" sz="1000" dirty="0"/>
              <a:t>聚合结果等等。</a:t>
            </a:r>
            <a:r>
              <a:rPr lang="en-US" altLang="zh-CN" sz="1000" dirty="0"/>
              <a:t>b)</a:t>
            </a:r>
            <a:r>
              <a:rPr lang="zh-CN" altLang="en-US" sz="1000" dirty="0"/>
              <a:t>数据包含关系 ，利用结果间可准确恢复的关系增加路径，例如从 </a:t>
            </a:r>
            <a:r>
              <a:rPr lang="en-US" altLang="zh-CN" sz="1000" dirty="0"/>
              <a:t>LEFT JOIN </a:t>
            </a:r>
            <a:r>
              <a:rPr lang="zh-CN" altLang="en-US" sz="1000" dirty="0"/>
              <a:t>按可靠匹配标记过滤得到 </a:t>
            </a:r>
            <a:r>
              <a:rPr lang="en-US" altLang="zh-CN" sz="1000" dirty="0"/>
              <a:t>INNER JOIN</a:t>
            </a:r>
            <a:r>
              <a:rPr lang="zh-CN" altLang="en-US" sz="1000" dirty="0"/>
              <a:t>或 </a:t>
            </a:r>
            <a:r>
              <a:rPr lang="en-US" altLang="zh-CN" sz="1000" dirty="0"/>
              <a:t>ANTI JOIN</a:t>
            </a:r>
            <a:r>
              <a:rPr lang="zh-CN" altLang="en-US" sz="1000" dirty="0"/>
              <a:t>；连接聚合场景下的聚合下推等。 </a:t>
            </a:r>
            <a:r>
              <a:rPr lang="en-US" altLang="zh-CN" sz="1000" dirty="0"/>
              <a:t>c)</a:t>
            </a:r>
            <a:r>
              <a:rPr lang="zh-CN" altLang="en-US" sz="1000" dirty="0"/>
              <a:t>约束引导，例如外键依赖支持多表</a:t>
            </a:r>
            <a:r>
              <a:rPr lang="en-US" altLang="zh-CN" sz="1000" dirty="0"/>
              <a:t>JOIN</a:t>
            </a:r>
            <a:r>
              <a:rPr lang="zh-CN" altLang="en-US" sz="1000" dirty="0"/>
              <a:t>间的无损投影；唯一性约束化简</a:t>
            </a:r>
            <a:r>
              <a:rPr lang="en-US" altLang="zh-CN" sz="1000" dirty="0"/>
              <a:t>LEFT JOIN</a:t>
            </a:r>
            <a:r>
              <a:rPr lang="zh-CN" altLang="en-US" sz="1000" dirty="0"/>
              <a:t>计算路径等等。</a:t>
            </a:r>
            <a:endParaRPr lang="en-US" altLang="zh-CN" sz="1000" dirty="0"/>
          </a:p>
          <a:p>
            <a:endParaRPr lang="en-US" altLang="zh-CN" sz="1000" dirty="0"/>
          </a:p>
          <a:p>
            <a:endParaRPr lang="en-US" altLang="zh-CN" sz="1000"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A361390-82AC-3DFB-4C74-53DF668EC7E1}"/>
                  </a:ext>
                </a:extLst>
              </p:cNvPr>
              <p:cNvSpPr txBox="1"/>
              <p:nvPr/>
            </p:nvSpPr>
            <p:spPr>
              <a:xfrm>
                <a:off x="6469714" y="673329"/>
                <a:ext cx="5400000" cy="6140207"/>
              </a:xfrm>
              <a:prstGeom prst="rect">
                <a:avLst/>
              </a:prstGeom>
              <a:noFill/>
            </p:spPr>
            <p:txBody>
              <a:bodyPr wrap="square" rtlCol="0">
                <a:spAutoFit/>
              </a:bodyPr>
              <a:lstStyle/>
              <a:p>
                <a:r>
                  <a:rPr lang="zh-CN" altLang="en-US" sz="1050" b="1" dirty="0"/>
                  <a:t>二、计算子图选择与</a:t>
                </a:r>
                <a:r>
                  <a:rPr lang="en-US" altLang="zh-CN" sz="1050" b="1" dirty="0"/>
                  <a:t>pipeline</a:t>
                </a:r>
                <a:r>
                  <a:rPr lang="zh-CN" altLang="en-US" sz="1050" b="1" dirty="0"/>
                  <a:t>生成</a:t>
                </a:r>
                <a:endParaRPr lang="en-US" altLang="zh-CN" sz="1050" b="1" dirty="0"/>
              </a:p>
              <a:p>
                <a:r>
                  <a:rPr lang="zh-CN" altLang="en-US" sz="1050" dirty="0"/>
                  <a:t>设 </a:t>
                </a:r>
                <a:r>
                  <a:rPr lang="en-US" altLang="zh-CN" sz="1050" dirty="0"/>
                  <a:t>B </a:t>
                </a:r>
                <a:r>
                  <a:rPr lang="zh-CN" altLang="en-US" sz="1050" dirty="0"/>
                  <a:t>为视图组涉及的基表节点集合，</a:t>
                </a:r>
                <a:r>
                  <a:rPr lang="en-US" altLang="zh-CN" sz="1050" dirty="0"/>
                  <a:t>T </a:t>
                </a:r>
                <a:r>
                  <a:rPr lang="zh-CN" altLang="en-US" sz="1050" dirty="0"/>
                  <a:t>为全部目标物化视图的结果节点集合，终端集合为 </a:t>
                </a:r>
                <a14:m>
                  <m:oMath xmlns:m="http://schemas.openxmlformats.org/officeDocument/2006/math">
                    <m:r>
                      <m:rPr>
                        <m:sty m:val="p"/>
                      </m:rPr>
                      <a:rPr lang="en-US" altLang="zh-CN" sz="1050" b="0" i="0" smtClean="0">
                        <a:latin typeface="Cambria Math" panose="02040503050406030204" pitchFamily="18" charset="0"/>
                      </a:rPr>
                      <m:t>K</m:t>
                    </m:r>
                    <m:r>
                      <a:rPr lang="en-US" altLang="zh-CN" sz="1050" b="0" i="0" smtClean="0">
                        <a:latin typeface="Cambria Math" panose="02040503050406030204" pitchFamily="18" charset="0"/>
                      </a:rPr>
                      <m:t>=</m:t>
                    </m:r>
                    <m:r>
                      <m:rPr>
                        <m:sty m:val="p"/>
                      </m:rPr>
                      <a:rPr lang="en-US" altLang="zh-CN" sz="1050" b="0" i="0" smtClean="0">
                        <a:latin typeface="Cambria Math" panose="02040503050406030204" pitchFamily="18" charset="0"/>
                      </a:rPr>
                      <m:t>B</m:t>
                    </m:r>
                    <m:r>
                      <a:rPr lang="en-US" altLang="zh-CN" sz="1050" b="0" i="1" smtClean="0">
                        <a:latin typeface="Cambria Math" panose="02040503050406030204" pitchFamily="18" charset="0"/>
                        <a:ea typeface="Cambria Math" panose="02040503050406030204" pitchFamily="18" charset="0"/>
                      </a:rPr>
                      <m:t>∪</m:t>
                    </m:r>
                    <m:r>
                      <m:rPr>
                        <m:sty m:val="p"/>
                      </m:rPr>
                      <a:rPr lang="en-US" altLang="zh-CN" sz="1050" b="0" i="0" smtClean="0">
                        <a:latin typeface="Cambria Math" panose="02040503050406030204" pitchFamily="18" charset="0"/>
                        <a:ea typeface="Cambria Math" panose="02040503050406030204" pitchFamily="18" charset="0"/>
                      </a:rPr>
                      <m:t>T</m:t>
                    </m:r>
                  </m:oMath>
                </a14:m>
                <a:r>
                  <a:rPr lang="en-US" altLang="zh-CN" sz="1050" dirty="0"/>
                  <a:t> </a:t>
                </a:r>
                <a:r>
                  <a:rPr lang="zh-CN" altLang="en-US" sz="1050" dirty="0"/>
                  <a:t>。</a:t>
                </a:r>
                <a:endParaRPr lang="en-US" altLang="zh-CN" sz="1050" dirty="0"/>
              </a:p>
              <a:p>
                <a:r>
                  <a:rPr lang="zh-CN" altLang="en-US" sz="1050" dirty="0"/>
                  <a:t>在候选图 </a:t>
                </a:r>
                <a:r>
                  <a:rPr lang="en-US" altLang="zh-CN" sz="1050" dirty="0"/>
                  <a:t>G </a:t>
                </a:r>
                <a:r>
                  <a:rPr lang="zh-CN" altLang="en-US" sz="1050" dirty="0"/>
                  <a:t>中选择计算子图 </a:t>
                </a:r>
                <a:r>
                  <a:rPr lang="en-US" altLang="zh-CN" sz="1050" dirty="0"/>
                  <a:t>P</a:t>
                </a:r>
                <a:r>
                  <a:rPr lang="zh-CN" altLang="en-US" sz="1050" dirty="0"/>
                  <a:t>，使其覆盖 </a:t>
                </a:r>
                <a:r>
                  <a:rPr lang="en-US" altLang="zh-CN" sz="1050" dirty="0"/>
                  <a:t>K </a:t>
                </a:r>
                <a:r>
                  <a:rPr lang="zh-CN" altLang="en-US" sz="1050" dirty="0"/>
                  <a:t>中的全部节点，并保证每个目标视图分别具有完整、连通、无环的计算结构。</a:t>
                </a:r>
                <a:endParaRPr lang="en-US" altLang="zh-CN" sz="1050" dirty="0"/>
              </a:p>
              <a:p>
                <a:endParaRPr lang="en-US" altLang="zh-CN" sz="1050" dirty="0"/>
              </a:p>
              <a:p>
                <a:r>
                  <a:rPr lang="en-US" altLang="zh-CN" sz="1050" b="1" dirty="0"/>
                  <a:t>1</a:t>
                </a:r>
                <a:r>
                  <a:rPr lang="zh-CN" altLang="en-US" sz="1050" b="1" dirty="0"/>
                  <a:t>、共享权重驱动的计算子图选择</a:t>
                </a:r>
                <a:endParaRPr lang="en-US" altLang="zh-CN" sz="1050" b="1" dirty="0"/>
              </a:p>
              <a:p>
                <a:r>
                  <a:rPr lang="zh-CN" altLang="en-US" sz="1050" dirty="0"/>
                  <a:t>贪心优先选择高权重节点，补全其生产路径及通向目标的后续路径，最终覆盖全部基表和目标视图，保证每个视图的计算结构完整连通、执行依赖无环。</a:t>
                </a:r>
                <a:endParaRPr lang="en-US" altLang="zh-CN" sz="1050" dirty="0"/>
              </a:p>
              <a:p>
                <a:r>
                  <a:rPr lang="zh-CN" altLang="en-US" sz="1050" dirty="0"/>
                  <a:t>权重表示共享潜力，选中公共节点不等于物化。</a:t>
                </a:r>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b="1" dirty="0"/>
              </a:p>
              <a:p>
                <a:r>
                  <a:rPr lang="en-US" altLang="zh-CN" sz="1050" b="1" dirty="0"/>
                  <a:t>2</a:t>
                </a:r>
                <a:r>
                  <a:rPr lang="zh-CN" altLang="en-US" sz="1050" b="1" dirty="0"/>
                  <a:t>、基于增量代价的中间物化选择</a:t>
                </a:r>
                <a:endParaRPr lang="en-US" altLang="zh-CN" sz="1050" b="1" dirty="0"/>
              </a:p>
              <a:p>
                <a:r>
                  <a:rPr lang="zh-CN" altLang="en-US" sz="1050" dirty="0"/>
                  <a:t>在 </a:t>
                </a:r>
                <a:r>
                  <a:rPr lang="en-US" altLang="zh-CN" sz="1050" dirty="0"/>
                  <a:t>P </a:t>
                </a:r>
                <a:r>
                  <a:rPr lang="zh-CN" altLang="en-US" sz="1050" dirty="0"/>
                  <a:t>内比较分别计算与物化共享的成本。设节点 </a:t>
                </a:r>
                <a:r>
                  <a:rPr lang="en-US" altLang="zh-CN" sz="1050" dirty="0"/>
                  <a:t>v </a:t>
                </a:r>
                <a:r>
                  <a:rPr lang="zh-CN" altLang="en-US" sz="1050" dirty="0"/>
                  <a:t>有 </a:t>
                </a:r>
                <a:r>
                  <a:rPr lang="en-US" altLang="zh-CN" sz="1050" dirty="0"/>
                  <a:t>n </a:t>
                </a:r>
                <a:r>
                  <a:rPr lang="zh-CN" altLang="en-US" sz="1050" dirty="0"/>
                  <a:t>个实际消费者，在同一维护窗口内：</a:t>
                </a:r>
                <a:endParaRPr lang="en-US" altLang="zh-CN" sz="1050" dirty="0"/>
              </a:p>
              <a:p>
                <a:r>
                  <a:rPr lang="en-US" altLang="zh-CN" sz="1050" dirty="0"/>
                  <a:t> </a:t>
                </a:r>
                <a14:m>
                  <m:oMath xmlns:m="http://schemas.openxmlformats.org/officeDocument/2006/math">
                    <m:sSub>
                      <m:sSubPr>
                        <m:ctrlPr>
                          <a:rPr lang="en-US" altLang="zh-CN" sz="1050" i="1" smtClean="0">
                            <a:latin typeface="Cambria Math" panose="02040503050406030204" pitchFamily="18" charset="0"/>
                          </a:rPr>
                        </m:ctrlPr>
                      </m:sSubPr>
                      <m:e>
                        <m:r>
                          <m:rPr>
                            <m:sty m:val="p"/>
                          </m:rPr>
                          <a:rPr lang="en-US" altLang="zh-CN" sz="1050" i="1">
                            <a:latin typeface="Cambria Math" panose="02040503050406030204" pitchFamily="18" charset="0"/>
                          </a:rPr>
                          <m:t>C</m:t>
                        </m:r>
                      </m:e>
                      <m:sub>
                        <m:r>
                          <m:rPr>
                            <m:sty m:val="p"/>
                          </m:rPr>
                          <a:rPr lang="en-US" altLang="zh-CN" sz="1050" i="1">
                            <a:latin typeface="Cambria Math" panose="02040503050406030204" pitchFamily="18" charset="0"/>
                          </a:rPr>
                          <m:t>compute</m:t>
                        </m:r>
                      </m:sub>
                    </m:sSub>
                    <m:r>
                      <a:rPr lang="en-US" altLang="zh-CN" sz="1050" b="0" i="1" smtClean="0">
                        <a:latin typeface="Cambria Math" panose="02040503050406030204" pitchFamily="18" charset="0"/>
                      </a:rPr>
                      <m:t>=</m:t>
                    </m:r>
                    <m:r>
                      <m:rPr>
                        <m:sty m:val="p"/>
                      </m:rPr>
                      <a:rPr lang="en-US" altLang="zh-CN" sz="1050" b="0" i="0" smtClean="0">
                        <a:latin typeface="Cambria Math" panose="02040503050406030204" pitchFamily="18" charset="0"/>
                      </a:rPr>
                      <m:t>n</m:t>
                    </m:r>
                    <m:r>
                      <a:rPr lang="en-US" altLang="zh-CN" sz="1050" i="1">
                        <a:latin typeface="Cambria Math" panose="02040503050406030204" pitchFamily="18" charset="0"/>
                        <a:ea typeface="Cambria Math" panose="02040503050406030204" pitchFamily="18" charset="0"/>
                      </a:rPr>
                      <m:t>×</m:t>
                    </m:r>
                    <m:d>
                      <m:dPr>
                        <m:ctrlPr>
                          <a:rPr lang="en-US" altLang="zh-CN" sz="1050" b="0" i="1" smtClean="0">
                            <a:latin typeface="Cambria Math" panose="02040503050406030204" pitchFamily="18" charset="0"/>
                            <a:ea typeface="Cambria Math" panose="02040503050406030204" pitchFamily="18" charset="0"/>
                          </a:rPr>
                        </m:ctrlPr>
                      </m:dPr>
                      <m:e>
                        <m:sSub>
                          <m:sSubPr>
                            <m:ctrlPr>
                              <a:rPr lang="en-US" altLang="zh-CN" sz="1050" b="0" i="1" smtClean="0">
                                <a:latin typeface="Cambria Math" panose="02040503050406030204" pitchFamily="18" charset="0"/>
                                <a:ea typeface="Cambria Math" panose="02040503050406030204" pitchFamily="18" charset="0"/>
                              </a:rPr>
                            </m:ctrlPr>
                          </m:sSubPr>
                          <m:e>
                            <m:r>
                              <m:rPr>
                                <m:sty m:val="p"/>
                              </m:rPr>
                              <a:rPr lang="en-US" altLang="zh-CN" sz="1050" b="0" i="0" smtClean="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input</m:t>
                            </m:r>
                          </m:sub>
                        </m:sSub>
                        <m:r>
                          <a:rPr lang="en-US" altLang="zh-CN" sz="1050" b="0" i="0" smtClean="0">
                            <a:latin typeface="Cambria Math" panose="02040503050406030204" pitchFamily="18" charset="0"/>
                            <a:ea typeface="Cambria Math" panose="02040503050406030204" pitchFamily="18" charset="0"/>
                          </a:rPr>
                          <m:t> +</m:t>
                        </m:r>
                        <m:sSub>
                          <m:sSubPr>
                            <m:ctrlPr>
                              <a:rPr lang="en-US" altLang="zh-CN" sz="1050" b="0" i="1" smtClean="0">
                                <a:latin typeface="Cambria Math" panose="02040503050406030204" pitchFamily="18" charset="0"/>
                                <a:ea typeface="Cambria Math" panose="02040503050406030204" pitchFamily="18" charset="0"/>
                              </a:rPr>
                            </m:ctrlPr>
                          </m:sSubPr>
                          <m:e>
                            <m:r>
                              <m:rPr>
                                <m:sty m:val="p"/>
                              </m:rPr>
                              <a:rPr lang="en-US" altLang="zh-CN" sz="1050" b="0" i="0" smtClean="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calc</m:t>
                            </m:r>
                          </m:sub>
                        </m:sSub>
                      </m:e>
                    </m:d>
                  </m:oMath>
                </a14:m>
                <a:r>
                  <a:rPr lang="en-US" altLang="zh-CN" sz="1050" b="0" i="1" dirty="0">
                    <a:latin typeface="Cambria Math" panose="02040503050406030204" pitchFamily="18" charset="0"/>
                    <a:ea typeface="Cambria Math" panose="02040503050406030204" pitchFamily="18" charset="0"/>
                  </a:rPr>
                  <a:t> </a:t>
                </a:r>
              </a:p>
              <a:p>
                <a:r>
                  <a:rPr lang="en-US" altLang="zh-CN" sz="1050" dirty="0"/>
                  <a:t> </a:t>
                </a:r>
                <a14:m>
                  <m:oMath xmlns:m="http://schemas.openxmlformats.org/officeDocument/2006/math">
                    <m:sSub>
                      <m:sSubPr>
                        <m:ctrlPr>
                          <a:rPr lang="en-US" altLang="zh-CN" sz="1050" i="1">
                            <a:latin typeface="Cambria Math" panose="02040503050406030204" pitchFamily="18" charset="0"/>
                          </a:rPr>
                        </m:ctrlPr>
                      </m:sSubPr>
                      <m:e>
                        <m:r>
                          <m:rPr>
                            <m:sty m:val="p"/>
                          </m:rPr>
                          <a:rPr lang="en-US" altLang="zh-CN" sz="1050" i="0">
                            <a:latin typeface="Cambria Math" panose="02040503050406030204" pitchFamily="18" charset="0"/>
                          </a:rPr>
                          <m:t>C</m:t>
                        </m:r>
                      </m:e>
                      <m:sub>
                        <m:r>
                          <m:rPr>
                            <m:sty m:val="p"/>
                          </m:rPr>
                          <a:rPr lang="en-US" altLang="zh-CN" sz="1050" b="0" i="0" smtClean="0">
                            <a:latin typeface="Cambria Math" panose="02040503050406030204" pitchFamily="18" charset="0"/>
                          </a:rPr>
                          <m:t>share</m:t>
                        </m:r>
                      </m:sub>
                    </m:sSub>
                    <m:r>
                      <a:rPr lang="en-US" altLang="zh-CN" sz="1050" i="0">
                        <a:latin typeface="Cambria Math" panose="02040503050406030204" pitchFamily="18" charset="0"/>
                      </a:rPr>
                      <m:t>=</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i="0">
                            <a:latin typeface="Cambria Math" panose="02040503050406030204" pitchFamily="18" charset="0"/>
                            <a:ea typeface="Cambria Math" panose="02040503050406030204" pitchFamily="18" charset="0"/>
                          </a:rPr>
                          <m:t>input</m:t>
                        </m:r>
                      </m:sub>
                    </m:sSub>
                    <m:r>
                      <a:rPr lang="en-US" altLang="zh-CN" sz="1050" i="0">
                        <a:latin typeface="Cambria Math" panose="02040503050406030204" pitchFamily="18" charset="0"/>
                        <a:ea typeface="Cambria Math" panose="02040503050406030204" pitchFamily="18" charset="0"/>
                      </a:rPr>
                      <m:t> +</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i="0">
                            <a:latin typeface="Cambria Math" panose="02040503050406030204" pitchFamily="18" charset="0"/>
                            <a:ea typeface="Cambria Math" panose="02040503050406030204" pitchFamily="18" charset="0"/>
                          </a:rPr>
                          <m:t>calc</m:t>
                        </m:r>
                      </m:sub>
                    </m:sSub>
                    <m:r>
                      <a:rPr lang="en-US" altLang="zh-CN" sz="1050" b="0" i="0" smtClean="0">
                        <a:latin typeface="Cambria Math" panose="02040503050406030204" pitchFamily="18" charset="0"/>
                        <a:ea typeface="Cambria Math" panose="02040503050406030204" pitchFamily="18" charset="0"/>
                      </a:rPr>
                      <m:t>+</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update</m:t>
                        </m:r>
                      </m:sub>
                    </m:sSub>
                    <m:r>
                      <a:rPr lang="en-US" altLang="zh-CN" sz="1050" b="0" i="0" smtClean="0">
                        <a:latin typeface="Cambria Math" panose="02040503050406030204" pitchFamily="18" charset="0"/>
                        <a:ea typeface="Cambria Math" panose="02040503050406030204" pitchFamily="18" charset="0"/>
                      </a:rPr>
                      <m:t>+</m:t>
                    </m:r>
                    <m:r>
                      <m:rPr>
                        <m:sty m:val="p"/>
                      </m:rPr>
                      <a:rPr lang="en-US" altLang="zh-CN" sz="1050" i="0">
                        <a:latin typeface="Cambria Math" panose="02040503050406030204" pitchFamily="18" charset="0"/>
                      </a:rPr>
                      <m:t>n</m:t>
                    </m:r>
                    <m:r>
                      <a:rPr lang="en-US" altLang="zh-CN" sz="1050" i="0">
                        <a:latin typeface="Cambria Math" panose="02040503050406030204" pitchFamily="18" charset="0"/>
                        <a:ea typeface="Cambria Math" panose="02040503050406030204" pitchFamily="18" charset="0"/>
                      </a:rPr>
                      <m:t>×</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read</m:t>
                        </m:r>
                      </m:sub>
                    </m:sSub>
                  </m:oMath>
                </a14:m>
                <a:endParaRPr lang="en-US" altLang="zh-CN" sz="1050" dirty="0"/>
              </a:p>
              <a:p>
                <a:r>
                  <a:rPr lang="zh-CN" altLang="en-US" sz="1050" dirty="0"/>
                  <a:t>其中，</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input</m:t>
                        </m:r>
                      </m:sub>
                    </m:sSub>
                  </m:oMath>
                </a14:m>
                <a:r>
                  <a:rPr lang="zh-CN" altLang="en-US" sz="1050" dirty="0"/>
                  <a:t>为生成中间增量所需的输入访问成本，含增量日志及基表状态读取；</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calc</m:t>
                        </m:r>
                      </m:sub>
                    </m:sSub>
                  </m:oMath>
                </a14:m>
                <a:r>
                  <a:rPr lang="zh-CN" altLang="en-US" sz="1050" dirty="0"/>
                  <a:t>为计算成本；</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update</m:t>
                        </m:r>
                      </m:sub>
                    </m:sSub>
                  </m:oMath>
                </a14:m>
                <a:r>
                  <a:rPr lang="zh-CN" altLang="en-US" sz="1050" dirty="0"/>
                  <a:t>为增量结果物化成本；</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read</m:t>
                        </m:r>
                      </m:sub>
                    </m:sSub>
                  </m:oMath>
                </a14:m>
                <a:r>
                  <a:rPr lang="zh-CN" altLang="en-US" sz="1050" dirty="0"/>
                  <a:t>为消费者读取所需增量或状态的成本。</a:t>
                </a:r>
                <a:endParaRPr lang="en-US" altLang="zh-CN" sz="1050" b="1" dirty="0"/>
              </a:p>
              <a:p>
                <a:r>
                  <a:rPr lang="zh-CN" altLang="en-US" sz="1050" b="1" dirty="0"/>
                  <a:t>代价获取</a:t>
                </a:r>
                <a:r>
                  <a:rPr lang="zh-CN" altLang="en-US" sz="1050" dirty="0"/>
                  <a:t>。复用数据库内部代价模型，对独立计算与共享维护两种执行方案进行估价。针对未来增量规模和分布未知的问题，按照预设增量比例对基表采样。</a:t>
                </a:r>
                <a:endParaRPr lang="en-US" altLang="zh-CN" sz="1050" dirty="0"/>
              </a:p>
              <a:p>
                <a:endParaRPr lang="en-US" altLang="zh-CN" sz="1050" dirty="0"/>
              </a:p>
              <a:p>
                <a:r>
                  <a:rPr lang="zh-CN" altLang="en-US" sz="1050" dirty="0"/>
                  <a:t>逐步采用具有正收益的物化候选，并更新相关成本。允许不共享任何中间物化结果，目标视图及必要维护状态仍保留。例如，</a:t>
                </a:r>
                <a:r>
                  <a:rPr lang="en-US" altLang="zh-CN" sz="1050" dirty="0"/>
                  <a:t> join(B,C) </a:t>
                </a:r>
                <a:r>
                  <a:rPr lang="zh-CN" altLang="en-US" sz="1050" dirty="0"/>
                  <a:t>统一维护和读取更便宜时才物化，否则由 </a:t>
                </a:r>
                <a:r>
                  <a:rPr lang="en-US" altLang="zh-CN" sz="1050" dirty="0"/>
                  <a:t>join(A,B,C) </a:t>
                </a:r>
                <a:r>
                  <a:rPr lang="zh-CN" altLang="en-US" sz="1050" dirty="0"/>
                  <a:t>、</a:t>
                </a:r>
                <a:r>
                  <a:rPr lang="en-US" altLang="zh-CN" sz="1050" dirty="0"/>
                  <a:t> join(B,C,D) </a:t>
                </a:r>
                <a:r>
                  <a:rPr lang="zh-CN" altLang="en-US" sz="1050" dirty="0"/>
                  <a:t>分别计算。</a:t>
                </a:r>
                <a:endParaRPr lang="en-US" altLang="zh-CN" sz="1050" dirty="0"/>
              </a:p>
              <a:p>
                <a:endParaRPr lang="en-US" altLang="zh-CN" sz="1050" dirty="0"/>
              </a:p>
              <a:p>
                <a:r>
                  <a:rPr lang="zh-CN" altLang="en-US" sz="1050" dirty="0"/>
                  <a:t>综上，</a:t>
                </a:r>
                <a:r>
                  <a:rPr lang="zh-CN" altLang="en-US" sz="1050" b="1" dirty="0">
                    <a:solidFill>
                      <a:schemeClr val="tx1">
                        <a:lumMod val="95000"/>
                        <a:lumOff val="5000"/>
                      </a:schemeClr>
                    </a:solidFill>
                  </a:rPr>
                  <a:t>子图确定公共计算，代价决定是否物化复用</a:t>
                </a:r>
                <a:r>
                  <a:rPr lang="zh-CN" altLang="en-US" sz="1050" dirty="0"/>
                  <a:t>。</a:t>
                </a:r>
                <a:endParaRPr lang="en-US" altLang="zh-CN" sz="1050" dirty="0"/>
              </a:p>
            </p:txBody>
          </p:sp>
        </mc:Choice>
        <mc:Fallback xmlns="">
          <p:sp>
            <p:nvSpPr>
              <p:cNvPr id="5" name="文本框 4">
                <a:extLst>
                  <a:ext uri="{FF2B5EF4-FFF2-40B4-BE49-F238E27FC236}">
                    <a16:creationId xmlns:a16="http://schemas.microsoft.com/office/drawing/2014/main" id="{7A361390-82AC-3DFB-4C74-53DF668EC7E1}"/>
                  </a:ext>
                </a:extLst>
              </p:cNvPr>
              <p:cNvSpPr txBox="1">
                <a:spLocks noRot="1" noChangeAspect="1" noMove="1" noResize="1" noEditPoints="1" noAdjustHandles="1" noChangeArrowheads="1" noChangeShapeType="1" noTextEdit="1"/>
              </p:cNvSpPr>
              <p:nvPr/>
            </p:nvSpPr>
            <p:spPr>
              <a:xfrm>
                <a:off x="6469714" y="673329"/>
                <a:ext cx="5400000" cy="6140207"/>
              </a:xfrm>
              <a:prstGeom prst="rect">
                <a:avLst/>
              </a:prstGeom>
              <a:blipFill>
                <a:blip r:embed="rId2"/>
                <a:stretch>
                  <a:fillRect r="-1693"/>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7324F7B8-D656-75DF-EFEF-76D14FC95B59}"/>
              </a:ext>
            </a:extLst>
          </p:cNvPr>
          <p:cNvSpPr txBox="1"/>
          <p:nvPr/>
        </p:nvSpPr>
        <p:spPr>
          <a:xfrm>
            <a:off x="2971798" y="102204"/>
            <a:ext cx="6097248" cy="369332"/>
          </a:xfrm>
          <a:prstGeom prst="rect">
            <a:avLst/>
          </a:prstGeom>
          <a:noFill/>
        </p:spPr>
        <p:txBody>
          <a:bodyPr wrap="square">
            <a:spAutoFit/>
          </a:bodyPr>
          <a:lstStyle/>
          <a:p>
            <a:r>
              <a:rPr lang="zh-CN" altLang="en-US" b="1" dirty="0"/>
              <a:t>基于统一计算图与增量代价的物化视图协同维护方案</a:t>
            </a:r>
          </a:p>
        </p:txBody>
      </p:sp>
      <p:pic>
        <p:nvPicPr>
          <p:cNvPr id="9" name="图片 8">
            <a:extLst>
              <a:ext uri="{FF2B5EF4-FFF2-40B4-BE49-F238E27FC236}">
                <a16:creationId xmlns:a16="http://schemas.microsoft.com/office/drawing/2014/main" id="{A33A8575-6D48-8332-A977-624690E78B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7026" y="3301822"/>
            <a:ext cx="4189544" cy="1348543"/>
          </a:xfrm>
          <a:prstGeom prst="rect">
            <a:avLst/>
          </a:prstGeom>
        </p:spPr>
      </p:pic>
      <p:pic>
        <p:nvPicPr>
          <p:cNvPr id="15" name="图片 14">
            <a:extLst>
              <a:ext uri="{FF2B5EF4-FFF2-40B4-BE49-F238E27FC236}">
                <a16:creationId xmlns:a16="http://schemas.microsoft.com/office/drawing/2014/main" id="{98EDD060-E3CB-8645-AB20-51FF58D5B73E}"/>
              </a:ext>
            </a:extLst>
          </p:cNvPr>
          <p:cNvPicPr>
            <a:picLocks noChangeAspect="1"/>
          </p:cNvPicPr>
          <p:nvPr/>
        </p:nvPicPr>
        <p:blipFill>
          <a:blip r:embed="rId4"/>
          <a:stretch>
            <a:fillRect/>
          </a:stretch>
        </p:blipFill>
        <p:spPr>
          <a:xfrm>
            <a:off x="6565900" y="2354262"/>
            <a:ext cx="4628640" cy="2027238"/>
          </a:xfrm>
          <a:prstGeom prst="rect">
            <a:avLst/>
          </a:prstGeom>
        </p:spPr>
      </p:pic>
      <p:pic>
        <p:nvPicPr>
          <p:cNvPr id="17" name="图片 16">
            <a:extLst>
              <a:ext uri="{FF2B5EF4-FFF2-40B4-BE49-F238E27FC236}">
                <a16:creationId xmlns:a16="http://schemas.microsoft.com/office/drawing/2014/main" id="{7A29612E-98B9-B7E1-ECA8-AAD628CE64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9603" y="5583311"/>
            <a:ext cx="4264389" cy="1309574"/>
          </a:xfrm>
          <a:prstGeom prst="rect">
            <a:avLst/>
          </a:prstGeom>
        </p:spPr>
      </p:pic>
    </p:spTree>
    <p:extLst>
      <p:ext uri="{BB962C8B-B14F-4D97-AF65-F5344CB8AC3E}">
        <p14:creationId xmlns:p14="http://schemas.microsoft.com/office/powerpoint/2010/main" val="3058076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6CA0-FAD6-12C7-C4AB-CB11C8DD5CC2}"/>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688072E2-BF67-F63E-EF4F-2639F631E71E}"/>
              </a:ext>
            </a:extLst>
          </p:cNvPr>
          <p:cNvSpPr txBox="1"/>
          <p:nvPr/>
        </p:nvSpPr>
        <p:spPr>
          <a:xfrm>
            <a:off x="-1" y="387931"/>
            <a:ext cx="5907964" cy="6878806"/>
          </a:xfrm>
          <a:prstGeom prst="rect">
            <a:avLst/>
          </a:prstGeom>
          <a:noFill/>
        </p:spPr>
        <p:txBody>
          <a:bodyPr wrap="square" rtlCol="0">
            <a:spAutoFit/>
          </a:bodyPr>
          <a:lstStyle/>
          <a:p>
            <a:r>
              <a:rPr lang="zh-CN" altLang="en-US" sz="1000" dirty="0"/>
              <a:t>面向多物化视图共享机会难发现、路径枚举开销大、共享维护收益不确定等问题，本方案在前期工作 </a:t>
            </a:r>
            <a:r>
              <a:rPr lang="en-US" altLang="zh-CN" sz="1000" dirty="0" err="1"/>
              <a:t>IncreQueryFusion</a:t>
            </a:r>
            <a:r>
              <a:rPr lang="en-US" altLang="zh-CN" sz="1000" dirty="0"/>
              <a:t> [VLDB26] </a:t>
            </a:r>
            <a:r>
              <a:rPr lang="zh-CN" altLang="en-US" sz="1000" dirty="0"/>
              <a:t>的基础上，构建面向视图组的统一计算图。通过增量语义、数据包含与约束改写，按需生成共享节点及候选路径；再通过动态共享权重与局部分支试算消除路径竞争，按增量代价决定中间物化并生成 </a:t>
            </a:r>
            <a:r>
              <a:rPr lang="en-US" altLang="zh-CN" sz="1000" dirty="0"/>
              <a:t>pipeline</a:t>
            </a:r>
            <a:r>
              <a:rPr lang="zh-CN" altLang="en-US" sz="1000" dirty="0"/>
              <a:t>，实现单视图优化与跨视图共享的协同。</a:t>
            </a:r>
            <a:endParaRPr lang="en-US" altLang="zh-CN" sz="1000" dirty="0"/>
          </a:p>
          <a:p>
            <a:r>
              <a:rPr lang="zh-CN" altLang="en-US" sz="1100" b="1" dirty="0"/>
              <a:t>一、候选计算图生成</a:t>
            </a:r>
            <a:endParaRPr lang="en-US" altLang="zh-CN" sz="1100" b="1" dirty="0"/>
          </a:p>
          <a:p>
            <a:r>
              <a:rPr lang="en-US" altLang="zh-CN" sz="1000" b="1" dirty="0"/>
              <a:t>1</a:t>
            </a:r>
            <a:r>
              <a:rPr lang="zh-CN" altLang="en-US" sz="1000" b="1" dirty="0"/>
              <a:t>、逐个插入视图，建立基本计算路径</a:t>
            </a:r>
            <a:endParaRPr lang="zh-CN" altLang="en-US" sz="1000" dirty="0"/>
          </a:p>
          <a:p>
            <a:r>
              <a:rPr lang="zh-CN" altLang="en-US" sz="1000" dirty="0"/>
              <a:t>采用有向计算图，节点表示基表、中间结果及目标视图，边表示连接、过滤、投影、聚合等计算。同一次计算的输入边使用相同计算标识，记录全部输入及算子信息；同一数据节点可以保留多种合法生产方式。逐个插入物化视图，每次先从基表建立一条完整的基本路径，复用已有等价节点。</a:t>
            </a:r>
          </a:p>
          <a:p>
            <a:r>
              <a:rPr lang="en-US" altLang="zh-CN" sz="1000" b="1" dirty="0"/>
              <a:t>2</a:t>
            </a:r>
            <a:r>
              <a:rPr lang="zh-CN" altLang="en-US" sz="1000" b="1" dirty="0"/>
              <a:t>、检索相关节点，按需扩展共享路径</a:t>
            </a:r>
            <a:endParaRPr lang="zh-CN" altLang="en-US" sz="1000" dirty="0"/>
          </a:p>
          <a:p>
            <a:r>
              <a:rPr lang="zh-CN" altLang="en-US" sz="1000" dirty="0"/>
              <a:t>每次新增节点，在图中检索具有共同基表依赖的节点，再检查其连接条件、过滤条件、输出列及重复行语义是否兼容。基表重叠仅用于发现线索，不能直接认定可共享。</a:t>
            </a:r>
          </a:p>
          <a:p>
            <a:r>
              <a:rPr lang="zh-CN" altLang="en-US" sz="1000" dirty="0"/>
              <a:t>对语义兼容的节点尝试两类扩展：一是提取或生成公共数据节点，为多个结果补充共享路径；二是利用过滤、投影、再聚合等操作，建立从已有结果恢复另一结果的路径。扩展时保留原有路径，新增节点进入工作队列继续检索，等价节点及重复路径不再插入。</a:t>
            </a:r>
          </a:p>
          <a:p>
            <a:r>
              <a:rPr lang="zh-CN" altLang="en-US" sz="1000" dirty="0"/>
              <a:t>扩展依据统一融入上述过程：</a:t>
            </a:r>
          </a:p>
          <a:p>
            <a:r>
              <a:rPr lang="zh-CN" altLang="en-US" sz="1000" b="1" dirty="0"/>
              <a:t>增量维护语义：</a:t>
            </a:r>
            <a:r>
              <a:rPr lang="zh-CN" altLang="en-US" sz="1000" dirty="0"/>
              <a:t> 显式表示可复用的维护状态。例如，</a:t>
            </a:r>
            <a:r>
              <a:rPr lang="en-US" altLang="zh-CN" sz="1000" dirty="0"/>
              <a:t>AVG </a:t>
            </a:r>
            <a:r>
              <a:rPr lang="zh-CN" altLang="en-US" sz="1000" dirty="0"/>
              <a:t>需要额外维护 </a:t>
            </a:r>
            <a:r>
              <a:rPr lang="en-US" altLang="zh-CN" sz="1000" dirty="0"/>
              <a:t>SUM</a:t>
            </a:r>
            <a:r>
              <a:rPr lang="zh-CN" altLang="en-US" sz="1000" dirty="0"/>
              <a:t>、</a:t>
            </a:r>
            <a:r>
              <a:rPr lang="en-US" altLang="zh-CN" sz="1000" dirty="0"/>
              <a:t>COUNT</a:t>
            </a:r>
            <a:r>
              <a:rPr lang="zh-CN" altLang="en-US" sz="1000" dirty="0"/>
              <a:t>；</a:t>
            </a:r>
            <a:r>
              <a:rPr lang="en-US" altLang="zh-CN" sz="1000" dirty="0"/>
              <a:t>LEFT JOIN </a:t>
            </a:r>
            <a:r>
              <a:rPr lang="zh-CN" altLang="en-US" sz="1000" dirty="0"/>
              <a:t>可分解为匹配部分</a:t>
            </a:r>
            <a:r>
              <a:rPr lang="en-US" altLang="zh-CN" sz="1000" dirty="0"/>
              <a:t>INNER JOIN</a:t>
            </a:r>
            <a:r>
              <a:rPr lang="zh-CN" altLang="en-US" sz="1000" dirty="0"/>
              <a:t>和未匹配部分</a:t>
            </a:r>
            <a:r>
              <a:rPr lang="en-US" altLang="zh-CN" sz="1000" dirty="0"/>
              <a:t>ANTI JOIN</a:t>
            </a:r>
            <a:r>
              <a:rPr lang="zh-CN" altLang="en-US" sz="1000" dirty="0"/>
              <a:t>分别维护。</a:t>
            </a:r>
          </a:p>
          <a:p>
            <a:r>
              <a:rPr lang="zh-CN" altLang="en-US" sz="1000" b="1" dirty="0"/>
              <a:t>数据包含关系：</a:t>
            </a:r>
            <a:r>
              <a:rPr lang="zh-CN" altLang="en-US" sz="1000" dirty="0"/>
              <a:t> 利用结果间可准确恢复的关系增加路径。例如，由细粒度聚合得到粗粒度聚合，或按可靠匹配标记从 </a:t>
            </a:r>
            <a:r>
              <a:rPr lang="en-US" altLang="zh-CN" sz="1000" dirty="0"/>
              <a:t>LEFT JOIN </a:t>
            </a:r>
            <a:r>
              <a:rPr lang="zh-CN" altLang="en-US" sz="1000" dirty="0"/>
              <a:t>恢复 </a:t>
            </a:r>
            <a:r>
              <a:rPr lang="en-US" altLang="zh-CN" sz="1000" dirty="0"/>
              <a:t>INNER JOIN</a:t>
            </a:r>
            <a:r>
              <a:rPr lang="zh-CN" altLang="en-US" sz="1000" dirty="0"/>
              <a:t>、</a:t>
            </a:r>
            <a:r>
              <a:rPr lang="en-US" altLang="zh-CN" sz="1000" dirty="0"/>
              <a:t>ANTI JOIN</a:t>
            </a:r>
            <a:r>
              <a:rPr lang="zh-CN" altLang="en-US" sz="1000" dirty="0"/>
              <a:t>。</a:t>
            </a:r>
          </a:p>
          <a:p>
            <a:r>
              <a:rPr lang="zh-CN" altLang="en-US" sz="1000" b="1" dirty="0"/>
              <a:t>约束与统计信息：</a:t>
            </a:r>
            <a:r>
              <a:rPr lang="zh-CN" altLang="en-US" sz="1000" dirty="0"/>
              <a:t> 利用键、外键、非空等约束在图中传播并验证无损投影、简化外连接维护；根据基数和重复度优先生成可能有收益的聚合下推路径。</a:t>
            </a:r>
            <a:endParaRPr lang="en-US" altLang="zh-CN" sz="1000" dirty="0"/>
          </a:p>
          <a:p>
            <a:r>
              <a:rPr lang="zh-CN" altLang="en-US" sz="1000" b="1" dirty="0"/>
              <a:t>示例</a:t>
            </a:r>
            <a:r>
              <a:rPr lang="zh-CN" altLang="en-US" sz="1000" dirty="0"/>
              <a:t>：令 </a:t>
            </a:r>
            <a:r>
              <a:rPr lang="en-US" altLang="zh-CN" sz="1000" dirty="0"/>
              <a:t>F </a:t>
            </a:r>
            <a:r>
              <a:rPr lang="zh-CN" altLang="en-US" sz="1000" dirty="0"/>
              <a:t>为 </a:t>
            </a:r>
            <a:r>
              <a:rPr lang="en-US" altLang="zh-CN" sz="1000" dirty="0"/>
              <a:t>t1 </a:t>
            </a:r>
            <a:r>
              <a:rPr lang="zh-CN" altLang="en-US" sz="1000" dirty="0"/>
              <a:t>经过 </a:t>
            </a:r>
            <a:r>
              <a:rPr lang="en-US" altLang="zh-CN" sz="1000" dirty="0"/>
              <a:t>t1_c1 &gt; 0 </a:t>
            </a:r>
            <a:r>
              <a:rPr lang="zh-CN" altLang="en-US" sz="1000" dirty="0"/>
              <a:t>过滤后的结果，四个目标视图分别为：</a:t>
            </a:r>
            <a:endParaRPr lang="en-US" altLang="zh-CN" sz="1000" dirty="0"/>
          </a:p>
          <a:p>
            <a:endParaRPr lang="en-US" altLang="zh-CN" sz="1000" dirty="0"/>
          </a:p>
          <a:p>
            <a:endParaRPr lang="en-US" altLang="zh-CN" sz="1000" dirty="0"/>
          </a:p>
          <a:p>
            <a:endParaRPr lang="en-US" altLang="zh-CN" sz="1000" dirty="0"/>
          </a:p>
          <a:p>
            <a:endParaRPr lang="en-US" altLang="zh-CN" sz="1000" dirty="0"/>
          </a:p>
          <a:p>
            <a:r>
              <a:rPr lang="zh-CN" altLang="en-US" sz="1000" dirty="0"/>
              <a:t>下文用 </a:t>
            </a:r>
            <a:r>
              <a:rPr lang="en-US" altLang="zh-CN" sz="1000" dirty="0"/>
              <a:t>J23 </a:t>
            </a:r>
            <a:r>
              <a:rPr lang="zh-CN" altLang="en-US" sz="1000" dirty="0"/>
              <a:t>表示 </a:t>
            </a:r>
            <a:r>
              <a:rPr lang="en-US" altLang="zh-CN" sz="1000" dirty="0"/>
              <a:t>t2 ⋈ t3</a:t>
            </a:r>
            <a:r>
              <a:rPr lang="zh-CN" altLang="en-US" sz="1000" dirty="0"/>
              <a:t>，用 </a:t>
            </a:r>
            <a:r>
              <a:rPr lang="en-US" altLang="zh-CN" sz="1000" dirty="0"/>
              <a:t>J123 </a:t>
            </a:r>
            <a:r>
              <a:rPr lang="zh-CN" altLang="en-US" sz="1000" dirty="0"/>
              <a:t>表示 </a:t>
            </a:r>
            <a:r>
              <a:rPr lang="en-US" altLang="zh-CN" sz="1000" dirty="0"/>
              <a:t>F ⋈ t2 ⋈ t3</a:t>
            </a:r>
            <a:r>
              <a:rPr lang="zh-CN" altLang="en-US" sz="1000" dirty="0"/>
              <a:t>，</a:t>
            </a:r>
            <a:r>
              <a:rPr lang="en-US" altLang="zh-CN" sz="1000" dirty="0"/>
              <a:t>Sf</a:t>
            </a:r>
            <a:r>
              <a:rPr lang="zh-CN" altLang="en-US" sz="1000" dirty="0"/>
              <a:t>代表</a:t>
            </a:r>
            <a:r>
              <a:rPr lang="en-US" altLang="zh-CN" sz="1000" dirty="0"/>
              <a:t>SUM(F)</a:t>
            </a:r>
            <a:r>
              <a:rPr lang="zh-CN" altLang="en-US" sz="1000" dirty="0"/>
              <a:t>，</a:t>
            </a:r>
            <a:r>
              <a:rPr lang="en-US" altLang="zh-CN" sz="1000" dirty="0"/>
              <a:t>JSf23</a:t>
            </a:r>
            <a:r>
              <a:rPr lang="zh-CN" altLang="en-US" sz="1000" dirty="0"/>
              <a:t>代表 </a:t>
            </a:r>
            <a:r>
              <a:rPr lang="en-US" altLang="zh-CN" sz="1000" dirty="0"/>
              <a:t>Sf ⋈ t2 ⋈ t3</a:t>
            </a:r>
            <a:r>
              <a:rPr lang="zh-CN" altLang="en-US" sz="1000" dirty="0"/>
              <a:t>。</a:t>
            </a:r>
          </a:p>
          <a:p>
            <a:r>
              <a:rPr lang="zh-CN" altLang="en-US" sz="1000" dirty="0"/>
              <a:t>在示例中，这些规则随着视图插入逐步发挥作用：</a:t>
            </a:r>
          </a:p>
          <a:p>
            <a:r>
              <a:rPr lang="zh-CN" altLang="en-US" sz="1000" dirty="0"/>
              <a:t>① 插入 </a:t>
            </a:r>
            <a:r>
              <a:rPr lang="en-US" altLang="zh-CN" sz="1000" dirty="0"/>
              <a:t>MV2</a:t>
            </a:r>
            <a:r>
              <a:rPr lang="zh-CN" altLang="en-US" sz="1000" dirty="0"/>
              <a:t>：复用 </a:t>
            </a:r>
            <a:r>
              <a:rPr lang="en-US" altLang="zh-CN" sz="1000" dirty="0"/>
              <a:t>F</a:t>
            </a:r>
            <a:r>
              <a:rPr lang="zh-CN" altLang="en-US" sz="1000" dirty="0"/>
              <a:t>，生成共享聚合状态 </a:t>
            </a:r>
            <a:r>
              <a:rPr lang="en-US" altLang="zh-CN" sz="1000" dirty="0"/>
              <a:t>Sf</a:t>
            </a:r>
            <a:r>
              <a:rPr lang="zh-CN" altLang="en-US" sz="1000" dirty="0"/>
              <a:t>。为</a:t>
            </a:r>
            <a:r>
              <a:rPr lang="en-US" altLang="zh-CN" sz="1000" dirty="0"/>
              <a:t>mv1</a:t>
            </a:r>
            <a:r>
              <a:rPr lang="zh-CN" altLang="en-US" sz="1000" dirty="0"/>
              <a:t>添加聚合下推的执行路径。</a:t>
            </a:r>
            <a:endParaRPr lang="en-US" altLang="zh-CN" sz="1000" dirty="0"/>
          </a:p>
          <a:p>
            <a:r>
              <a:rPr lang="zh-CN" altLang="en-US" sz="1000" dirty="0"/>
              <a:t>② 插入 </a:t>
            </a:r>
            <a:r>
              <a:rPr lang="en-US" altLang="zh-CN" sz="1000" dirty="0"/>
              <a:t>MV3</a:t>
            </a:r>
            <a:r>
              <a:rPr lang="zh-CN" altLang="en-US" sz="1000" dirty="0"/>
              <a:t>、</a:t>
            </a:r>
            <a:r>
              <a:rPr lang="en-US" altLang="zh-CN" sz="1000" dirty="0"/>
              <a:t>MV4</a:t>
            </a:r>
            <a:r>
              <a:rPr lang="zh-CN" altLang="en-US" sz="1000" dirty="0"/>
              <a:t>：提取 </a:t>
            </a:r>
            <a:r>
              <a:rPr lang="en-US" altLang="zh-CN" sz="1000" dirty="0"/>
              <a:t>J23</a:t>
            </a:r>
            <a:r>
              <a:rPr lang="zh-CN" altLang="en-US" sz="1000" dirty="0"/>
              <a:t>，</a:t>
            </a:r>
            <a:r>
              <a:rPr lang="en-US" altLang="zh-CN" sz="1000" dirty="0"/>
              <a:t>mv3</a:t>
            </a:r>
            <a:r>
              <a:rPr lang="zh-CN" altLang="en-US" sz="1000" dirty="0"/>
              <a:t>作为共享数据节点，并相应增加数据复用路径。</a:t>
            </a:r>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r>
              <a:rPr lang="en-US" altLang="zh-CN" sz="1000" b="1" dirty="0"/>
              <a:t>3</a:t>
            </a:r>
            <a:r>
              <a:rPr lang="zh-CN" altLang="en-US" sz="1000" b="1" dirty="0"/>
              <a:t>、记录共享潜力，为路径选择提供依据</a:t>
            </a:r>
            <a:endParaRPr lang="zh-CN" altLang="en-US" sz="1000" dirty="0"/>
          </a:p>
          <a:p>
            <a:r>
              <a:rPr lang="zh-CN" altLang="en-US" sz="1000" dirty="0"/>
              <a:t>节点权重定义为能够通过合法生产方案使用该节点的不同目标视图数。示例中，</a:t>
            </a:r>
            <a:r>
              <a:rPr lang="en-US" altLang="zh-CN" sz="1000" dirty="0"/>
              <a:t>F</a:t>
            </a:r>
            <a:r>
              <a:rPr lang="zh-CN" altLang="en-US" sz="1000" dirty="0"/>
              <a:t>、</a:t>
            </a:r>
            <a:r>
              <a:rPr lang="en-US" altLang="zh-CN" sz="1000" dirty="0"/>
              <a:t>J23 </a:t>
            </a:r>
            <a:r>
              <a:rPr lang="zh-CN" altLang="en-US" sz="1000" dirty="0"/>
              <a:t>均可能服务三个目标，权重为 </a:t>
            </a:r>
            <a:r>
              <a:rPr lang="en-US" altLang="zh-CN" sz="1000" dirty="0"/>
              <a:t>3</a:t>
            </a:r>
            <a:r>
              <a:rPr lang="zh-CN" altLang="en-US" sz="1000" dirty="0"/>
              <a:t>；</a:t>
            </a:r>
            <a:r>
              <a:rPr lang="en-US" altLang="zh-CN" sz="1000" dirty="0"/>
              <a:t>Sf</a:t>
            </a:r>
            <a:r>
              <a:rPr lang="zh-CN" altLang="en-US" sz="1000" dirty="0"/>
              <a:t>、</a:t>
            </a:r>
            <a:r>
              <a:rPr lang="en-US" altLang="zh-CN" sz="1000" dirty="0"/>
              <a:t>J123</a:t>
            </a:r>
            <a:r>
              <a:rPr lang="zh-CN" altLang="en-US" sz="1000" dirty="0"/>
              <a:t>、</a:t>
            </a:r>
            <a:r>
              <a:rPr lang="en-US" altLang="zh-CN" sz="1000" dirty="0"/>
              <a:t>MV3 </a:t>
            </a:r>
            <a:r>
              <a:rPr lang="zh-CN" altLang="en-US" sz="1000" dirty="0"/>
              <a:t>均可能服务两个目标，权重为 </a:t>
            </a:r>
            <a:r>
              <a:rPr lang="en-US" altLang="zh-CN" sz="1000" dirty="0"/>
              <a:t>2</a:t>
            </a:r>
            <a:r>
              <a:rPr lang="zh-CN" altLang="en-US" sz="1000" dirty="0"/>
              <a:t>。权重表示候选图中的</a:t>
            </a:r>
            <a:r>
              <a:rPr lang="zh-CN" altLang="en-US" sz="1000" b="1" dirty="0"/>
              <a:t>共享潜力</a:t>
            </a:r>
            <a:r>
              <a:rPr lang="zh-CN" altLang="en-US" sz="1000" dirty="0"/>
              <a:t>。由于同一节点可能存在多种生产路径，各节点的共享潜力未必能同时实现，故需进一步</a:t>
            </a:r>
            <a:r>
              <a:rPr lang="zh-CN" altLang="en-US" sz="1000" b="1" dirty="0"/>
              <a:t>选择实际执行子图</a:t>
            </a:r>
            <a:r>
              <a:rPr lang="zh-CN" altLang="en-US" sz="1000" dirty="0"/>
              <a:t>。</a:t>
            </a:r>
          </a:p>
          <a:p>
            <a:endParaRPr lang="en-US" altLang="zh-CN" sz="1000"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67EAAC3-E1D4-AD2A-37F0-B19031A7FF43}"/>
                  </a:ext>
                </a:extLst>
              </p:cNvPr>
              <p:cNvSpPr txBox="1"/>
              <p:nvPr/>
            </p:nvSpPr>
            <p:spPr>
              <a:xfrm>
                <a:off x="6109786" y="402561"/>
                <a:ext cx="6097248" cy="6679457"/>
              </a:xfrm>
              <a:prstGeom prst="rect">
                <a:avLst/>
              </a:prstGeom>
              <a:noFill/>
            </p:spPr>
            <p:txBody>
              <a:bodyPr wrap="square" rtlCol="0">
                <a:spAutoFit/>
              </a:bodyPr>
              <a:lstStyle/>
              <a:p>
                <a:r>
                  <a:rPr lang="zh-CN" altLang="en-US" sz="1050" b="1" dirty="0"/>
                  <a:t>二、计算子图选择与</a:t>
                </a:r>
                <a:r>
                  <a:rPr lang="en-US" altLang="zh-CN" sz="1050" b="1" dirty="0"/>
                  <a:t>pipeline</a:t>
                </a:r>
                <a:r>
                  <a:rPr lang="zh-CN" altLang="en-US" sz="1050" b="1" dirty="0"/>
                  <a:t>生成</a:t>
                </a:r>
                <a:endParaRPr lang="en-US" altLang="zh-CN" sz="1050" b="1" dirty="0"/>
              </a:p>
              <a:p>
                <a:r>
                  <a:rPr lang="zh-CN" altLang="en-US" sz="1050" dirty="0"/>
                  <a:t>设 </a:t>
                </a:r>
                <a:r>
                  <a:rPr lang="en-US" altLang="zh-CN" sz="1050" dirty="0"/>
                  <a:t>B </a:t>
                </a:r>
                <a:r>
                  <a:rPr lang="zh-CN" altLang="en-US" sz="1050" dirty="0"/>
                  <a:t>为基表节点集合，</a:t>
                </a:r>
                <a:r>
                  <a:rPr lang="en-US" altLang="zh-CN" sz="1050" dirty="0"/>
                  <a:t>T </a:t>
                </a:r>
                <a:r>
                  <a:rPr lang="zh-CN" altLang="en-US" sz="1050" dirty="0"/>
                  <a:t>为目标视图节点集合，终端集合为 </a:t>
                </a:r>
                <a:r>
                  <a:rPr lang="en-US" altLang="zh-CN" sz="1050" dirty="0"/>
                  <a:t>K=B</a:t>
                </a:r>
                <a:r>
                  <a:rPr lang="zh-CN" altLang="en-US" sz="1050" dirty="0"/>
                  <a:t>∪</a:t>
                </a:r>
                <a:r>
                  <a:rPr lang="en-US" altLang="zh-CN" sz="1050" dirty="0"/>
                  <a:t>T</a:t>
                </a:r>
                <a:r>
                  <a:rPr lang="zh-CN" altLang="en-US" sz="1050" dirty="0"/>
                  <a:t>。从候选图中选取覆盖 </a:t>
                </a:r>
                <a:r>
                  <a:rPr lang="en-US" altLang="zh-CN" sz="1050" dirty="0"/>
                  <a:t>K </a:t>
                </a:r>
                <a:r>
                  <a:rPr lang="zh-CN" altLang="en-US" sz="1050" dirty="0"/>
                  <a:t>的计算子图 </a:t>
                </a:r>
                <a:r>
                  <a:rPr lang="en-US" altLang="zh-CN" sz="1050" dirty="0"/>
                  <a:t>P</a:t>
                </a:r>
                <a:r>
                  <a:rPr lang="zh-CN" altLang="en-US" sz="1050" dirty="0"/>
                  <a:t>，使各目标均具有完整的生产结构，每个被使用的非基表节点只保留一种生产方式，且整个执行子图无环。不同目标的计算结构可以相交或独立，整体无须连通。</a:t>
                </a:r>
                <a:endParaRPr lang="en-US" altLang="zh-CN" sz="1050" dirty="0"/>
              </a:p>
              <a:p>
                <a:r>
                  <a:rPr lang="en-US" altLang="zh-CN" sz="1050" b="1" dirty="0"/>
                  <a:t>1</a:t>
                </a:r>
                <a:r>
                  <a:rPr lang="zh-CN" altLang="en-US" sz="1050" b="1" dirty="0"/>
                  <a:t>、动态共享权重驱动的计算子图选择</a:t>
                </a:r>
                <a:endParaRPr lang="zh-CN" altLang="en-US" sz="1050" dirty="0"/>
              </a:p>
              <a:p>
                <a:r>
                  <a:rPr lang="zh-CN" altLang="en-US" sz="1050" dirty="0"/>
                  <a:t>按照“</a:t>
                </a:r>
                <a:r>
                  <a:rPr lang="zh-CN" altLang="en-US" sz="1050" b="1" dirty="0"/>
                  <a:t>高权重优先、竞争分支试算、更新实际可用关系</a:t>
                </a:r>
                <a:r>
                  <a:rPr lang="zh-CN" altLang="en-US" sz="1050" dirty="0"/>
                  <a:t>”进行选择。</a:t>
                </a:r>
                <a:endParaRPr lang="en-US" altLang="zh-CN" sz="1050" dirty="0"/>
              </a:p>
              <a:p>
                <a:r>
                  <a:rPr lang="zh-CN" altLang="en-US" sz="1050" b="1" dirty="0"/>
                  <a:t>动态赋权。</a:t>
                </a:r>
                <a:r>
                  <a:rPr lang="zh-CN" altLang="en-US" sz="1050" dirty="0"/>
                  <a:t> 在已提交的共享要求下，统计各节点仍可服务的不同目标视图数，作为动态共享权重。某个目标视图因路径选择而无法再使用候选节点时，才扣除该目标对候选的权重贡献。例如，确定 </a:t>
                </a:r>
                <a:r>
                  <a:rPr lang="en-US" altLang="zh-CN" sz="1050" dirty="0"/>
                  <a:t>mv1 </a:t>
                </a:r>
                <a:r>
                  <a:rPr lang="zh-CN" altLang="en-US" sz="1050" dirty="0"/>
                  <a:t>使用 </a:t>
                </a:r>
                <a:r>
                  <a:rPr lang="en-US" altLang="zh-CN" sz="1050" dirty="0"/>
                  <a:t>Sf </a:t>
                </a:r>
                <a:r>
                  <a:rPr lang="zh-CN" altLang="en-US" sz="1050" dirty="0"/>
                  <a:t>的聚合路径后，</a:t>
                </a:r>
                <a:r>
                  <a:rPr lang="en-US" altLang="zh-CN" sz="1050" dirty="0"/>
                  <a:t>J123 </a:t>
                </a:r>
                <a:r>
                  <a:rPr lang="zh-CN" altLang="en-US" sz="1050" dirty="0"/>
                  <a:t>就不再服务 </a:t>
                </a:r>
                <a:r>
                  <a:rPr lang="en-US" altLang="zh-CN" sz="1050" dirty="0"/>
                  <a:t>mv1 </a:t>
                </a:r>
                <a:r>
                  <a:rPr lang="zh-CN" altLang="en-US" sz="1050" dirty="0"/>
                  <a:t>。</a:t>
                </a:r>
              </a:p>
              <a:p>
                <a:r>
                  <a:rPr lang="zh-CN" altLang="en-US" sz="1050" b="1" dirty="0"/>
                  <a:t>高权重优先。</a:t>
                </a:r>
                <a:r>
                  <a:rPr lang="zh-CN" altLang="en-US" sz="1050" dirty="0"/>
                  <a:t> 每轮优先尝试动态权重最大的节点。同权重候选不存在竞争时，按固定次序选择；若试选会降低其他候选的权重，则对相关竞争候选进行局部分支试算。</a:t>
                </a:r>
              </a:p>
              <a:p>
                <a:r>
                  <a:rPr lang="zh-CN" altLang="en-US" sz="1050" b="1" dirty="0"/>
                  <a:t>竞争分支试算。</a:t>
                </a:r>
                <a:r>
                  <a:rPr lang="zh-CN" altLang="en-US" sz="1050" dirty="0"/>
                  <a:t> 各分支从同一当前状态出发，分别暂选一个候选，更新权重，再按贪心规则继续选择；无可行共享候选后，补全目标生产方案并清理无用计算，形成完整试算子图。对试算子图 </a:t>
                </a:r>
                <a:r>
                  <a:rPr lang="en-US" altLang="zh-CN" sz="1050" dirty="0"/>
                  <a:t>P</a:t>
                </a:r>
                <a:r>
                  <a:rPr lang="zh-CN" altLang="en-US" sz="1050" dirty="0"/>
                  <a:t>，按实际共享程度评分，其中，</a:t>
                </a:r>
                <a:r>
                  <a:rPr lang="en-US" altLang="zh-CN" sz="1050" dirty="0"/>
                  <a:t> </a:t>
                </a:r>
                <a14:m>
                  <m:oMath xmlns:m="http://schemas.openxmlformats.org/officeDocument/2006/math">
                    <m:r>
                      <a:rPr lang="en-US" altLang="zh-CN" sz="1050" i="1" dirty="0">
                        <a:latin typeface="Cambria Math" panose="02040503050406030204" pitchFamily="18" charset="0"/>
                      </a:rPr>
                      <m:t>𝑟</m:t>
                    </m:r>
                    <m:d>
                      <m:dPr>
                        <m:ctrlPr>
                          <a:rPr lang="en-US" altLang="zh-CN" sz="1050" i="1" dirty="0">
                            <a:latin typeface="Cambria Math" panose="02040503050406030204" pitchFamily="18" charset="0"/>
                          </a:rPr>
                        </m:ctrlPr>
                      </m:dPr>
                      <m:e>
                        <m:r>
                          <a:rPr lang="en-US" altLang="zh-CN" sz="1050" i="1" dirty="0">
                            <a:latin typeface="Cambria Math" panose="02040503050406030204" pitchFamily="18" charset="0"/>
                          </a:rPr>
                          <m:t>𝑣</m:t>
                        </m:r>
                      </m:e>
                    </m:d>
                  </m:oMath>
                </a14:m>
                <a:r>
                  <a:rPr lang="zh-CN" altLang="en-US" sz="1050" dirty="0"/>
                  <a:t>为实际使用节点 </a:t>
                </a:r>
                <a:r>
                  <a:rPr lang="en-US" altLang="zh-CN" sz="1050" dirty="0"/>
                  <a:t>v </a:t>
                </a:r>
                <a:r>
                  <a:rPr lang="zh-CN" altLang="en-US" sz="1050" dirty="0"/>
                  <a:t>的不同目标视图数，优先选择评分较高的结果：</a:t>
                </a:r>
                <a:endParaRPr lang="en-US" altLang="zh-CN" sz="1050" dirty="0"/>
              </a:p>
              <a:p>
                <a:pPr/>
                <a14:m>
                  <m:oMathPara xmlns:m="http://schemas.openxmlformats.org/officeDocument/2006/math">
                    <m:oMathParaPr>
                      <m:jc m:val="centerGroup"/>
                    </m:oMathParaPr>
                    <m:oMath xmlns:m="http://schemas.openxmlformats.org/officeDocument/2006/math">
                      <m:r>
                        <m:rPr>
                          <m:sty m:val="p"/>
                        </m:rPr>
                        <a:rPr lang="en-US" altLang="zh-CN" sz="1050" i="1" dirty="0">
                          <a:latin typeface="Cambria Math" panose="02040503050406030204" pitchFamily="18" charset="0"/>
                        </a:rPr>
                        <m:t>R</m:t>
                      </m:r>
                      <m:d>
                        <m:dPr>
                          <m:ctrlPr>
                            <a:rPr lang="en-US" altLang="zh-CN" sz="1050" b="0" i="1" dirty="0" smtClean="0">
                              <a:latin typeface="Cambria Math" panose="02040503050406030204" pitchFamily="18" charset="0"/>
                            </a:rPr>
                          </m:ctrlPr>
                        </m:dPr>
                        <m:e>
                          <m:r>
                            <m:rPr>
                              <m:sty m:val="p"/>
                            </m:rPr>
                            <a:rPr lang="en-US" altLang="zh-CN" sz="1050" i="1" dirty="0">
                              <a:latin typeface="Cambria Math" panose="02040503050406030204" pitchFamily="18" charset="0"/>
                            </a:rPr>
                            <m:t>P</m:t>
                          </m:r>
                        </m:e>
                      </m:d>
                      <m:r>
                        <a:rPr lang="en-US" altLang="zh-CN" sz="1050" b="0" i="0" dirty="0" smtClean="0">
                          <a:latin typeface="Cambria Math" panose="02040503050406030204" pitchFamily="18" charset="0"/>
                        </a:rPr>
                        <m:t>=</m:t>
                      </m:r>
                      <m:nary>
                        <m:naryPr>
                          <m:chr m:val="∑"/>
                          <m:supHide m:val="on"/>
                          <m:ctrlPr>
                            <a:rPr lang="en-US" altLang="zh-CN" sz="1050" b="0" i="1" dirty="0" smtClean="0">
                              <a:latin typeface="Cambria Math" panose="02040503050406030204" pitchFamily="18" charset="0"/>
                            </a:rPr>
                          </m:ctrlPr>
                        </m:naryPr>
                        <m:sub>
                          <m:r>
                            <m:rPr>
                              <m:brk m:alnAt="7"/>
                            </m:rPr>
                            <a:rPr lang="en-US" altLang="zh-CN" sz="1050" b="0" i="1" dirty="0" smtClean="0">
                              <a:latin typeface="Cambria Math" panose="02040503050406030204" pitchFamily="18" charset="0"/>
                            </a:rPr>
                            <m:t>𝑣</m:t>
                          </m:r>
                          <m:r>
                            <a:rPr lang="en-US" altLang="zh-CN" sz="1050" b="0" i="1" dirty="0" smtClean="0">
                              <a:latin typeface="Cambria Math" panose="02040503050406030204" pitchFamily="18" charset="0"/>
                              <a:ea typeface="Cambria Math" panose="02040503050406030204" pitchFamily="18" charset="0"/>
                            </a:rPr>
                            <m:t>∈</m:t>
                          </m:r>
                          <m:r>
                            <m:rPr>
                              <m:sty m:val="p"/>
                            </m:rPr>
                            <a:rPr lang="en-US" altLang="zh-CN" sz="1050" i="1" dirty="0">
                              <a:latin typeface="Cambria Math" panose="02040503050406030204" pitchFamily="18" charset="0"/>
                              <a:ea typeface="Cambria Math" panose="02040503050406030204" pitchFamily="18" charset="0"/>
                            </a:rPr>
                            <m:t>P</m:t>
                          </m:r>
                        </m:sub>
                        <m:sup/>
                        <m:e>
                          <m:r>
                            <m:rPr>
                              <m:sty m:val="p"/>
                            </m:rPr>
                            <a:rPr lang="en-US" altLang="zh-CN" sz="1050" b="0" i="0" dirty="0" smtClean="0">
                              <a:latin typeface="Cambria Math" panose="02040503050406030204" pitchFamily="18" charset="0"/>
                            </a:rPr>
                            <m:t>max</m:t>
                          </m:r>
                          <m:r>
                            <a:rPr lang="en-US" altLang="zh-CN" sz="1050" b="0" i="1" dirty="0" smtClean="0">
                              <a:latin typeface="Cambria Math" panose="02040503050406030204" pitchFamily="18" charset="0"/>
                            </a:rPr>
                            <m:t>⁡(</m:t>
                          </m:r>
                          <m:r>
                            <a:rPr lang="en-US" altLang="zh-CN" sz="1050" b="0" i="1" dirty="0" smtClean="0">
                              <a:latin typeface="Cambria Math" panose="02040503050406030204" pitchFamily="18" charset="0"/>
                            </a:rPr>
                            <m:t>𝑟</m:t>
                          </m:r>
                          <m:d>
                            <m:dPr>
                              <m:ctrlPr>
                                <a:rPr lang="en-US" altLang="zh-CN" sz="1050" b="0" i="1" dirty="0" smtClean="0">
                                  <a:latin typeface="Cambria Math" panose="02040503050406030204" pitchFamily="18" charset="0"/>
                                </a:rPr>
                              </m:ctrlPr>
                            </m:dPr>
                            <m:e>
                              <m:r>
                                <a:rPr lang="en-US" altLang="zh-CN" sz="1050" b="0" i="1" dirty="0" smtClean="0">
                                  <a:latin typeface="Cambria Math" panose="02040503050406030204" pitchFamily="18" charset="0"/>
                                </a:rPr>
                                <m:t>𝑣</m:t>
                              </m:r>
                            </m:e>
                          </m:d>
                          <m:r>
                            <a:rPr lang="en-US" altLang="zh-CN" sz="1050" b="0" i="1" dirty="0" smtClean="0">
                              <a:latin typeface="Cambria Math" panose="02040503050406030204" pitchFamily="18" charset="0"/>
                            </a:rPr>
                            <m:t>−1,0)</m:t>
                          </m:r>
                        </m:e>
                      </m:nary>
                    </m:oMath>
                  </m:oMathPara>
                </a14:m>
                <a:endParaRPr lang="en-US" altLang="zh-CN" sz="1050" dirty="0"/>
              </a:p>
              <a:p>
                <a:r>
                  <a:rPr lang="zh-CN" altLang="en-US" sz="1050" b="1" dirty="0"/>
                  <a:t>示例。</a:t>
                </a:r>
                <a:r>
                  <a:rPr lang="zh-CN" altLang="en-US" sz="1050" dirty="0"/>
                  <a:t> </a:t>
                </a:r>
                <a:r>
                  <a:rPr lang="en-US" altLang="zh-CN" sz="1050" dirty="0"/>
                  <a:t>F</a:t>
                </a:r>
                <a:r>
                  <a:rPr lang="zh-CN" altLang="en-US" sz="1050" dirty="0"/>
                  <a:t>、</a:t>
                </a:r>
                <a:r>
                  <a:rPr lang="en-US" altLang="zh-CN" sz="1050" dirty="0"/>
                  <a:t>J23 </a:t>
                </a:r>
                <a:r>
                  <a:rPr lang="zh-CN" altLang="en-US" sz="1050" dirty="0"/>
                  <a:t>的权重均为 </a:t>
                </a:r>
                <a:r>
                  <a:rPr lang="en-US" altLang="zh-CN" sz="1050" dirty="0"/>
                  <a:t>3</a:t>
                </a:r>
                <a:r>
                  <a:rPr lang="zh-CN" altLang="en-US" sz="1050" dirty="0"/>
                  <a:t>，先依次选择，且仍保留后续替代路径。随后 </a:t>
                </a:r>
                <a:r>
                  <a:rPr lang="en-US" altLang="zh-CN" sz="1050" dirty="0"/>
                  <a:t>J123</a:t>
                </a:r>
                <a:r>
                  <a:rPr lang="zh-CN" altLang="en-US" sz="1050" dirty="0"/>
                  <a:t>、</a:t>
                </a:r>
                <a:r>
                  <a:rPr lang="en-US" altLang="zh-CN" sz="1050" dirty="0"/>
                  <a:t>Sf</a:t>
                </a:r>
                <a:r>
                  <a:rPr lang="zh-CN" altLang="en-US" sz="1050" dirty="0"/>
                  <a:t>、</a:t>
                </a:r>
                <a:r>
                  <a:rPr lang="en-US" altLang="zh-CN" sz="1050" dirty="0"/>
                  <a:t>mv3 </a:t>
                </a:r>
                <a:r>
                  <a:rPr lang="zh-CN" altLang="en-US" sz="1050" dirty="0"/>
                  <a:t>的权重均为 </a:t>
                </a:r>
                <a:r>
                  <a:rPr lang="en-US" altLang="zh-CN" sz="1050" dirty="0"/>
                  <a:t>2</a:t>
                </a:r>
                <a:r>
                  <a:rPr lang="zh-CN" altLang="en-US" sz="1050" dirty="0"/>
                  <a:t>：先选 </a:t>
                </a:r>
                <a:r>
                  <a:rPr lang="en-US" altLang="zh-CN" sz="1050" dirty="0"/>
                  <a:t>J123</a:t>
                </a:r>
                <a:r>
                  <a:rPr lang="zh-CN" altLang="en-US" sz="1050" dirty="0"/>
                  <a:t>，将其供 </a:t>
                </a:r>
                <a:r>
                  <a:rPr lang="en-US" altLang="zh-CN" sz="1050" dirty="0"/>
                  <a:t>mv1</a:t>
                </a:r>
                <a:r>
                  <a:rPr lang="zh-CN" altLang="en-US" sz="1050" dirty="0"/>
                  <a:t>、</a:t>
                </a:r>
                <a:r>
                  <a:rPr lang="en-US" altLang="zh-CN" sz="1050" dirty="0"/>
                  <a:t>mv4 </a:t>
                </a:r>
                <a:r>
                  <a:rPr lang="zh-CN" altLang="en-US" sz="1050" dirty="0"/>
                  <a:t>使用，</a:t>
                </a:r>
                <a:r>
                  <a:rPr lang="en-US" altLang="zh-CN" sz="1050" dirty="0"/>
                  <a:t>Sf </a:t>
                </a:r>
                <a:r>
                  <a:rPr lang="zh-CN" altLang="en-US" sz="1050" dirty="0"/>
                  <a:t>与 </a:t>
                </a:r>
                <a:r>
                  <a:rPr lang="en-US" altLang="zh-CN" sz="1050" dirty="0"/>
                  <a:t>mv3 </a:t>
                </a:r>
                <a:r>
                  <a:rPr lang="zh-CN" altLang="en-US" sz="1050" dirty="0"/>
                  <a:t>的权重均降为 </a:t>
                </a:r>
                <a:r>
                  <a:rPr lang="en-US" altLang="zh-CN" sz="1050" dirty="0"/>
                  <a:t>1</a:t>
                </a:r>
                <a:r>
                  <a:rPr lang="zh-CN" altLang="en-US" sz="1050" dirty="0"/>
                  <a:t>；先选 </a:t>
                </a:r>
                <a:r>
                  <a:rPr lang="en-US" altLang="zh-CN" sz="1050" dirty="0"/>
                  <a:t>Sf</a:t>
                </a:r>
                <a:r>
                  <a:rPr lang="zh-CN" altLang="en-US" sz="1050" dirty="0"/>
                  <a:t>，则 </a:t>
                </a:r>
                <a:r>
                  <a:rPr lang="en-US" altLang="zh-CN" sz="1050" dirty="0"/>
                  <a:t>J123 </a:t>
                </a:r>
                <a:r>
                  <a:rPr lang="zh-CN" altLang="en-US" sz="1050" dirty="0"/>
                  <a:t>失去 </a:t>
                </a:r>
                <a:r>
                  <a:rPr lang="en-US" altLang="zh-CN" sz="1050" dirty="0"/>
                  <a:t>mv1</a:t>
                </a:r>
                <a:r>
                  <a:rPr lang="zh-CN" altLang="en-US" sz="1050" dirty="0"/>
                  <a:t>，而 </a:t>
                </a:r>
                <a:r>
                  <a:rPr lang="en-US" altLang="zh-CN" sz="1050" dirty="0"/>
                  <a:t>mv3 </a:t>
                </a:r>
                <a:r>
                  <a:rPr lang="zh-CN" altLang="en-US" sz="1050" dirty="0"/>
                  <a:t>仍可服务自身及 </a:t>
                </a:r>
                <a:r>
                  <a:rPr lang="en-US" altLang="zh-CN" sz="1050" dirty="0"/>
                  <a:t>mv4</a:t>
                </a:r>
                <a:r>
                  <a:rPr lang="zh-CN" altLang="en-US" sz="1050" dirty="0"/>
                  <a:t>，因此可以继续选择 </a:t>
                </a:r>
                <a:r>
                  <a:rPr lang="en-US" altLang="zh-CN" sz="1050" dirty="0"/>
                  <a:t>mv3</a:t>
                </a:r>
                <a:r>
                  <a:rPr lang="zh-CN" altLang="en-US" sz="1050" dirty="0"/>
                  <a:t>。从 </a:t>
                </a:r>
                <a:r>
                  <a:rPr lang="en-US" altLang="zh-CN" sz="1050" dirty="0"/>
                  <a:t>mv3 </a:t>
                </a:r>
                <a:r>
                  <a:rPr lang="zh-CN" altLang="en-US" sz="1050" dirty="0"/>
                  <a:t>开始也可得到后者的共享组合。两类结果的共享评分分别为 </a:t>
                </a:r>
                <a:r>
                  <a:rPr lang="en-US" altLang="zh-CN" sz="1050" dirty="0"/>
                  <a:t>5 </a:t>
                </a:r>
                <a:r>
                  <a:rPr lang="zh-CN" altLang="en-US" sz="1050" dirty="0"/>
                  <a:t>和 </a:t>
                </a:r>
                <a:r>
                  <a:rPr lang="en-US" altLang="zh-CN" sz="1050" dirty="0"/>
                  <a:t>6</a:t>
                </a:r>
                <a:r>
                  <a:rPr lang="zh-CN" altLang="en-US" sz="1050" dirty="0"/>
                  <a:t>，因此采用 </a:t>
                </a:r>
                <a:r>
                  <a:rPr lang="en-US" altLang="zh-CN" sz="1050" dirty="0"/>
                  <a:t>Sf</a:t>
                </a:r>
                <a:r>
                  <a:rPr lang="zh-CN" altLang="en-US" sz="1050" dirty="0"/>
                  <a:t>、</a:t>
                </a:r>
                <a:r>
                  <a:rPr lang="en-US" altLang="zh-CN" sz="1050" dirty="0"/>
                  <a:t>MV3 </a:t>
                </a:r>
                <a:r>
                  <a:rPr lang="zh-CN" altLang="en-US" sz="1050" dirty="0"/>
                  <a:t>的组合。</a:t>
                </a:r>
                <a:endParaRPr lang="en-US" altLang="zh-CN" sz="1050" dirty="0"/>
              </a:p>
              <a:p>
                <a:endParaRPr lang="en-US" altLang="zh-CN" sz="1050" dirty="0"/>
              </a:p>
              <a:p>
                <a:endParaRPr lang="en-US" altLang="zh-CN" sz="1050" dirty="0"/>
              </a:p>
              <a:p>
                <a:endParaRPr lang="en-US" altLang="zh-CN" sz="1050" dirty="0"/>
              </a:p>
              <a:p>
                <a:endParaRPr lang="en-US" altLang="zh-CN" sz="1050" dirty="0"/>
              </a:p>
              <a:p>
                <a:endParaRPr lang="en-US" altLang="zh-CN" sz="1050" b="1" dirty="0"/>
              </a:p>
              <a:p>
                <a:endParaRPr lang="en-US" altLang="zh-CN" sz="1050" b="1" dirty="0"/>
              </a:p>
              <a:p>
                <a:endParaRPr lang="en-US" altLang="zh-CN" sz="1050" b="1" dirty="0"/>
              </a:p>
              <a:p>
                <a:endParaRPr lang="en-US" altLang="zh-CN" sz="1050" b="1" dirty="0"/>
              </a:p>
              <a:p>
                <a:r>
                  <a:rPr lang="en-US" altLang="zh-CN" sz="1050" b="1" dirty="0"/>
                  <a:t>2</a:t>
                </a:r>
                <a:r>
                  <a:rPr lang="zh-CN" altLang="en-US" sz="1050" b="1" dirty="0"/>
                  <a:t>、基于增量代价的中间物化选择</a:t>
                </a:r>
                <a:endParaRPr lang="en-US" altLang="zh-CN" sz="1050" b="1" dirty="0"/>
              </a:p>
              <a:p>
                <a:r>
                  <a:rPr lang="zh-CN" altLang="en-US" sz="1050" dirty="0"/>
                  <a:t>子图选择确定实际生产路径和消费者关系，公共节点表示可以复用的计算，</a:t>
                </a:r>
                <a:r>
                  <a:rPr lang="zh-CN" altLang="en-US" sz="1050" b="1" dirty="0"/>
                  <a:t>是否将其物化</a:t>
                </a:r>
                <a:r>
                  <a:rPr lang="zh-CN" altLang="en-US" sz="1050" dirty="0"/>
                  <a:t>，还需比较维护与读取成本。设节点 </a:t>
                </a:r>
                <a:r>
                  <a:rPr lang="en-US" altLang="zh-CN" sz="1050" dirty="0"/>
                  <a:t>v </a:t>
                </a:r>
                <a:r>
                  <a:rPr lang="zh-CN" altLang="en-US" sz="1050" dirty="0"/>
                  <a:t>有 </a:t>
                </a:r>
                <a:r>
                  <a:rPr lang="en-US" altLang="zh-CN" sz="1050" dirty="0"/>
                  <a:t>n </a:t>
                </a:r>
                <a:r>
                  <a:rPr lang="zh-CN" altLang="en-US" sz="1050" dirty="0"/>
                  <a:t>个实际消费者，在同一维护窗口内：</a:t>
                </a:r>
                <a:endParaRPr lang="en-US" altLang="zh-CN" sz="1050" dirty="0"/>
              </a:p>
              <a:p>
                <a:pPr algn="ctr"/>
                <a:r>
                  <a:rPr lang="en-US" altLang="zh-CN" sz="1050" dirty="0"/>
                  <a:t> </a:t>
                </a:r>
                <a14:m>
                  <m:oMath xmlns:m="http://schemas.openxmlformats.org/officeDocument/2006/math">
                    <m:sSub>
                      <m:sSubPr>
                        <m:ctrlPr>
                          <a:rPr lang="en-US" altLang="zh-CN" sz="1050" i="1" smtClean="0">
                            <a:latin typeface="Cambria Math" panose="02040503050406030204" pitchFamily="18" charset="0"/>
                          </a:rPr>
                        </m:ctrlPr>
                      </m:sSubPr>
                      <m:e>
                        <m:r>
                          <m:rPr>
                            <m:sty m:val="p"/>
                          </m:rPr>
                          <a:rPr lang="en-US" altLang="zh-CN" sz="1050" i="1">
                            <a:latin typeface="Cambria Math" panose="02040503050406030204" pitchFamily="18" charset="0"/>
                          </a:rPr>
                          <m:t>C</m:t>
                        </m:r>
                      </m:e>
                      <m:sub>
                        <m:r>
                          <m:rPr>
                            <m:sty m:val="p"/>
                          </m:rPr>
                          <a:rPr lang="en-US" altLang="zh-CN" sz="1050" i="1">
                            <a:latin typeface="Cambria Math" panose="02040503050406030204" pitchFamily="18" charset="0"/>
                          </a:rPr>
                          <m:t>compute</m:t>
                        </m:r>
                      </m:sub>
                    </m:sSub>
                    <m:r>
                      <a:rPr lang="en-US" altLang="zh-CN" sz="1050" b="0" i="1" smtClean="0">
                        <a:latin typeface="Cambria Math" panose="02040503050406030204" pitchFamily="18" charset="0"/>
                      </a:rPr>
                      <m:t>=</m:t>
                    </m:r>
                    <m:r>
                      <m:rPr>
                        <m:sty m:val="p"/>
                      </m:rPr>
                      <a:rPr lang="en-US" altLang="zh-CN" sz="1050" b="0" i="0" smtClean="0">
                        <a:latin typeface="Cambria Math" panose="02040503050406030204" pitchFamily="18" charset="0"/>
                      </a:rPr>
                      <m:t>n</m:t>
                    </m:r>
                    <m:r>
                      <a:rPr lang="en-US" altLang="zh-CN" sz="1050" i="1">
                        <a:latin typeface="Cambria Math" panose="02040503050406030204" pitchFamily="18" charset="0"/>
                        <a:ea typeface="Cambria Math" panose="02040503050406030204" pitchFamily="18" charset="0"/>
                      </a:rPr>
                      <m:t>×</m:t>
                    </m:r>
                    <m:d>
                      <m:dPr>
                        <m:ctrlPr>
                          <a:rPr lang="en-US" altLang="zh-CN" sz="1050" b="0" i="1" smtClean="0">
                            <a:latin typeface="Cambria Math" panose="02040503050406030204" pitchFamily="18" charset="0"/>
                            <a:ea typeface="Cambria Math" panose="02040503050406030204" pitchFamily="18" charset="0"/>
                          </a:rPr>
                        </m:ctrlPr>
                      </m:dPr>
                      <m:e>
                        <m:sSub>
                          <m:sSubPr>
                            <m:ctrlPr>
                              <a:rPr lang="en-US" altLang="zh-CN" sz="1050" b="0" i="1" smtClean="0">
                                <a:latin typeface="Cambria Math" panose="02040503050406030204" pitchFamily="18" charset="0"/>
                                <a:ea typeface="Cambria Math" panose="02040503050406030204" pitchFamily="18" charset="0"/>
                              </a:rPr>
                            </m:ctrlPr>
                          </m:sSubPr>
                          <m:e>
                            <m:r>
                              <m:rPr>
                                <m:sty m:val="p"/>
                              </m:rPr>
                              <a:rPr lang="en-US" altLang="zh-CN" sz="1050" b="0" i="0" smtClean="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input</m:t>
                            </m:r>
                          </m:sub>
                        </m:sSub>
                        <m:r>
                          <a:rPr lang="en-US" altLang="zh-CN" sz="1050" b="0" i="0" smtClean="0">
                            <a:latin typeface="Cambria Math" panose="02040503050406030204" pitchFamily="18" charset="0"/>
                            <a:ea typeface="Cambria Math" panose="02040503050406030204" pitchFamily="18" charset="0"/>
                          </a:rPr>
                          <m:t> +</m:t>
                        </m:r>
                        <m:sSub>
                          <m:sSubPr>
                            <m:ctrlPr>
                              <a:rPr lang="en-US" altLang="zh-CN" sz="1050" b="0" i="1" smtClean="0">
                                <a:latin typeface="Cambria Math" panose="02040503050406030204" pitchFamily="18" charset="0"/>
                                <a:ea typeface="Cambria Math" panose="02040503050406030204" pitchFamily="18" charset="0"/>
                              </a:rPr>
                            </m:ctrlPr>
                          </m:sSubPr>
                          <m:e>
                            <m:r>
                              <m:rPr>
                                <m:sty m:val="p"/>
                              </m:rPr>
                              <a:rPr lang="en-US" altLang="zh-CN" sz="1050" b="0" i="0" smtClean="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calc</m:t>
                            </m:r>
                          </m:sub>
                        </m:sSub>
                      </m:e>
                    </m:d>
                    <m:r>
                      <a:rPr lang="en-US" altLang="zh-CN" sz="1050" b="0" i="1" smtClean="0">
                        <a:latin typeface="Cambria Math" panose="02040503050406030204" pitchFamily="18" charset="0"/>
                        <a:ea typeface="Cambria Math" panose="02040503050406030204" pitchFamily="18" charset="0"/>
                      </a:rPr>
                      <m:t> </m:t>
                    </m:r>
                  </m:oMath>
                </a14:m>
                <a:r>
                  <a:rPr lang="en-US" altLang="zh-CN" sz="1050" b="0" i="1" dirty="0">
                    <a:latin typeface="Cambria Math" panose="02040503050406030204" pitchFamily="18" charset="0"/>
                    <a:ea typeface="Cambria Math" panose="02040503050406030204" pitchFamily="18" charset="0"/>
                  </a:rPr>
                  <a:t> </a:t>
                </a:r>
                <a:r>
                  <a:rPr lang="en-US" altLang="zh-CN" sz="1050" i="1" dirty="0">
                    <a:latin typeface="Cambria Math" panose="02040503050406030204" pitchFamily="18" charset="0"/>
                    <a:ea typeface="Cambria Math" panose="02040503050406030204" pitchFamily="18" charset="0"/>
                  </a:rPr>
                  <a:t>, </a:t>
                </a:r>
                <a:r>
                  <a:rPr lang="en-US" altLang="zh-CN" sz="1050" dirty="0"/>
                  <a:t> </a:t>
                </a:r>
                <a14:m>
                  <m:oMath xmlns:m="http://schemas.openxmlformats.org/officeDocument/2006/math">
                    <m:sSub>
                      <m:sSubPr>
                        <m:ctrlPr>
                          <a:rPr lang="en-US" altLang="zh-CN" sz="1050" i="1">
                            <a:latin typeface="Cambria Math" panose="02040503050406030204" pitchFamily="18" charset="0"/>
                          </a:rPr>
                        </m:ctrlPr>
                      </m:sSubPr>
                      <m:e>
                        <m:r>
                          <m:rPr>
                            <m:sty m:val="p"/>
                          </m:rPr>
                          <a:rPr lang="en-US" altLang="zh-CN" sz="1050" i="0">
                            <a:latin typeface="Cambria Math" panose="02040503050406030204" pitchFamily="18" charset="0"/>
                          </a:rPr>
                          <m:t>C</m:t>
                        </m:r>
                      </m:e>
                      <m:sub>
                        <m:r>
                          <m:rPr>
                            <m:sty m:val="p"/>
                          </m:rPr>
                          <a:rPr lang="en-US" altLang="zh-CN" sz="1050" b="0" i="0" smtClean="0">
                            <a:latin typeface="Cambria Math" panose="02040503050406030204" pitchFamily="18" charset="0"/>
                          </a:rPr>
                          <m:t>share</m:t>
                        </m:r>
                      </m:sub>
                    </m:sSub>
                    <m:r>
                      <a:rPr lang="en-US" altLang="zh-CN" sz="1050" i="0">
                        <a:latin typeface="Cambria Math" panose="02040503050406030204" pitchFamily="18" charset="0"/>
                      </a:rPr>
                      <m:t>=</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i="0">
                            <a:latin typeface="Cambria Math" panose="02040503050406030204" pitchFamily="18" charset="0"/>
                            <a:ea typeface="Cambria Math" panose="02040503050406030204" pitchFamily="18" charset="0"/>
                          </a:rPr>
                          <m:t>input</m:t>
                        </m:r>
                      </m:sub>
                    </m:sSub>
                    <m:r>
                      <a:rPr lang="en-US" altLang="zh-CN" sz="1050" i="0">
                        <a:latin typeface="Cambria Math" panose="02040503050406030204" pitchFamily="18" charset="0"/>
                        <a:ea typeface="Cambria Math" panose="02040503050406030204" pitchFamily="18" charset="0"/>
                      </a:rPr>
                      <m:t> +</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i="0">
                            <a:latin typeface="Cambria Math" panose="02040503050406030204" pitchFamily="18" charset="0"/>
                            <a:ea typeface="Cambria Math" panose="02040503050406030204" pitchFamily="18" charset="0"/>
                          </a:rPr>
                          <m:t>calc</m:t>
                        </m:r>
                      </m:sub>
                    </m:sSub>
                    <m:r>
                      <a:rPr lang="en-US" altLang="zh-CN" sz="1050" b="0" i="0" smtClean="0">
                        <a:latin typeface="Cambria Math" panose="02040503050406030204" pitchFamily="18" charset="0"/>
                        <a:ea typeface="Cambria Math" panose="02040503050406030204" pitchFamily="18" charset="0"/>
                      </a:rPr>
                      <m:t>+</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update</m:t>
                        </m:r>
                      </m:sub>
                    </m:sSub>
                    <m:r>
                      <a:rPr lang="en-US" altLang="zh-CN" sz="1050" b="0" i="0" smtClean="0">
                        <a:latin typeface="Cambria Math" panose="02040503050406030204" pitchFamily="18" charset="0"/>
                        <a:ea typeface="Cambria Math" panose="02040503050406030204" pitchFamily="18" charset="0"/>
                      </a:rPr>
                      <m:t>+</m:t>
                    </m:r>
                    <m:r>
                      <m:rPr>
                        <m:sty m:val="p"/>
                      </m:rPr>
                      <a:rPr lang="en-US" altLang="zh-CN" sz="1050" i="0">
                        <a:latin typeface="Cambria Math" panose="02040503050406030204" pitchFamily="18" charset="0"/>
                      </a:rPr>
                      <m:t>n</m:t>
                    </m:r>
                    <m:r>
                      <a:rPr lang="en-US" altLang="zh-CN" sz="1050" i="0">
                        <a:latin typeface="Cambria Math" panose="02040503050406030204" pitchFamily="18" charset="0"/>
                        <a:ea typeface="Cambria Math" panose="02040503050406030204" pitchFamily="18" charset="0"/>
                      </a:rPr>
                      <m:t>×</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read</m:t>
                        </m:r>
                      </m:sub>
                    </m:sSub>
                  </m:oMath>
                </a14:m>
                <a:endParaRPr lang="en-US" altLang="zh-CN" sz="1050" dirty="0"/>
              </a:p>
              <a:p>
                <a:r>
                  <a:rPr lang="zh-CN" altLang="en-US" sz="1050" dirty="0"/>
                  <a:t>其中，</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input</m:t>
                        </m:r>
                      </m:sub>
                    </m:sSub>
                  </m:oMath>
                </a14:m>
                <a:r>
                  <a:rPr lang="zh-CN" altLang="en-US" sz="1050" dirty="0"/>
                  <a:t>为生成中间增量所需的输入访问成本，含增量日志及基表状态读取；</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calc</m:t>
                        </m:r>
                      </m:sub>
                    </m:sSub>
                  </m:oMath>
                </a14:m>
                <a:r>
                  <a:rPr lang="zh-CN" altLang="en-US" sz="1050" dirty="0"/>
                  <a:t>为计算成本；</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update</m:t>
                        </m:r>
                      </m:sub>
                    </m:sSub>
                  </m:oMath>
                </a14:m>
                <a:r>
                  <a:rPr lang="zh-CN" altLang="en-US" sz="1050" dirty="0"/>
                  <a:t>为增量结果物化成本；</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read</m:t>
                        </m:r>
                      </m:sub>
                    </m:sSub>
                  </m:oMath>
                </a14:m>
                <a:r>
                  <a:rPr lang="zh-CN" altLang="en-US" sz="1050" dirty="0"/>
                  <a:t>为消费者读取所需增量或状态的成本。</a:t>
                </a:r>
                <a:endParaRPr lang="en-US" altLang="zh-CN" sz="1050" b="1" dirty="0"/>
              </a:p>
              <a:p>
                <a:r>
                  <a:rPr lang="zh-CN" altLang="en-US" sz="1050" b="1" dirty="0"/>
                  <a:t>代价获取</a:t>
                </a:r>
                <a:r>
                  <a:rPr lang="zh-CN" altLang="en-US" sz="1050" dirty="0"/>
                  <a:t>。复用数据库内部代价模型，对独立计算与共享维护两种执行方案进行估价。针对未来增量规模和分布未知的问题，按照预设增量比例对基表采样。</a:t>
                </a:r>
                <a:endParaRPr lang="en-US" altLang="zh-CN" sz="1050" dirty="0"/>
              </a:p>
              <a:p>
                <a:r>
                  <a:rPr lang="zh-CN" altLang="en-US" sz="1050" dirty="0"/>
                  <a:t>逐步采用具有正收益的中间物化候选，并更新受影响的成本。最后按照所选子图的依赖顺序生成 </a:t>
                </a:r>
                <a:r>
                  <a:rPr lang="en-US" altLang="zh-CN" sz="1050" dirty="0"/>
                  <a:t>pipeline</a:t>
                </a:r>
                <a:r>
                  <a:rPr lang="zh-CN" altLang="en-US" sz="1050" dirty="0"/>
                  <a:t>。允许不启用任何额外中间物化共享，例如，</a:t>
                </a:r>
                <a:r>
                  <a:rPr lang="en-US" altLang="zh-CN" sz="1050" dirty="0"/>
                  <a:t> join(B,C) </a:t>
                </a:r>
                <a:r>
                  <a:rPr lang="zh-CN" altLang="en-US" sz="1050" dirty="0"/>
                  <a:t>统一维护和读取更便宜时才物化，否则由 </a:t>
                </a:r>
                <a:r>
                  <a:rPr lang="en-US" altLang="zh-CN" sz="1050" dirty="0"/>
                  <a:t>join(A,B,C) </a:t>
                </a:r>
                <a:r>
                  <a:rPr lang="zh-CN" altLang="en-US" sz="1050" dirty="0"/>
                  <a:t>、</a:t>
                </a:r>
                <a:r>
                  <a:rPr lang="en-US" altLang="zh-CN" sz="1050" dirty="0"/>
                  <a:t> join(B,C,D) </a:t>
                </a:r>
                <a:r>
                  <a:rPr lang="zh-CN" altLang="en-US" sz="1050" dirty="0"/>
                  <a:t>分别计算。</a:t>
                </a:r>
                <a:endParaRPr lang="en-US" altLang="zh-CN" sz="1050" dirty="0"/>
              </a:p>
            </p:txBody>
          </p:sp>
        </mc:Choice>
        <mc:Fallback xmlns="">
          <p:sp>
            <p:nvSpPr>
              <p:cNvPr id="5" name="文本框 4">
                <a:extLst>
                  <a:ext uri="{FF2B5EF4-FFF2-40B4-BE49-F238E27FC236}">
                    <a16:creationId xmlns:a16="http://schemas.microsoft.com/office/drawing/2014/main" id="{267EAAC3-E1D4-AD2A-37F0-B19031A7FF43}"/>
                  </a:ext>
                </a:extLst>
              </p:cNvPr>
              <p:cNvSpPr txBox="1">
                <a:spLocks noRot="1" noChangeAspect="1" noMove="1" noResize="1" noEditPoints="1" noAdjustHandles="1" noChangeArrowheads="1" noChangeShapeType="1" noTextEdit="1"/>
              </p:cNvSpPr>
              <p:nvPr/>
            </p:nvSpPr>
            <p:spPr>
              <a:xfrm>
                <a:off x="6109786" y="402561"/>
                <a:ext cx="6097248" cy="6679457"/>
              </a:xfrm>
              <a:prstGeom prst="rect">
                <a:avLst/>
              </a:prstGeom>
              <a:blipFill>
                <a:blip r:embed="rId2"/>
                <a:stretch>
                  <a:fillRect r="-1800"/>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0A4565CF-D614-FE6D-FC0A-4BFC49C6751B}"/>
              </a:ext>
            </a:extLst>
          </p:cNvPr>
          <p:cNvSpPr txBox="1"/>
          <p:nvPr/>
        </p:nvSpPr>
        <p:spPr>
          <a:xfrm>
            <a:off x="2971798" y="87574"/>
            <a:ext cx="6097248" cy="369332"/>
          </a:xfrm>
          <a:prstGeom prst="rect">
            <a:avLst/>
          </a:prstGeom>
          <a:noFill/>
        </p:spPr>
        <p:txBody>
          <a:bodyPr wrap="square">
            <a:spAutoFit/>
          </a:bodyPr>
          <a:lstStyle/>
          <a:p>
            <a:r>
              <a:rPr lang="zh-CN" altLang="en-US" b="1" dirty="0"/>
              <a:t>基于统一计算图与增量代价的物化视图协同维护方案</a:t>
            </a:r>
          </a:p>
        </p:txBody>
      </p:sp>
      <p:pic>
        <p:nvPicPr>
          <p:cNvPr id="10" name="图片 9">
            <a:extLst>
              <a:ext uri="{FF2B5EF4-FFF2-40B4-BE49-F238E27FC236}">
                <a16:creationId xmlns:a16="http://schemas.microsoft.com/office/drawing/2014/main" id="{63FCBA0B-49FB-3157-989E-F845365795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7189" y="5192204"/>
            <a:ext cx="4959074" cy="1241290"/>
          </a:xfrm>
          <a:prstGeom prst="rect">
            <a:avLst/>
          </a:prstGeom>
        </p:spPr>
      </p:pic>
      <p:graphicFrame>
        <p:nvGraphicFramePr>
          <p:cNvPr id="12" name="表格 11">
            <a:extLst>
              <a:ext uri="{FF2B5EF4-FFF2-40B4-BE49-F238E27FC236}">
                <a16:creationId xmlns:a16="http://schemas.microsoft.com/office/drawing/2014/main" id="{7E86C22E-FCF7-F1C9-246A-40AA80A95910}"/>
              </a:ext>
            </a:extLst>
          </p:cNvPr>
          <p:cNvGraphicFramePr>
            <a:graphicFrameLocks noGrp="1"/>
          </p:cNvGraphicFramePr>
          <p:nvPr>
            <p:extLst>
              <p:ext uri="{D42A27DB-BD31-4B8C-83A1-F6EECF244321}">
                <p14:modId xmlns:p14="http://schemas.microsoft.com/office/powerpoint/2010/main" val="47849647"/>
              </p:ext>
            </p:extLst>
          </p:nvPr>
        </p:nvGraphicFramePr>
        <p:xfrm>
          <a:off x="328726" y="4041157"/>
          <a:ext cx="5076000" cy="487680"/>
        </p:xfrm>
        <a:graphic>
          <a:graphicData uri="http://schemas.openxmlformats.org/drawingml/2006/table">
            <a:tbl>
              <a:tblPr firstRow="1" bandRow="1">
                <a:tableStyleId>{5C22544A-7EE6-4342-B048-85BDC9FD1C3A}</a:tableStyleId>
              </a:tblPr>
              <a:tblGrid>
                <a:gridCol w="756000">
                  <a:extLst>
                    <a:ext uri="{9D8B030D-6E8A-4147-A177-3AD203B41FA5}">
                      <a16:colId xmlns:a16="http://schemas.microsoft.com/office/drawing/2014/main" val="2113271808"/>
                    </a:ext>
                  </a:extLst>
                </a:gridCol>
                <a:gridCol w="1080000">
                  <a:extLst>
                    <a:ext uri="{9D8B030D-6E8A-4147-A177-3AD203B41FA5}">
                      <a16:colId xmlns:a16="http://schemas.microsoft.com/office/drawing/2014/main" val="2145730743"/>
                    </a:ext>
                  </a:extLst>
                </a:gridCol>
                <a:gridCol w="1080000">
                  <a:extLst>
                    <a:ext uri="{9D8B030D-6E8A-4147-A177-3AD203B41FA5}">
                      <a16:colId xmlns:a16="http://schemas.microsoft.com/office/drawing/2014/main" val="1128697198"/>
                    </a:ext>
                  </a:extLst>
                </a:gridCol>
                <a:gridCol w="1080000">
                  <a:extLst>
                    <a:ext uri="{9D8B030D-6E8A-4147-A177-3AD203B41FA5}">
                      <a16:colId xmlns:a16="http://schemas.microsoft.com/office/drawing/2014/main" val="3154945172"/>
                    </a:ext>
                  </a:extLst>
                </a:gridCol>
                <a:gridCol w="1080000">
                  <a:extLst>
                    <a:ext uri="{9D8B030D-6E8A-4147-A177-3AD203B41FA5}">
                      <a16:colId xmlns:a16="http://schemas.microsoft.com/office/drawing/2014/main" val="864541062"/>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dirty="0">
                          <a:solidFill>
                            <a:schemeClr val="tx1"/>
                          </a:solidFill>
                        </a:rPr>
                        <a:t>目标视图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rPr>
                        <a:t>mv1</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00" dirty="0">
                          <a:solidFill>
                            <a:schemeClr val="tx1"/>
                          </a:solidFill>
                        </a:rPr>
                        <a:t>mv2</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00" dirty="0">
                          <a:solidFill>
                            <a:schemeClr val="tx1"/>
                          </a:solidFill>
                        </a:rPr>
                        <a:t>mv3</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00" dirty="0">
                          <a:solidFill>
                            <a:schemeClr val="tx1"/>
                          </a:solidFill>
                        </a:rPr>
                        <a:t>mv4</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565725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dirty="0">
                          <a:solidFill>
                            <a:schemeClr val="tx1"/>
                          </a:solidFill>
                        </a:rPr>
                        <a:t>定义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rPr>
                        <a:t>SUM(F</a:t>
                      </a:r>
                      <a:r>
                        <a:rPr lang="en-US" altLang="zh-CN" sz="1000" dirty="0">
                          <a:solidFill>
                            <a:schemeClr val="tx1"/>
                          </a:solidFill>
                          <a:latin typeface="Cambria" panose="02040503050406030204" pitchFamily="18" charset="0"/>
                          <a:ea typeface="Cambria" panose="02040503050406030204" pitchFamily="18" charset="0"/>
                        </a:rPr>
                        <a:t>⋈t2⋈t3)</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rPr>
                        <a:t>AVG(F</a:t>
                      </a:r>
                      <a:r>
                        <a:rPr lang="en-US" altLang="zh-CN" sz="1000" dirty="0">
                          <a:solidFill>
                            <a:schemeClr val="tx1"/>
                          </a:solidFill>
                          <a:latin typeface="Cambria" panose="02040503050406030204" pitchFamily="18" charset="0"/>
                          <a:ea typeface="Cambria" panose="02040503050406030204" pitchFamily="18" charset="0"/>
                        </a:rPr>
                        <a:t>)</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latin typeface="Cambria" panose="02040503050406030204" pitchFamily="18" charset="0"/>
                          <a:ea typeface="Cambria" panose="02040503050406030204" pitchFamily="18" charset="0"/>
                        </a:rPr>
                        <a:t>t2⋈t3⋈t4</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rPr>
                        <a:t>F</a:t>
                      </a:r>
                      <a:r>
                        <a:rPr lang="en-US" altLang="zh-CN" sz="1000" dirty="0">
                          <a:solidFill>
                            <a:schemeClr val="tx1"/>
                          </a:solidFill>
                          <a:latin typeface="Cambria" panose="02040503050406030204" pitchFamily="18" charset="0"/>
                          <a:ea typeface="Cambria" panose="02040503050406030204" pitchFamily="18" charset="0"/>
                        </a:rPr>
                        <a:t>⋈t2⋈t3⋈t4</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6558176"/>
                  </a:ext>
                </a:extLst>
              </a:tr>
            </a:tbl>
          </a:graphicData>
        </a:graphic>
      </p:graphicFrame>
      <p:graphicFrame>
        <p:nvGraphicFramePr>
          <p:cNvPr id="22" name="表格 21">
            <a:extLst>
              <a:ext uri="{FF2B5EF4-FFF2-40B4-BE49-F238E27FC236}">
                <a16:creationId xmlns:a16="http://schemas.microsoft.com/office/drawing/2014/main" id="{6771FE8C-3C7C-8A7D-A76B-6D9BE55A48CD}"/>
              </a:ext>
            </a:extLst>
          </p:cNvPr>
          <p:cNvGraphicFramePr>
            <a:graphicFrameLocks noGrp="1"/>
          </p:cNvGraphicFramePr>
          <p:nvPr>
            <p:extLst>
              <p:ext uri="{D42A27DB-BD31-4B8C-83A1-F6EECF244321}">
                <p14:modId xmlns:p14="http://schemas.microsoft.com/office/powerpoint/2010/main" val="3929097843"/>
              </p:ext>
            </p:extLst>
          </p:nvPr>
        </p:nvGraphicFramePr>
        <p:xfrm>
          <a:off x="6138694" y="3742289"/>
          <a:ext cx="2815200" cy="1188720"/>
        </p:xfrm>
        <a:graphic>
          <a:graphicData uri="http://schemas.openxmlformats.org/drawingml/2006/table">
            <a:tbl>
              <a:tblPr firstRow="1" bandRow="1">
                <a:tableStyleId>{5C22544A-7EE6-4342-B048-85BDC9FD1C3A}</a:tableStyleId>
              </a:tblPr>
              <a:tblGrid>
                <a:gridCol w="691200">
                  <a:extLst>
                    <a:ext uri="{9D8B030D-6E8A-4147-A177-3AD203B41FA5}">
                      <a16:colId xmlns:a16="http://schemas.microsoft.com/office/drawing/2014/main" val="2113271808"/>
                    </a:ext>
                  </a:extLst>
                </a:gridCol>
                <a:gridCol w="1170000">
                  <a:extLst>
                    <a:ext uri="{9D8B030D-6E8A-4147-A177-3AD203B41FA5}">
                      <a16:colId xmlns:a16="http://schemas.microsoft.com/office/drawing/2014/main" val="2145730743"/>
                    </a:ext>
                  </a:extLst>
                </a:gridCol>
                <a:gridCol w="954000">
                  <a:extLst>
                    <a:ext uri="{9D8B030D-6E8A-4147-A177-3AD203B41FA5}">
                      <a16:colId xmlns:a16="http://schemas.microsoft.com/office/drawing/2014/main" val="1128697198"/>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dirty="0">
                          <a:solidFill>
                            <a:schemeClr val="tx1"/>
                          </a:solidFill>
                        </a:rPr>
                        <a:t>分支子图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0" dirty="0">
                          <a:solidFill>
                            <a:schemeClr val="tx1"/>
                          </a:solidFill>
                        </a:rPr>
                        <a:t>先选择 </a:t>
                      </a:r>
                      <a:r>
                        <a:rPr lang="en-US" altLang="zh-CN" sz="1000" b="0" dirty="0">
                          <a:solidFill>
                            <a:schemeClr val="tx1"/>
                          </a:solidFill>
                        </a:rPr>
                        <a:t>J123</a:t>
                      </a:r>
                      <a:r>
                        <a:rPr lang="zh-CN" altLang="en-US" sz="1000" b="0" dirty="0">
                          <a:solidFill>
                            <a:schemeClr val="tx1"/>
                          </a:solidFill>
                        </a:rPr>
                        <a:t>，服务 </a:t>
                      </a:r>
                      <a:r>
                        <a:rPr lang="en-US" altLang="zh-CN" sz="1000" b="0" dirty="0">
                          <a:solidFill>
                            <a:schemeClr val="tx1"/>
                          </a:solidFill>
                        </a:rPr>
                        <a:t>mv1</a:t>
                      </a:r>
                      <a:r>
                        <a:rPr lang="zh-CN" altLang="en-US" sz="1000" b="0" dirty="0">
                          <a:solidFill>
                            <a:schemeClr val="tx1"/>
                          </a:solidFill>
                        </a:rPr>
                        <a:t>、</a:t>
                      </a:r>
                      <a:r>
                        <a:rPr lang="en-US" altLang="zh-CN" sz="1000" b="0" dirty="0">
                          <a:solidFill>
                            <a:schemeClr val="tx1"/>
                          </a:solidFill>
                        </a:rPr>
                        <a:t>mv4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000" b="0" dirty="0">
                          <a:solidFill>
                            <a:schemeClr val="tx1"/>
                          </a:solidFill>
                        </a:rPr>
                        <a:t>先选择 </a:t>
                      </a:r>
                      <a:r>
                        <a:rPr lang="en-US" altLang="zh-CN" sz="1000" b="0" dirty="0">
                          <a:solidFill>
                            <a:schemeClr val="tx1"/>
                          </a:solidFill>
                        </a:rPr>
                        <a:t>Sf</a:t>
                      </a:r>
                      <a:r>
                        <a:rPr lang="zh-CN" altLang="en-US" sz="1000" b="0" dirty="0">
                          <a:solidFill>
                            <a:schemeClr val="tx1"/>
                          </a:solidFill>
                        </a:rPr>
                        <a:t>，再选择 </a:t>
                      </a:r>
                      <a:r>
                        <a:rPr lang="en-US" altLang="zh-CN" sz="1000" b="0" dirty="0">
                          <a:solidFill>
                            <a:schemeClr val="tx1"/>
                          </a:solidFill>
                        </a:rPr>
                        <a:t>mv3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565725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rPr>
                        <a:t>后续实际共享关系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t>J123 </a:t>
                      </a:r>
                      <a:r>
                        <a:rPr lang="zh-CN" altLang="en-US" sz="1000" dirty="0"/>
                        <a:t>服务</a:t>
                      </a:r>
                      <a:r>
                        <a:rPr lang="en-US" altLang="zh-CN" sz="1000" dirty="0"/>
                        <a:t>mv1</a:t>
                      </a:r>
                      <a:r>
                        <a:rPr lang="zh-CN" altLang="en-US" sz="1000" dirty="0"/>
                        <a:t>、</a:t>
                      </a:r>
                      <a:r>
                        <a:rPr lang="en-US" altLang="zh-CN" sz="1000" dirty="0"/>
                        <a:t>mv4</a:t>
                      </a:r>
                      <a:r>
                        <a:rPr lang="zh-CN" altLang="en-US" sz="1000" dirty="0"/>
                        <a:t>；</a:t>
                      </a:r>
                      <a:r>
                        <a:rPr lang="en-US" altLang="zh-CN" sz="1000" dirty="0"/>
                        <a:t>Sf </a:t>
                      </a:r>
                      <a:r>
                        <a:rPr lang="zh-CN" altLang="en-US" sz="1000" dirty="0"/>
                        <a:t>仅剩 </a:t>
                      </a:r>
                      <a:r>
                        <a:rPr lang="en-US" altLang="zh-CN" sz="1000" dirty="0"/>
                        <a:t>mv2</a:t>
                      </a:r>
                      <a:r>
                        <a:rPr lang="zh-CN" altLang="en-US" sz="1000" dirty="0"/>
                        <a:t>，</a:t>
                      </a:r>
                      <a:r>
                        <a:rPr lang="en-US" altLang="zh-CN" sz="1000" dirty="0"/>
                        <a:t>mv3 </a:t>
                      </a:r>
                      <a:r>
                        <a:rPr lang="zh-CN" altLang="en-US" sz="1000" dirty="0"/>
                        <a:t>仅服务自身</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t>Sf </a:t>
                      </a:r>
                      <a:r>
                        <a:rPr lang="zh-CN" altLang="en-US" sz="1000" dirty="0"/>
                        <a:t>服务 </a:t>
                      </a:r>
                      <a:r>
                        <a:rPr lang="en-US" altLang="zh-CN" sz="1000" dirty="0"/>
                        <a:t>mv1</a:t>
                      </a:r>
                      <a:r>
                        <a:rPr lang="zh-CN" altLang="en-US" sz="1000" dirty="0"/>
                        <a:t>、</a:t>
                      </a:r>
                      <a:r>
                        <a:rPr lang="en-US" altLang="zh-CN" sz="1000" dirty="0"/>
                        <a:t>mv2</a:t>
                      </a:r>
                      <a:r>
                        <a:rPr lang="zh-CN" altLang="en-US" sz="1000" dirty="0"/>
                        <a:t>；</a:t>
                      </a:r>
                      <a:r>
                        <a:rPr lang="en-US" altLang="zh-CN" sz="1000" dirty="0"/>
                        <a:t>mv3 </a:t>
                      </a:r>
                      <a:r>
                        <a:rPr lang="zh-CN" altLang="en-US" sz="1000" dirty="0"/>
                        <a:t>服务自身及 </a:t>
                      </a:r>
                      <a:r>
                        <a:rPr lang="en-US" altLang="zh-CN" sz="1000" dirty="0"/>
                        <a:t>mv4</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6558176"/>
                  </a:ext>
                </a:extLst>
              </a:tr>
              <a:tr h="0">
                <a:tc>
                  <a:txBody>
                    <a:bodyPr/>
                    <a:lstStyle/>
                    <a:p>
                      <a:r>
                        <a:rPr lang="zh-CN" altLang="en-US" sz="1000" b="1" dirty="0">
                          <a:solidFill>
                            <a:schemeClr val="tx1"/>
                          </a:solidFill>
                        </a:rPr>
                        <a:t>共享评分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t>5</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rPr>
                        <a:t>6</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6049820"/>
                  </a:ext>
                </a:extLst>
              </a:tr>
            </a:tbl>
          </a:graphicData>
        </a:graphic>
      </p:graphicFrame>
      <p:pic>
        <p:nvPicPr>
          <p:cNvPr id="6" name="图片 5">
            <a:extLst>
              <a:ext uri="{FF2B5EF4-FFF2-40B4-BE49-F238E27FC236}">
                <a16:creationId xmlns:a16="http://schemas.microsoft.com/office/drawing/2014/main" id="{B2DFE82F-F871-67FC-B63F-9586E48A83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98747" y="3827334"/>
            <a:ext cx="3163434" cy="953321"/>
          </a:xfrm>
          <a:prstGeom prst="rect">
            <a:avLst/>
          </a:prstGeom>
        </p:spPr>
      </p:pic>
    </p:spTree>
    <p:extLst>
      <p:ext uri="{BB962C8B-B14F-4D97-AF65-F5344CB8AC3E}">
        <p14:creationId xmlns:p14="http://schemas.microsoft.com/office/powerpoint/2010/main" val="2183173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7CF9B-EF43-E5EE-1051-CCF5B477B449}"/>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C623DED-B5DE-53DF-010F-D96A47FB5D3B}"/>
              </a:ext>
            </a:extLst>
          </p:cNvPr>
          <p:cNvSpPr txBox="1"/>
          <p:nvPr/>
        </p:nvSpPr>
        <p:spPr>
          <a:xfrm>
            <a:off x="-1" y="387931"/>
            <a:ext cx="5907964" cy="6571030"/>
          </a:xfrm>
          <a:prstGeom prst="rect">
            <a:avLst/>
          </a:prstGeom>
          <a:noFill/>
        </p:spPr>
        <p:txBody>
          <a:bodyPr wrap="square" rtlCol="0">
            <a:spAutoFit/>
          </a:bodyPr>
          <a:lstStyle/>
          <a:p>
            <a:r>
              <a:rPr lang="zh-CN" altLang="en-US" sz="1000" dirty="0"/>
              <a:t>面向共享机会难发现、路径枚举开销大、共享收益不确定等问题，本方案在 </a:t>
            </a:r>
            <a:r>
              <a:rPr lang="en-US" altLang="zh-CN" sz="1000" dirty="0" err="1"/>
              <a:t>IncreQueryFusion</a:t>
            </a:r>
            <a:r>
              <a:rPr lang="en-US" altLang="zh-CN" sz="1000" dirty="0"/>
              <a:t> [VLDB26] </a:t>
            </a:r>
            <a:r>
              <a:rPr lang="zh-CN" altLang="en-US" sz="1000" dirty="0"/>
              <a:t>的基础上，按需生成候选路径，通过动态共享权重选择执行子图，再按增量代价决定物化。</a:t>
            </a:r>
            <a:endParaRPr lang="en-US" altLang="zh-CN" sz="1000" dirty="0"/>
          </a:p>
          <a:p>
            <a:endParaRPr lang="en-US" altLang="zh-CN" sz="1000" b="1" dirty="0"/>
          </a:p>
          <a:p>
            <a:r>
              <a:rPr lang="zh-CN" altLang="en-US" sz="1100" b="1" dirty="0"/>
              <a:t>一、候选计算图生成</a:t>
            </a:r>
            <a:endParaRPr lang="en-US" altLang="zh-CN" sz="1100" b="1" dirty="0"/>
          </a:p>
          <a:p>
            <a:r>
              <a:rPr lang="zh-CN" altLang="en-US" sz="1000" b="1" dirty="0"/>
              <a:t>逐个插入，按需扩展。</a:t>
            </a:r>
            <a:r>
              <a:rPr lang="zh-CN" altLang="en-US" sz="1000" dirty="0"/>
              <a:t> 节点表示数据，同组输入边表示一次计算。每个视图先建立一条基本路径，再检索具有共同基表依赖的节点，经语义验证后生成公共节点或结果恢复路径。保留原路径，新增节点继续检索，等价节点复用。</a:t>
            </a:r>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r>
              <a:rPr lang="zh-CN" altLang="en-US" sz="1000" dirty="0"/>
              <a:t>扩展依据：</a:t>
            </a:r>
          </a:p>
          <a:p>
            <a:r>
              <a:rPr lang="zh-CN" altLang="en-US" sz="1000" b="1" dirty="0"/>
              <a:t>增量维护语义：</a:t>
            </a:r>
            <a:r>
              <a:rPr lang="zh-CN" altLang="en-US" sz="1000" dirty="0"/>
              <a:t> </a:t>
            </a:r>
            <a:r>
              <a:rPr lang="en-US" altLang="zh-CN" sz="1000" dirty="0"/>
              <a:t>AVG </a:t>
            </a:r>
            <a:r>
              <a:rPr lang="zh-CN" altLang="en-US" sz="1000" dirty="0"/>
              <a:t>需要额外维护 </a:t>
            </a:r>
            <a:r>
              <a:rPr lang="en-US" altLang="zh-CN" sz="1000" dirty="0"/>
              <a:t>SUM</a:t>
            </a:r>
            <a:r>
              <a:rPr lang="zh-CN" altLang="en-US" sz="1000" dirty="0"/>
              <a:t>、</a:t>
            </a:r>
            <a:r>
              <a:rPr lang="en-US" altLang="zh-CN" sz="1000" dirty="0"/>
              <a:t>COUNT</a:t>
            </a:r>
            <a:r>
              <a:rPr lang="zh-CN" altLang="en-US" sz="1000" dirty="0"/>
              <a:t>；</a:t>
            </a:r>
            <a:r>
              <a:rPr lang="en-US" altLang="zh-CN" sz="1000" dirty="0"/>
              <a:t>LEFT JOIN </a:t>
            </a:r>
            <a:r>
              <a:rPr lang="zh-CN" altLang="en-US" sz="1000" dirty="0"/>
              <a:t>可分解为</a:t>
            </a:r>
            <a:r>
              <a:rPr lang="en-US" altLang="zh-CN" sz="1000" dirty="0"/>
              <a:t>INNER JOIN</a:t>
            </a:r>
            <a:r>
              <a:rPr lang="zh-CN" altLang="en-US" sz="1000" dirty="0"/>
              <a:t>和</a:t>
            </a:r>
            <a:r>
              <a:rPr lang="en-US" altLang="zh-CN" sz="1000" dirty="0"/>
              <a:t>ANTI JOIN</a:t>
            </a:r>
            <a:r>
              <a:rPr lang="zh-CN" altLang="en-US" sz="1000" dirty="0"/>
              <a:t>维护等。</a:t>
            </a:r>
          </a:p>
          <a:p>
            <a:r>
              <a:rPr lang="zh-CN" altLang="en-US" sz="1000" b="1" dirty="0"/>
              <a:t>数据包含关系：</a:t>
            </a:r>
            <a:r>
              <a:rPr lang="zh-CN" altLang="en-US" sz="1000" dirty="0"/>
              <a:t> 细粒度聚合得到粗粒度聚合；按匹配标记从 </a:t>
            </a:r>
            <a:r>
              <a:rPr lang="en-US" altLang="zh-CN" sz="1000" dirty="0"/>
              <a:t>LEFT JOIN </a:t>
            </a:r>
            <a:r>
              <a:rPr lang="zh-CN" altLang="en-US" sz="1000" dirty="0"/>
              <a:t>恢复 </a:t>
            </a:r>
            <a:r>
              <a:rPr lang="en-US" altLang="zh-CN" sz="1000" dirty="0"/>
              <a:t>INNER JOIN</a:t>
            </a:r>
            <a:r>
              <a:rPr lang="zh-CN" altLang="en-US" sz="1000" dirty="0"/>
              <a:t>、</a:t>
            </a:r>
            <a:r>
              <a:rPr lang="en-US" altLang="zh-CN" sz="1000" dirty="0"/>
              <a:t>ANTI JOIN</a:t>
            </a:r>
            <a:r>
              <a:rPr lang="zh-CN" altLang="en-US" sz="1000" dirty="0"/>
              <a:t>等。</a:t>
            </a:r>
          </a:p>
          <a:p>
            <a:r>
              <a:rPr lang="zh-CN" altLang="en-US" sz="1000" b="1" dirty="0"/>
              <a:t>约束与统计信息：</a:t>
            </a:r>
            <a:r>
              <a:rPr lang="zh-CN" altLang="en-US" sz="1000" dirty="0"/>
              <a:t> 利用唯一性、外键等约束在图中传播并验证无损投影、简化外连接维护；根据基数生成聚合下推路径等。</a:t>
            </a:r>
            <a:endParaRPr lang="en-US" altLang="zh-CN" sz="1000" dirty="0"/>
          </a:p>
          <a:p>
            <a:endParaRPr lang="en-US" altLang="zh-CN" sz="1000" dirty="0"/>
          </a:p>
          <a:p>
            <a:r>
              <a:rPr lang="zh-CN" altLang="en-US" sz="1000" b="1" dirty="0"/>
              <a:t>示例</a:t>
            </a:r>
            <a:r>
              <a:rPr lang="zh-CN" altLang="en-US" sz="1000" dirty="0"/>
              <a:t>：令 </a:t>
            </a:r>
            <a:r>
              <a:rPr lang="en-US" altLang="zh-CN" sz="1000" dirty="0"/>
              <a:t>F </a:t>
            </a:r>
            <a:r>
              <a:rPr lang="zh-CN" altLang="en-US" sz="1000" dirty="0"/>
              <a:t>为 </a:t>
            </a:r>
            <a:r>
              <a:rPr lang="en-US" altLang="zh-CN" sz="1000" dirty="0"/>
              <a:t>t1 </a:t>
            </a:r>
            <a:r>
              <a:rPr lang="zh-CN" altLang="en-US" sz="1000" dirty="0"/>
              <a:t>经过 </a:t>
            </a:r>
            <a:r>
              <a:rPr lang="en-US" altLang="zh-CN" sz="1000" dirty="0"/>
              <a:t>t1_c1 &gt; 0 </a:t>
            </a:r>
            <a:r>
              <a:rPr lang="zh-CN" altLang="en-US" sz="1000" dirty="0"/>
              <a:t>过滤后的结果，四个目标视图分别为：</a:t>
            </a:r>
            <a:endParaRPr lang="en-US" altLang="zh-CN" sz="1000" dirty="0"/>
          </a:p>
          <a:p>
            <a:endParaRPr lang="en-US" altLang="zh-CN" sz="1000" dirty="0"/>
          </a:p>
          <a:p>
            <a:endParaRPr lang="en-US" altLang="zh-CN" sz="1000" dirty="0"/>
          </a:p>
          <a:p>
            <a:endParaRPr lang="en-US" altLang="zh-CN" sz="1000" dirty="0"/>
          </a:p>
          <a:p>
            <a:endParaRPr lang="en-US" altLang="zh-CN" sz="1000" dirty="0"/>
          </a:p>
          <a:p>
            <a:r>
              <a:rPr lang="zh-CN" altLang="en-US" sz="1000" dirty="0"/>
              <a:t>下文用 </a:t>
            </a:r>
            <a:r>
              <a:rPr lang="en-US" altLang="zh-CN" sz="1000" dirty="0"/>
              <a:t>J23 </a:t>
            </a:r>
            <a:r>
              <a:rPr lang="zh-CN" altLang="en-US" sz="1000" dirty="0"/>
              <a:t>表示 </a:t>
            </a:r>
            <a:r>
              <a:rPr lang="en-US" altLang="zh-CN" sz="1000" dirty="0"/>
              <a:t>t2 ⋈ t3</a:t>
            </a:r>
            <a:r>
              <a:rPr lang="zh-CN" altLang="en-US" sz="1000" dirty="0"/>
              <a:t>，用 </a:t>
            </a:r>
            <a:r>
              <a:rPr lang="en-US" altLang="zh-CN" sz="1000" dirty="0"/>
              <a:t>J123 </a:t>
            </a:r>
            <a:r>
              <a:rPr lang="zh-CN" altLang="en-US" sz="1000" dirty="0"/>
              <a:t>表示 </a:t>
            </a:r>
            <a:r>
              <a:rPr lang="en-US" altLang="zh-CN" sz="1000" dirty="0"/>
              <a:t>F ⋈ t2 ⋈ t3</a:t>
            </a:r>
            <a:r>
              <a:rPr lang="zh-CN" altLang="en-US" sz="1000" dirty="0"/>
              <a:t>，</a:t>
            </a:r>
            <a:r>
              <a:rPr lang="en-US" altLang="zh-CN" sz="1000" dirty="0"/>
              <a:t>Sf</a:t>
            </a:r>
            <a:r>
              <a:rPr lang="zh-CN" altLang="en-US" sz="1000" dirty="0"/>
              <a:t>代表</a:t>
            </a:r>
            <a:r>
              <a:rPr lang="en-US" altLang="zh-CN" sz="1000" dirty="0"/>
              <a:t>SUM(F)</a:t>
            </a:r>
            <a:r>
              <a:rPr lang="zh-CN" altLang="en-US" sz="1000" dirty="0"/>
              <a:t>，</a:t>
            </a:r>
            <a:r>
              <a:rPr lang="en-US" altLang="zh-CN" sz="1000" dirty="0"/>
              <a:t>JSf23</a:t>
            </a:r>
            <a:r>
              <a:rPr lang="zh-CN" altLang="en-US" sz="1000" dirty="0"/>
              <a:t>代表 </a:t>
            </a:r>
            <a:r>
              <a:rPr lang="en-US" altLang="zh-CN" sz="1000" dirty="0"/>
              <a:t>Sf ⋈ t2 ⋈ t3</a:t>
            </a:r>
            <a:r>
              <a:rPr lang="zh-CN" altLang="en-US" sz="1000" dirty="0"/>
              <a:t>。</a:t>
            </a:r>
          </a:p>
          <a:p>
            <a:r>
              <a:rPr lang="zh-CN" altLang="en-US" sz="1000" dirty="0"/>
              <a:t>在示例中，这些规则随着视图插入逐步发挥作用：</a:t>
            </a:r>
          </a:p>
          <a:p>
            <a:r>
              <a:rPr lang="zh-CN" altLang="en-US" sz="1000" dirty="0"/>
              <a:t>① 插入 </a:t>
            </a:r>
            <a:r>
              <a:rPr lang="en-US" altLang="zh-CN" sz="1000" dirty="0"/>
              <a:t>MV2</a:t>
            </a:r>
            <a:r>
              <a:rPr lang="zh-CN" altLang="en-US" sz="1000" dirty="0"/>
              <a:t>：复用 </a:t>
            </a:r>
            <a:r>
              <a:rPr lang="en-US" altLang="zh-CN" sz="1000" dirty="0"/>
              <a:t>F</a:t>
            </a:r>
            <a:r>
              <a:rPr lang="zh-CN" altLang="en-US" sz="1000" dirty="0"/>
              <a:t>，生成共享聚合状态 </a:t>
            </a:r>
            <a:r>
              <a:rPr lang="en-US" altLang="zh-CN" sz="1000" dirty="0"/>
              <a:t>Sf</a:t>
            </a:r>
            <a:r>
              <a:rPr lang="zh-CN" altLang="en-US" sz="1000" dirty="0"/>
              <a:t>。为</a:t>
            </a:r>
            <a:r>
              <a:rPr lang="en-US" altLang="zh-CN" sz="1000" dirty="0"/>
              <a:t>mv1</a:t>
            </a:r>
            <a:r>
              <a:rPr lang="zh-CN" altLang="en-US" sz="1000" dirty="0"/>
              <a:t>添加聚合下推的执行路径。</a:t>
            </a:r>
            <a:endParaRPr lang="en-US" altLang="zh-CN" sz="1000" dirty="0"/>
          </a:p>
          <a:p>
            <a:r>
              <a:rPr lang="zh-CN" altLang="en-US" sz="1000" dirty="0"/>
              <a:t>② 插入 </a:t>
            </a:r>
            <a:r>
              <a:rPr lang="en-US" altLang="zh-CN" sz="1000" dirty="0"/>
              <a:t>MV3</a:t>
            </a:r>
            <a:r>
              <a:rPr lang="zh-CN" altLang="en-US" sz="1000" dirty="0"/>
              <a:t>、</a:t>
            </a:r>
            <a:r>
              <a:rPr lang="en-US" altLang="zh-CN" sz="1000" dirty="0"/>
              <a:t>MV4</a:t>
            </a:r>
            <a:r>
              <a:rPr lang="zh-CN" altLang="en-US" sz="1000" dirty="0"/>
              <a:t>：提取 </a:t>
            </a:r>
            <a:r>
              <a:rPr lang="en-US" altLang="zh-CN" sz="1000" dirty="0"/>
              <a:t>J23</a:t>
            </a:r>
            <a:r>
              <a:rPr lang="zh-CN" altLang="en-US" sz="1000" dirty="0"/>
              <a:t>，</a:t>
            </a:r>
            <a:r>
              <a:rPr lang="en-US" altLang="zh-CN" sz="1000" dirty="0"/>
              <a:t>mv3</a:t>
            </a:r>
            <a:r>
              <a:rPr lang="zh-CN" altLang="en-US" sz="1000" dirty="0"/>
              <a:t>作为共享数据节点，并相应增加数据复用路径。</a:t>
            </a:r>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endParaRPr lang="en-US" altLang="zh-CN" sz="1000" dirty="0"/>
          </a:p>
          <a:p>
            <a:r>
              <a:rPr lang="zh-CN" altLang="en-US" sz="1000" dirty="0"/>
              <a:t>节点权重为可使用该节点的不同目标视图数。示例中，</a:t>
            </a:r>
            <a:r>
              <a:rPr lang="en-US" altLang="zh-CN" sz="1000" dirty="0"/>
              <a:t>F</a:t>
            </a:r>
            <a:r>
              <a:rPr lang="zh-CN" altLang="en-US" sz="1000" dirty="0"/>
              <a:t>、</a:t>
            </a:r>
            <a:r>
              <a:rPr lang="en-US" altLang="zh-CN" sz="1000" dirty="0"/>
              <a:t>J23 </a:t>
            </a:r>
            <a:r>
              <a:rPr lang="zh-CN" altLang="en-US" sz="1000" dirty="0"/>
              <a:t>权重为 </a:t>
            </a:r>
            <a:r>
              <a:rPr lang="en-US" altLang="zh-CN" sz="1000" dirty="0"/>
              <a:t>3</a:t>
            </a:r>
            <a:r>
              <a:rPr lang="zh-CN" altLang="en-US" sz="1000" dirty="0"/>
              <a:t>；</a:t>
            </a:r>
            <a:r>
              <a:rPr lang="en-US" altLang="zh-CN" sz="1000" dirty="0"/>
              <a:t>Sf</a:t>
            </a:r>
            <a:r>
              <a:rPr lang="zh-CN" altLang="en-US" sz="1000" dirty="0"/>
              <a:t>、</a:t>
            </a:r>
            <a:r>
              <a:rPr lang="en-US" altLang="zh-CN" sz="1000" dirty="0"/>
              <a:t>J123</a:t>
            </a:r>
            <a:r>
              <a:rPr lang="zh-CN" altLang="en-US" sz="1000" dirty="0"/>
              <a:t>、</a:t>
            </a:r>
            <a:r>
              <a:rPr lang="en-US" altLang="zh-CN" sz="1000" dirty="0"/>
              <a:t>MV3 </a:t>
            </a:r>
            <a:r>
              <a:rPr lang="zh-CN" altLang="en-US" sz="1000" dirty="0"/>
              <a:t>权重为 </a:t>
            </a:r>
            <a:r>
              <a:rPr lang="en-US" altLang="zh-CN" sz="1000" dirty="0"/>
              <a:t>2</a:t>
            </a:r>
            <a:r>
              <a:rPr lang="zh-CN" altLang="en-US" sz="1000" dirty="0"/>
              <a:t>。权重表示候选图中的</a:t>
            </a:r>
            <a:r>
              <a:rPr lang="zh-CN" altLang="en-US" sz="1000" b="1" dirty="0"/>
              <a:t>共享潜力</a:t>
            </a:r>
            <a:r>
              <a:rPr lang="zh-CN" altLang="en-US" sz="1000" dirty="0"/>
              <a:t>。由于同一节点可能存在多种候选生产路径，各节点的共享潜力未必能同时实现，故需进一步</a:t>
            </a:r>
            <a:r>
              <a:rPr lang="zh-CN" altLang="en-US" sz="1000" b="1" dirty="0"/>
              <a:t>选择实际执行子图</a:t>
            </a:r>
            <a:r>
              <a:rPr lang="zh-CN" altLang="en-US" sz="1000" dirty="0"/>
              <a:t>。</a:t>
            </a:r>
          </a:p>
          <a:p>
            <a:endParaRPr lang="en-US" altLang="zh-CN" sz="1000" dirty="0"/>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24A8A328-E0B2-D42B-877E-21348E9B445D}"/>
                  </a:ext>
                </a:extLst>
              </p:cNvPr>
              <p:cNvSpPr txBox="1"/>
              <p:nvPr/>
            </p:nvSpPr>
            <p:spPr>
              <a:xfrm>
                <a:off x="6109786" y="402561"/>
                <a:ext cx="6097248" cy="6018699"/>
              </a:xfrm>
              <a:prstGeom prst="rect">
                <a:avLst/>
              </a:prstGeom>
              <a:noFill/>
            </p:spPr>
            <p:txBody>
              <a:bodyPr wrap="square" rtlCol="0">
                <a:spAutoFit/>
              </a:bodyPr>
              <a:lstStyle/>
              <a:p>
                <a:r>
                  <a:rPr lang="zh-CN" altLang="en-US" sz="1050" b="1" dirty="0"/>
                  <a:t>二、计算子图选择与</a:t>
                </a:r>
                <a:r>
                  <a:rPr lang="en-US" altLang="zh-CN" sz="1050" b="1" dirty="0"/>
                  <a:t>pipeline</a:t>
                </a:r>
                <a:r>
                  <a:rPr lang="zh-CN" altLang="en-US" sz="1050" b="1" dirty="0"/>
                  <a:t>生成</a:t>
                </a:r>
                <a:endParaRPr lang="en-US" altLang="zh-CN" sz="1050" b="1" dirty="0"/>
              </a:p>
              <a:p>
                <a:r>
                  <a:rPr lang="zh-CN" altLang="en-US" sz="1050" dirty="0"/>
                  <a:t>设 </a:t>
                </a:r>
                <a:r>
                  <a:rPr lang="en-US" altLang="zh-CN" sz="1050" dirty="0"/>
                  <a:t>B </a:t>
                </a:r>
                <a:r>
                  <a:rPr lang="zh-CN" altLang="en-US" sz="1050" dirty="0"/>
                  <a:t>为基表节点集合，</a:t>
                </a:r>
                <a:r>
                  <a:rPr lang="en-US" altLang="zh-CN" sz="1050" dirty="0"/>
                  <a:t>T </a:t>
                </a:r>
                <a:r>
                  <a:rPr lang="zh-CN" altLang="en-US" sz="1050" dirty="0"/>
                  <a:t>为目标视图节点集合。从候选图中选取覆盖 </a:t>
                </a:r>
                <a:r>
                  <a:rPr lang="en-US" altLang="zh-CN" sz="1050" dirty="0"/>
                  <a:t>B</a:t>
                </a:r>
                <a:r>
                  <a:rPr lang="zh-CN" altLang="en-US" sz="1050" dirty="0"/>
                  <a:t>∪</a:t>
                </a:r>
                <a:r>
                  <a:rPr lang="en-US" altLang="zh-CN" sz="1050" dirty="0"/>
                  <a:t>T</a:t>
                </a:r>
                <a:r>
                  <a:rPr lang="zh-CN" altLang="en-US" sz="1050" dirty="0"/>
                  <a:t>的计算子图 </a:t>
                </a:r>
                <a:r>
                  <a:rPr lang="en-US" altLang="zh-CN" sz="1050" dirty="0"/>
                  <a:t>P</a:t>
                </a:r>
                <a:r>
                  <a:rPr lang="zh-CN" altLang="en-US" sz="1050" dirty="0"/>
                  <a:t>。</a:t>
                </a:r>
                <a:endParaRPr lang="en-US" altLang="zh-CN" sz="1050" dirty="0"/>
              </a:p>
              <a:p>
                <a:r>
                  <a:rPr lang="en-US" altLang="zh-CN" sz="1050" b="1" dirty="0"/>
                  <a:t>1</a:t>
                </a:r>
                <a:r>
                  <a:rPr lang="zh-CN" altLang="en-US" sz="1050" b="1" dirty="0"/>
                  <a:t>、动态共享权重驱动的计算子图选择</a:t>
                </a:r>
                <a:endParaRPr lang="zh-CN" altLang="en-US" sz="1050" dirty="0"/>
              </a:p>
              <a:p>
                <a:r>
                  <a:rPr lang="zh-CN" altLang="en-US" sz="1050" dirty="0"/>
                  <a:t>按照“</a:t>
                </a:r>
                <a:r>
                  <a:rPr lang="zh-CN" altLang="en-US" sz="1050" b="1" dirty="0"/>
                  <a:t>高权重优先、竞争分支试算、更新实际可用关系</a:t>
                </a:r>
                <a:r>
                  <a:rPr lang="zh-CN" altLang="en-US" sz="1050" dirty="0"/>
                  <a:t>”进行选择。</a:t>
                </a:r>
                <a:endParaRPr lang="en-US" altLang="zh-CN" sz="1050" dirty="0"/>
              </a:p>
              <a:p>
                <a:endParaRPr lang="en-US" altLang="zh-CN" sz="1050" b="1" dirty="0"/>
              </a:p>
              <a:p>
                <a:endParaRPr lang="en-US" altLang="zh-CN" sz="1050" b="1" dirty="0"/>
              </a:p>
              <a:p>
                <a:endParaRPr lang="en-US" altLang="zh-CN" sz="1050" b="1" dirty="0"/>
              </a:p>
              <a:p>
                <a:endParaRPr lang="en-US" altLang="zh-CN" sz="1050" b="1" dirty="0"/>
              </a:p>
              <a:p>
                <a:endParaRPr lang="en-US" altLang="zh-CN" sz="1050" b="1" dirty="0"/>
              </a:p>
              <a:p>
                <a:endParaRPr lang="en-US" altLang="zh-CN" sz="1050" b="1" dirty="0"/>
              </a:p>
              <a:p>
                <a:endParaRPr lang="en-US" altLang="zh-CN" sz="1050" b="1" dirty="0"/>
              </a:p>
              <a:p>
                <a:endParaRPr lang="en-US" altLang="zh-CN" sz="1050" dirty="0"/>
              </a:p>
              <a:p>
                <a:r>
                  <a:rPr lang="zh-CN" altLang="en-US" sz="1050" dirty="0"/>
                  <a:t>节点权重动态，只统计当前选择下节点仍可服务的目标视图。</a:t>
                </a:r>
              </a:p>
              <a:p>
                <a:r>
                  <a:rPr lang="zh-CN" altLang="en-US" sz="1050" dirty="0"/>
                  <a:t>比较完整试算子图的共享评分，其中，</a:t>
                </a:r>
                <a:r>
                  <a:rPr lang="en-US" altLang="zh-CN" sz="1050" dirty="0"/>
                  <a:t> </a:t>
                </a:r>
                <a14:m>
                  <m:oMath xmlns:m="http://schemas.openxmlformats.org/officeDocument/2006/math">
                    <m:r>
                      <a:rPr lang="en-US" altLang="zh-CN" sz="1050" i="1" dirty="0">
                        <a:latin typeface="Cambria Math" panose="02040503050406030204" pitchFamily="18" charset="0"/>
                      </a:rPr>
                      <m:t>𝑟</m:t>
                    </m:r>
                    <m:d>
                      <m:dPr>
                        <m:ctrlPr>
                          <a:rPr lang="en-US" altLang="zh-CN" sz="1050" i="1" dirty="0">
                            <a:latin typeface="Cambria Math" panose="02040503050406030204" pitchFamily="18" charset="0"/>
                          </a:rPr>
                        </m:ctrlPr>
                      </m:dPr>
                      <m:e>
                        <m:r>
                          <a:rPr lang="en-US" altLang="zh-CN" sz="1050" i="1" dirty="0">
                            <a:latin typeface="Cambria Math" panose="02040503050406030204" pitchFamily="18" charset="0"/>
                          </a:rPr>
                          <m:t>𝑣</m:t>
                        </m:r>
                      </m:e>
                    </m:d>
                  </m:oMath>
                </a14:m>
                <a:r>
                  <a:rPr lang="zh-CN" altLang="en-US" sz="1050" dirty="0"/>
                  <a:t>为实际使用节点 </a:t>
                </a:r>
                <a:r>
                  <a:rPr lang="en-US" altLang="zh-CN" sz="1050" dirty="0"/>
                  <a:t>v </a:t>
                </a:r>
                <a:r>
                  <a:rPr lang="zh-CN" altLang="en-US" sz="1050" dirty="0"/>
                  <a:t>的不同目标视图数：</a:t>
                </a:r>
                <a:endParaRPr lang="en-US" altLang="zh-CN" sz="1050" dirty="0"/>
              </a:p>
              <a:p>
                <a:pPr/>
                <a14:m>
                  <m:oMathPara xmlns:m="http://schemas.openxmlformats.org/officeDocument/2006/math">
                    <m:oMathParaPr>
                      <m:jc m:val="centerGroup"/>
                    </m:oMathParaPr>
                    <m:oMath xmlns:m="http://schemas.openxmlformats.org/officeDocument/2006/math">
                      <m:r>
                        <m:rPr>
                          <m:sty m:val="p"/>
                        </m:rPr>
                        <a:rPr lang="en-US" altLang="zh-CN" sz="1050" i="1" dirty="0">
                          <a:latin typeface="Cambria Math" panose="02040503050406030204" pitchFamily="18" charset="0"/>
                        </a:rPr>
                        <m:t>R</m:t>
                      </m:r>
                      <m:d>
                        <m:dPr>
                          <m:ctrlPr>
                            <a:rPr lang="en-US" altLang="zh-CN" sz="1050" b="0" i="1" dirty="0" smtClean="0">
                              <a:latin typeface="Cambria Math" panose="02040503050406030204" pitchFamily="18" charset="0"/>
                            </a:rPr>
                          </m:ctrlPr>
                        </m:dPr>
                        <m:e>
                          <m:r>
                            <m:rPr>
                              <m:sty m:val="p"/>
                            </m:rPr>
                            <a:rPr lang="en-US" altLang="zh-CN" sz="1050" i="1" dirty="0">
                              <a:latin typeface="Cambria Math" panose="02040503050406030204" pitchFamily="18" charset="0"/>
                            </a:rPr>
                            <m:t>P</m:t>
                          </m:r>
                        </m:e>
                      </m:d>
                      <m:r>
                        <a:rPr lang="en-US" altLang="zh-CN" sz="1050" b="0" i="0" dirty="0" smtClean="0">
                          <a:latin typeface="Cambria Math" panose="02040503050406030204" pitchFamily="18" charset="0"/>
                        </a:rPr>
                        <m:t>=</m:t>
                      </m:r>
                      <m:nary>
                        <m:naryPr>
                          <m:chr m:val="∑"/>
                          <m:supHide m:val="on"/>
                          <m:ctrlPr>
                            <a:rPr lang="en-US" altLang="zh-CN" sz="1050" b="0" i="1" dirty="0" smtClean="0">
                              <a:latin typeface="Cambria Math" panose="02040503050406030204" pitchFamily="18" charset="0"/>
                            </a:rPr>
                          </m:ctrlPr>
                        </m:naryPr>
                        <m:sub>
                          <m:r>
                            <m:rPr>
                              <m:brk m:alnAt="7"/>
                            </m:rPr>
                            <a:rPr lang="en-US" altLang="zh-CN" sz="1050" b="0" i="1" dirty="0" smtClean="0">
                              <a:latin typeface="Cambria Math" panose="02040503050406030204" pitchFamily="18" charset="0"/>
                            </a:rPr>
                            <m:t>𝑣</m:t>
                          </m:r>
                          <m:r>
                            <a:rPr lang="en-US" altLang="zh-CN" sz="1050" b="0" i="1" dirty="0" smtClean="0">
                              <a:latin typeface="Cambria Math" panose="02040503050406030204" pitchFamily="18" charset="0"/>
                              <a:ea typeface="Cambria Math" panose="02040503050406030204" pitchFamily="18" charset="0"/>
                            </a:rPr>
                            <m:t>∈</m:t>
                          </m:r>
                          <m:r>
                            <m:rPr>
                              <m:sty m:val="p"/>
                            </m:rPr>
                            <a:rPr lang="en-US" altLang="zh-CN" sz="1050" i="1" dirty="0">
                              <a:latin typeface="Cambria Math" panose="02040503050406030204" pitchFamily="18" charset="0"/>
                              <a:ea typeface="Cambria Math" panose="02040503050406030204" pitchFamily="18" charset="0"/>
                            </a:rPr>
                            <m:t>P</m:t>
                          </m:r>
                        </m:sub>
                        <m:sup/>
                        <m:e>
                          <m:r>
                            <m:rPr>
                              <m:sty m:val="p"/>
                            </m:rPr>
                            <a:rPr lang="en-US" altLang="zh-CN" sz="1050" b="0" i="0" dirty="0" smtClean="0">
                              <a:latin typeface="Cambria Math" panose="02040503050406030204" pitchFamily="18" charset="0"/>
                            </a:rPr>
                            <m:t>max</m:t>
                          </m:r>
                          <m:r>
                            <a:rPr lang="en-US" altLang="zh-CN" sz="1050" b="0" i="1" dirty="0" smtClean="0">
                              <a:latin typeface="Cambria Math" panose="02040503050406030204" pitchFamily="18" charset="0"/>
                            </a:rPr>
                            <m:t>⁡(</m:t>
                          </m:r>
                          <m:r>
                            <a:rPr lang="en-US" altLang="zh-CN" sz="1050" b="0" i="1" dirty="0" smtClean="0">
                              <a:latin typeface="Cambria Math" panose="02040503050406030204" pitchFamily="18" charset="0"/>
                            </a:rPr>
                            <m:t>𝑟</m:t>
                          </m:r>
                          <m:d>
                            <m:dPr>
                              <m:ctrlPr>
                                <a:rPr lang="en-US" altLang="zh-CN" sz="1050" b="0" i="1" dirty="0" smtClean="0">
                                  <a:latin typeface="Cambria Math" panose="02040503050406030204" pitchFamily="18" charset="0"/>
                                </a:rPr>
                              </m:ctrlPr>
                            </m:dPr>
                            <m:e>
                              <m:r>
                                <a:rPr lang="en-US" altLang="zh-CN" sz="1050" b="0" i="1" dirty="0" smtClean="0">
                                  <a:latin typeface="Cambria Math" panose="02040503050406030204" pitchFamily="18" charset="0"/>
                                </a:rPr>
                                <m:t>𝑣</m:t>
                              </m:r>
                            </m:e>
                          </m:d>
                          <m:r>
                            <a:rPr lang="en-US" altLang="zh-CN" sz="1050" b="0" i="1" dirty="0" smtClean="0">
                              <a:latin typeface="Cambria Math" panose="02040503050406030204" pitchFamily="18" charset="0"/>
                            </a:rPr>
                            <m:t>−1,0)</m:t>
                          </m:r>
                        </m:e>
                      </m:nary>
                    </m:oMath>
                  </m:oMathPara>
                </a14:m>
                <a:endParaRPr lang="en-US" altLang="zh-CN" sz="1050" dirty="0"/>
              </a:p>
              <a:p>
                <a:r>
                  <a:rPr lang="zh-CN" altLang="en-US" sz="1050" b="1" dirty="0"/>
                  <a:t>示例：竞争分支试算。</a:t>
                </a:r>
                <a:endParaRPr lang="en-US" altLang="zh-CN" sz="1050" dirty="0"/>
              </a:p>
              <a:p>
                <a:endParaRPr lang="en-US" altLang="zh-CN" sz="1050" dirty="0"/>
              </a:p>
              <a:p>
                <a:endParaRPr lang="en-US" altLang="zh-CN" sz="1050" dirty="0"/>
              </a:p>
              <a:p>
                <a:endParaRPr lang="en-US" altLang="zh-CN" sz="1050" dirty="0"/>
              </a:p>
              <a:p>
                <a:endParaRPr lang="en-US" altLang="zh-CN" sz="1050" b="1" dirty="0"/>
              </a:p>
              <a:p>
                <a:endParaRPr lang="en-US" altLang="zh-CN" sz="1050" b="1" dirty="0"/>
              </a:p>
              <a:p>
                <a:endParaRPr lang="en-US" altLang="zh-CN" sz="1050" b="1" dirty="0"/>
              </a:p>
              <a:p>
                <a:endParaRPr lang="en-US" altLang="zh-CN" sz="1050" b="1" dirty="0"/>
              </a:p>
              <a:p>
                <a:endParaRPr lang="en-US" altLang="zh-CN" sz="1050" b="1" dirty="0"/>
              </a:p>
              <a:p>
                <a:endParaRPr lang="en-US" altLang="zh-CN" sz="1050" b="1" dirty="0"/>
              </a:p>
              <a:p>
                <a:endParaRPr lang="en-US" altLang="zh-CN" sz="1050" b="1" dirty="0"/>
              </a:p>
              <a:p>
                <a:endParaRPr lang="en-US" altLang="zh-CN" sz="1050" b="1" dirty="0"/>
              </a:p>
              <a:p>
                <a:endParaRPr lang="en-US" altLang="zh-CN" sz="1050" b="1" dirty="0"/>
              </a:p>
              <a:p>
                <a:endParaRPr lang="en-US" altLang="zh-CN" sz="1050" b="1" dirty="0"/>
              </a:p>
              <a:p>
                <a:r>
                  <a:rPr lang="en-US" altLang="zh-CN" sz="1050" b="1" dirty="0"/>
                  <a:t>2</a:t>
                </a:r>
                <a:r>
                  <a:rPr lang="zh-CN" altLang="en-US" sz="1050" b="1" dirty="0"/>
                  <a:t>、基于增量代价的中间物化选择</a:t>
                </a:r>
                <a:endParaRPr lang="en-US" altLang="zh-CN" sz="1050" b="1" dirty="0"/>
              </a:p>
              <a:p>
                <a:r>
                  <a:rPr lang="zh-CN" altLang="en-US" sz="1050" dirty="0"/>
                  <a:t>在同一维护窗口内，对具有 </a:t>
                </a:r>
                <a:r>
                  <a:rPr lang="en-US" altLang="zh-CN" sz="1050" dirty="0"/>
                  <a:t>n </a:t>
                </a:r>
                <a:r>
                  <a:rPr lang="zh-CN" altLang="en-US" sz="1050" dirty="0"/>
                  <a:t>个实际消费者的节点，比较分别计算与统一物化的成本：</a:t>
                </a:r>
                <a:endParaRPr lang="en-US" altLang="zh-CN" sz="1050" dirty="0"/>
              </a:p>
              <a:p>
                <a:pPr algn="ctr"/>
                <a:r>
                  <a:rPr lang="en-US" altLang="zh-CN" sz="1050" dirty="0"/>
                  <a:t> </a:t>
                </a:r>
                <a14:m>
                  <m:oMath xmlns:m="http://schemas.openxmlformats.org/officeDocument/2006/math">
                    <m:sSub>
                      <m:sSubPr>
                        <m:ctrlPr>
                          <a:rPr lang="en-US" altLang="zh-CN" sz="1050" i="1" smtClean="0">
                            <a:latin typeface="Cambria Math" panose="02040503050406030204" pitchFamily="18" charset="0"/>
                          </a:rPr>
                        </m:ctrlPr>
                      </m:sSubPr>
                      <m:e>
                        <m:r>
                          <m:rPr>
                            <m:sty m:val="p"/>
                          </m:rPr>
                          <a:rPr lang="en-US" altLang="zh-CN" sz="1050" i="1">
                            <a:latin typeface="Cambria Math" panose="02040503050406030204" pitchFamily="18" charset="0"/>
                          </a:rPr>
                          <m:t>C</m:t>
                        </m:r>
                      </m:e>
                      <m:sub>
                        <m:r>
                          <m:rPr>
                            <m:sty m:val="p"/>
                          </m:rPr>
                          <a:rPr lang="en-US" altLang="zh-CN" sz="1050" i="1">
                            <a:latin typeface="Cambria Math" panose="02040503050406030204" pitchFamily="18" charset="0"/>
                          </a:rPr>
                          <m:t>compute</m:t>
                        </m:r>
                      </m:sub>
                    </m:sSub>
                    <m:r>
                      <a:rPr lang="en-US" altLang="zh-CN" sz="1050" b="0" i="1" smtClean="0">
                        <a:latin typeface="Cambria Math" panose="02040503050406030204" pitchFamily="18" charset="0"/>
                      </a:rPr>
                      <m:t>=</m:t>
                    </m:r>
                    <m:r>
                      <m:rPr>
                        <m:sty m:val="p"/>
                      </m:rPr>
                      <a:rPr lang="en-US" altLang="zh-CN" sz="1050" b="0" i="0" smtClean="0">
                        <a:latin typeface="Cambria Math" panose="02040503050406030204" pitchFamily="18" charset="0"/>
                      </a:rPr>
                      <m:t>n</m:t>
                    </m:r>
                    <m:r>
                      <a:rPr lang="en-US" altLang="zh-CN" sz="1050" i="1">
                        <a:latin typeface="Cambria Math" panose="02040503050406030204" pitchFamily="18" charset="0"/>
                        <a:ea typeface="Cambria Math" panose="02040503050406030204" pitchFamily="18" charset="0"/>
                      </a:rPr>
                      <m:t>×</m:t>
                    </m:r>
                    <m:d>
                      <m:dPr>
                        <m:ctrlPr>
                          <a:rPr lang="en-US" altLang="zh-CN" sz="1050" b="0" i="1" smtClean="0">
                            <a:latin typeface="Cambria Math" panose="02040503050406030204" pitchFamily="18" charset="0"/>
                            <a:ea typeface="Cambria Math" panose="02040503050406030204" pitchFamily="18" charset="0"/>
                          </a:rPr>
                        </m:ctrlPr>
                      </m:dPr>
                      <m:e>
                        <m:sSub>
                          <m:sSubPr>
                            <m:ctrlPr>
                              <a:rPr lang="en-US" altLang="zh-CN" sz="1050" b="0" i="1" smtClean="0">
                                <a:latin typeface="Cambria Math" panose="02040503050406030204" pitchFamily="18" charset="0"/>
                                <a:ea typeface="Cambria Math" panose="02040503050406030204" pitchFamily="18" charset="0"/>
                              </a:rPr>
                            </m:ctrlPr>
                          </m:sSubPr>
                          <m:e>
                            <m:r>
                              <m:rPr>
                                <m:sty m:val="p"/>
                              </m:rPr>
                              <a:rPr lang="en-US" altLang="zh-CN" sz="1050" b="0" i="0" smtClean="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input</m:t>
                            </m:r>
                          </m:sub>
                        </m:sSub>
                        <m:r>
                          <a:rPr lang="en-US" altLang="zh-CN" sz="1050" b="0" i="0" smtClean="0">
                            <a:latin typeface="Cambria Math" panose="02040503050406030204" pitchFamily="18" charset="0"/>
                            <a:ea typeface="Cambria Math" panose="02040503050406030204" pitchFamily="18" charset="0"/>
                          </a:rPr>
                          <m:t> +</m:t>
                        </m:r>
                        <m:sSub>
                          <m:sSubPr>
                            <m:ctrlPr>
                              <a:rPr lang="en-US" altLang="zh-CN" sz="1050" b="0" i="1" smtClean="0">
                                <a:latin typeface="Cambria Math" panose="02040503050406030204" pitchFamily="18" charset="0"/>
                                <a:ea typeface="Cambria Math" panose="02040503050406030204" pitchFamily="18" charset="0"/>
                              </a:rPr>
                            </m:ctrlPr>
                          </m:sSubPr>
                          <m:e>
                            <m:r>
                              <m:rPr>
                                <m:sty m:val="p"/>
                              </m:rPr>
                              <a:rPr lang="en-US" altLang="zh-CN" sz="1050" b="0" i="0" smtClean="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calc</m:t>
                            </m:r>
                          </m:sub>
                        </m:sSub>
                      </m:e>
                    </m:d>
                    <m:r>
                      <a:rPr lang="en-US" altLang="zh-CN" sz="1050" b="0" i="1" smtClean="0">
                        <a:latin typeface="Cambria Math" panose="02040503050406030204" pitchFamily="18" charset="0"/>
                        <a:ea typeface="Cambria Math" panose="02040503050406030204" pitchFamily="18" charset="0"/>
                      </a:rPr>
                      <m:t> </m:t>
                    </m:r>
                  </m:oMath>
                </a14:m>
                <a:r>
                  <a:rPr lang="en-US" altLang="zh-CN" sz="1050" b="0" i="1" dirty="0">
                    <a:latin typeface="Cambria Math" panose="02040503050406030204" pitchFamily="18" charset="0"/>
                    <a:ea typeface="Cambria Math" panose="02040503050406030204" pitchFamily="18" charset="0"/>
                  </a:rPr>
                  <a:t> </a:t>
                </a:r>
                <a:r>
                  <a:rPr lang="en-US" altLang="zh-CN" sz="1050" i="1" dirty="0">
                    <a:latin typeface="Cambria Math" panose="02040503050406030204" pitchFamily="18" charset="0"/>
                    <a:ea typeface="Cambria Math" panose="02040503050406030204" pitchFamily="18" charset="0"/>
                  </a:rPr>
                  <a:t>, </a:t>
                </a:r>
                <a:r>
                  <a:rPr lang="en-US" altLang="zh-CN" sz="1050" dirty="0"/>
                  <a:t> </a:t>
                </a:r>
                <a14:m>
                  <m:oMath xmlns:m="http://schemas.openxmlformats.org/officeDocument/2006/math">
                    <m:sSub>
                      <m:sSubPr>
                        <m:ctrlPr>
                          <a:rPr lang="en-US" altLang="zh-CN" sz="1050" i="1">
                            <a:latin typeface="Cambria Math" panose="02040503050406030204" pitchFamily="18" charset="0"/>
                          </a:rPr>
                        </m:ctrlPr>
                      </m:sSubPr>
                      <m:e>
                        <m:r>
                          <m:rPr>
                            <m:sty m:val="p"/>
                          </m:rPr>
                          <a:rPr lang="en-US" altLang="zh-CN" sz="1050" i="0">
                            <a:latin typeface="Cambria Math" panose="02040503050406030204" pitchFamily="18" charset="0"/>
                          </a:rPr>
                          <m:t>C</m:t>
                        </m:r>
                      </m:e>
                      <m:sub>
                        <m:r>
                          <m:rPr>
                            <m:sty m:val="p"/>
                          </m:rPr>
                          <a:rPr lang="en-US" altLang="zh-CN" sz="1050" b="0" i="0" smtClean="0">
                            <a:latin typeface="Cambria Math" panose="02040503050406030204" pitchFamily="18" charset="0"/>
                          </a:rPr>
                          <m:t>share</m:t>
                        </m:r>
                      </m:sub>
                    </m:sSub>
                    <m:r>
                      <a:rPr lang="en-US" altLang="zh-CN" sz="1050" i="0">
                        <a:latin typeface="Cambria Math" panose="02040503050406030204" pitchFamily="18" charset="0"/>
                      </a:rPr>
                      <m:t>=</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i="0">
                            <a:latin typeface="Cambria Math" panose="02040503050406030204" pitchFamily="18" charset="0"/>
                            <a:ea typeface="Cambria Math" panose="02040503050406030204" pitchFamily="18" charset="0"/>
                          </a:rPr>
                          <m:t>input</m:t>
                        </m:r>
                      </m:sub>
                    </m:sSub>
                    <m:r>
                      <a:rPr lang="en-US" altLang="zh-CN" sz="1050" i="0">
                        <a:latin typeface="Cambria Math" panose="02040503050406030204" pitchFamily="18" charset="0"/>
                        <a:ea typeface="Cambria Math" panose="02040503050406030204" pitchFamily="18" charset="0"/>
                      </a:rPr>
                      <m:t> +</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i="0">
                            <a:latin typeface="Cambria Math" panose="02040503050406030204" pitchFamily="18" charset="0"/>
                            <a:ea typeface="Cambria Math" panose="02040503050406030204" pitchFamily="18" charset="0"/>
                          </a:rPr>
                          <m:t>calc</m:t>
                        </m:r>
                      </m:sub>
                    </m:sSub>
                    <m:r>
                      <a:rPr lang="en-US" altLang="zh-CN" sz="1050" b="0" i="0" smtClean="0">
                        <a:latin typeface="Cambria Math" panose="02040503050406030204" pitchFamily="18" charset="0"/>
                        <a:ea typeface="Cambria Math" panose="02040503050406030204" pitchFamily="18" charset="0"/>
                      </a:rPr>
                      <m:t>+</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update</m:t>
                        </m:r>
                      </m:sub>
                    </m:sSub>
                    <m:r>
                      <a:rPr lang="en-US" altLang="zh-CN" sz="1050" b="0" i="0" smtClean="0">
                        <a:latin typeface="Cambria Math" panose="02040503050406030204" pitchFamily="18" charset="0"/>
                        <a:ea typeface="Cambria Math" panose="02040503050406030204" pitchFamily="18" charset="0"/>
                      </a:rPr>
                      <m:t>+</m:t>
                    </m:r>
                    <m:r>
                      <m:rPr>
                        <m:sty m:val="p"/>
                      </m:rPr>
                      <a:rPr lang="en-US" altLang="zh-CN" sz="1050" i="0">
                        <a:latin typeface="Cambria Math" panose="02040503050406030204" pitchFamily="18" charset="0"/>
                      </a:rPr>
                      <m:t>n</m:t>
                    </m:r>
                    <m:r>
                      <a:rPr lang="en-US" altLang="zh-CN" sz="1050" i="0">
                        <a:latin typeface="Cambria Math" panose="02040503050406030204" pitchFamily="18" charset="0"/>
                        <a:ea typeface="Cambria Math" panose="02040503050406030204" pitchFamily="18" charset="0"/>
                      </a:rPr>
                      <m:t>×</m:t>
                    </m:r>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i="0">
                            <a:latin typeface="Cambria Math" panose="02040503050406030204" pitchFamily="18" charset="0"/>
                            <a:ea typeface="Cambria Math" panose="02040503050406030204" pitchFamily="18" charset="0"/>
                          </a:rPr>
                          <m:t>C</m:t>
                        </m:r>
                      </m:e>
                      <m:sub>
                        <m:r>
                          <m:rPr>
                            <m:sty m:val="p"/>
                          </m:rPr>
                          <a:rPr lang="en-US" altLang="zh-CN" sz="1050" b="0" i="0" smtClean="0">
                            <a:latin typeface="Cambria Math" panose="02040503050406030204" pitchFamily="18" charset="0"/>
                            <a:ea typeface="Cambria Math" panose="02040503050406030204" pitchFamily="18" charset="0"/>
                          </a:rPr>
                          <m:t>read</m:t>
                        </m:r>
                      </m:sub>
                    </m:sSub>
                  </m:oMath>
                </a14:m>
                <a:endParaRPr lang="en-US" altLang="zh-CN" sz="1050" dirty="0"/>
              </a:p>
              <a:p>
                <a:r>
                  <a:rPr lang="zh-CN" altLang="en-US" sz="1050" dirty="0"/>
                  <a:t>其中，</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input</m:t>
                        </m:r>
                      </m:sub>
                    </m:sSub>
                  </m:oMath>
                </a14:m>
                <a:r>
                  <a:rPr lang="zh-CN" altLang="en-US" sz="1050" dirty="0"/>
                  <a:t>输入访问成本</a:t>
                </a:r>
                <a:r>
                  <a:rPr lang="en-US" altLang="zh-CN" sz="1050" dirty="0"/>
                  <a:t>;</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calc</m:t>
                        </m:r>
                      </m:sub>
                    </m:sSub>
                  </m:oMath>
                </a14:m>
                <a:r>
                  <a:rPr lang="zh-CN" altLang="en-US" sz="1050" dirty="0"/>
                  <a:t>为增量计算成本</a:t>
                </a:r>
                <a:r>
                  <a:rPr lang="en-US" altLang="zh-CN" sz="1050" dirty="0"/>
                  <a:t>;</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update</m:t>
                        </m:r>
                      </m:sub>
                    </m:sSub>
                  </m:oMath>
                </a14:m>
                <a:r>
                  <a:rPr lang="zh-CN" altLang="en-US" sz="1050" dirty="0"/>
                  <a:t>为维护写入成本</a:t>
                </a:r>
                <a:r>
                  <a:rPr lang="en-US" altLang="zh-CN" sz="1050" dirty="0"/>
                  <a:t>;</a:t>
                </a:r>
                <a:r>
                  <a:rPr lang="en-US" altLang="zh-CN" sz="1050" dirty="0">
                    <a:ea typeface="Cambria Math" panose="02040503050406030204" pitchFamily="18" charset="0"/>
                  </a:rPr>
                  <a:t> </a:t>
                </a:r>
                <a14:m>
                  <m:oMath xmlns:m="http://schemas.openxmlformats.org/officeDocument/2006/math">
                    <m:sSub>
                      <m:sSubPr>
                        <m:ctrlPr>
                          <a:rPr lang="en-US" altLang="zh-CN" sz="1050" i="1">
                            <a:latin typeface="Cambria Math" panose="02040503050406030204" pitchFamily="18" charset="0"/>
                            <a:ea typeface="Cambria Math" panose="02040503050406030204" pitchFamily="18" charset="0"/>
                          </a:rPr>
                        </m:ctrlPr>
                      </m:sSubPr>
                      <m:e>
                        <m:r>
                          <m:rPr>
                            <m:sty m:val="p"/>
                          </m:rPr>
                          <a:rPr lang="en-US" altLang="zh-CN" sz="1050">
                            <a:latin typeface="Cambria Math" panose="02040503050406030204" pitchFamily="18" charset="0"/>
                            <a:ea typeface="Cambria Math" panose="02040503050406030204" pitchFamily="18" charset="0"/>
                          </a:rPr>
                          <m:t>C</m:t>
                        </m:r>
                      </m:e>
                      <m:sub>
                        <m:r>
                          <m:rPr>
                            <m:sty m:val="p"/>
                          </m:rPr>
                          <a:rPr lang="en-US" altLang="zh-CN" sz="1050">
                            <a:latin typeface="Cambria Math" panose="02040503050406030204" pitchFamily="18" charset="0"/>
                            <a:ea typeface="Cambria Math" panose="02040503050406030204" pitchFamily="18" charset="0"/>
                          </a:rPr>
                          <m:t>read</m:t>
                        </m:r>
                      </m:sub>
                    </m:sSub>
                  </m:oMath>
                </a14:m>
                <a:r>
                  <a:rPr lang="zh-CN" altLang="en-US" sz="1050" dirty="0"/>
                  <a:t>为消费者读取成本。</a:t>
                </a:r>
                <a:endParaRPr lang="en-US" altLang="zh-CN" sz="1050" b="1" dirty="0"/>
              </a:p>
              <a:p>
                <a:r>
                  <a:rPr lang="zh-CN" altLang="en-US" sz="1050" b="1" dirty="0"/>
                  <a:t>代价获取：</a:t>
                </a:r>
                <a:r>
                  <a:rPr lang="zh-CN" altLang="en-US" sz="1050" dirty="0"/>
                  <a:t>按预设增量比例对基表采样，构造代表性增量场景，复用数据库内部代价模型。</a:t>
                </a:r>
                <a:endParaRPr lang="en-US" altLang="zh-CN" sz="1050" dirty="0"/>
              </a:p>
              <a:p>
                <a:r>
                  <a:rPr lang="zh-CN" altLang="en-US" sz="1050" dirty="0"/>
                  <a:t>逐步采用正收益的物化候选并更新相关成本，按依赖顺序生成 </a:t>
                </a:r>
                <a:r>
                  <a:rPr lang="en-US" altLang="zh-CN" sz="1050" dirty="0"/>
                  <a:t>pipeline</a:t>
                </a:r>
                <a:r>
                  <a:rPr lang="zh-CN" altLang="en-US" sz="1050" dirty="0"/>
                  <a:t>。</a:t>
                </a:r>
                <a:endParaRPr lang="en-US" altLang="zh-CN" sz="1050" dirty="0"/>
              </a:p>
            </p:txBody>
          </p:sp>
        </mc:Choice>
        <mc:Fallback>
          <p:sp>
            <p:nvSpPr>
              <p:cNvPr id="5" name="文本框 4">
                <a:extLst>
                  <a:ext uri="{FF2B5EF4-FFF2-40B4-BE49-F238E27FC236}">
                    <a16:creationId xmlns:a16="http://schemas.microsoft.com/office/drawing/2014/main" id="{24A8A328-E0B2-D42B-877E-21348E9B445D}"/>
                  </a:ext>
                </a:extLst>
              </p:cNvPr>
              <p:cNvSpPr txBox="1">
                <a:spLocks noRot="1" noChangeAspect="1" noMove="1" noResize="1" noEditPoints="1" noAdjustHandles="1" noChangeArrowheads="1" noChangeShapeType="1" noTextEdit="1"/>
              </p:cNvSpPr>
              <p:nvPr/>
            </p:nvSpPr>
            <p:spPr>
              <a:xfrm>
                <a:off x="6109786" y="402561"/>
                <a:ext cx="6097248" cy="6018699"/>
              </a:xfrm>
              <a:prstGeom prst="rect">
                <a:avLst/>
              </a:prstGeom>
              <a:blipFill>
                <a:blip r:embed="rId2"/>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C0510E89-85F5-403A-D7CB-05F84043B70A}"/>
              </a:ext>
            </a:extLst>
          </p:cNvPr>
          <p:cNvSpPr txBox="1"/>
          <p:nvPr/>
        </p:nvSpPr>
        <p:spPr>
          <a:xfrm>
            <a:off x="2971798" y="87574"/>
            <a:ext cx="6097248" cy="369332"/>
          </a:xfrm>
          <a:prstGeom prst="rect">
            <a:avLst/>
          </a:prstGeom>
          <a:noFill/>
        </p:spPr>
        <p:txBody>
          <a:bodyPr wrap="square">
            <a:spAutoFit/>
          </a:bodyPr>
          <a:lstStyle/>
          <a:p>
            <a:r>
              <a:rPr lang="zh-CN" altLang="en-US" b="1" dirty="0"/>
              <a:t>基于统一计算图与增量代价的物化视图协同维护方案</a:t>
            </a:r>
          </a:p>
        </p:txBody>
      </p:sp>
      <p:pic>
        <p:nvPicPr>
          <p:cNvPr id="10" name="图片 9">
            <a:extLst>
              <a:ext uri="{FF2B5EF4-FFF2-40B4-BE49-F238E27FC236}">
                <a16:creationId xmlns:a16="http://schemas.microsoft.com/office/drawing/2014/main" id="{8F50556F-D69A-0032-36F3-67E3E93031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263" y="4780655"/>
            <a:ext cx="5187282" cy="1298412"/>
          </a:xfrm>
          <a:prstGeom prst="rect">
            <a:avLst/>
          </a:prstGeom>
        </p:spPr>
      </p:pic>
      <p:graphicFrame>
        <p:nvGraphicFramePr>
          <p:cNvPr id="12" name="表格 11">
            <a:extLst>
              <a:ext uri="{FF2B5EF4-FFF2-40B4-BE49-F238E27FC236}">
                <a16:creationId xmlns:a16="http://schemas.microsoft.com/office/drawing/2014/main" id="{CE4C29ED-E8A9-ED82-ECDF-94301078EEA2}"/>
              </a:ext>
            </a:extLst>
          </p:cNvPr>
          <p:cNvGraphicFramePr>
            <a:graphicFrameLocks noGrp="1"/>
          </p:cNvGraphicFramePr>
          <p:nvPr>
            <p:extLst>
              <p:ext uri="{D42A27DB-BD31-4B8C-83A1-F6EECF244321}">
                <p14:modId xmlns:p14="http://schemas.microsoft.com/office/powerpoint/2010/main" val="512833367"/>
              </p:ext>
            </p:extLst>
          </p:nvPr>
        </p:nvGraphicFramePr>
        <p:xfrm>
          <a:off x="270263" y="3583494"/>
          <a:ext cx="5076000" cy="487680"/>
        </p:xfrm>
        <a:graphic>
          <a:graphicData uri="http://schemas.openxmlformats.org/drawingml/2006/table">
            <a:tbl>
              <a:tblPr firstRow="1" bandRow="1">
                <a:tableStyleId>{5C22544A-7EE6-4342-B048-85BDC9FD1C3A}</a:tableStyleId>
              </a:tblPr>
              <a:tblGrid>
                <a:gridCol w="756000">
                  <a:extLst>
                    <a:ext uri="{9D8B030D-6E8A-4147-A177-3AD203B41FA5}">
                      <a16:colId xmlns:a16="http://schemas.microsoft.com/office/drawing/2014/main" val="2113271808"/>
                    </a:ext>
                  </a:extLst>
                </a:gridCol>
                <a:gridCol w="1080000">
                  <a:extLst>
                    <a:ext uri="{9D8B030D-6E8A-4147-A177-3AD203B41FA5}">
                      <a16:colId xmlns:a16="http://schemas.microsoft.com/office/drawing/2014/main" val="2145730743"/>
                    </a:ext>
                  </a:extLst>
                </a:gridCol>
                <a:gridCol w="1080000">
                  <a:extLst>
                    <a:ext uri="{9D8B030D-6E8A-4147-A177-3AD203B41FA5}">
                      <a16:colId xmlns:a16="http://schemas.microsoft.com/office/drawing/2014/main" val="1128697198"/>
                    </a:ext>
                  </a:extLst>
                </a:gridCol>
                <a:gridCol w="1080000">
                  <a:extLst>
                    <a:ext uri="{9D8B030D-6E8A-4147-A177-3AD203B41FA5}">
                      <a16:colId xmlns:a16="http://schemas.microsoft.com/office/drawing/2014/main" val="3154945172"/>
                    </a:ext>
                  </a:extLst>
                </a:gridCol>
                <a:gridCol w="1080000">
                  <a:extLst>
                    <a:ext uri="{9D8B030D-6E8A-4147-A177-3AD203B41FA5}">
                      <a16:colId xmlns:a16="http://schemas.microsoft.com/office/drawing/2014/main" val="864541062"/>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dirty="0">
                          <a:solidFill>
                            <a:schemeClr val="tx1"/>
                          </a:solidFill>
                        </a:rPr>
                        <a:t>目标视图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rPr>
                        <a:t>mv1</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00" dirty="0">
                          <a:solidFill>
                            <a:schemeClr val="tx1"/>
                          </a:solidFill>
                        </a:rPr>
                        <a:t>mv2</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00" dirty="0">
                          <a:solidFill>
                            <a:schemeClr val="tx1"/>
                          </a:solidFill>
                        </a:rPr>
                        <a:t>mv3</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000" dirty="0">
                          <a:solidFill>
                            <a:schemeClr val="tx1"/>
                          </a:solidFill>
                        </a:rPr>
                        <a:t>mv4</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565725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dirty="0">
                          <a:solidFill>
                            <a:schemeClr val="tx1"/>
                          </a:solidFill>
                        </a:rPr>
                        <a:t>定义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rPr>
                        <a:t>SUM(F</a:t>
                      </a:r>
                      <a:r>
                        <a:rPr lang="en-US" altLang="zh-CN" sz="1000" dirty="0">
                          <a:solidFill>
                            <a:schemeClr val="tx1"/>
                          </a:solidFill>
                          <a:latin typeface="Cambria" panose="02040503050406030204" pitchFamily="18" charset="0"/>
                          <a:ea typeface="Cambria" panose="02040503050406030204" pitchFamily="18" charset="0"/>
                        </a:rPr>
                        <a:t>⋈t2⋈t3)</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rPr>
                        <a:t>AVG(F</a:t>
                      </a:r>
                      <a:r>
                        <a:rPr lang="en-US" altLang="zh-CN" sz="1000" dirty="0">
                          <a:solidFill>
                            <a:schemeClr val="tx1"/>
                          </a:solidFill>
                          <a:latin typeface="Cambria" panose="02040503050406030204" pitchFamily="18" charset="0"/>
                          <a:ea typeface="Cambria" panose="02040503050406030204" pitchFamily="18" charset="0"/>
                        </a:rPr>
                        <a:t>)</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latin typeface="Cambria" panose="02040503050406030204" pitchFamily="18" charset="0"/>
                          <a:ea typeface="Cambria" panose="02040503050406030204" pitchFamily="18" charset="0"/>
                        </a:rPr>
                        <a:t>t2⋈t3⋈t4</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dirty="0">
                          <a:solidFill>
                            <a:schemeClr val="tx1"/>
                          </a:solidFill>
                        </a:rPr>
                        <a:t>F</a:t>
                      </a:r>
                      <a:r>
                        <a:rPr lang="en-US" altLang="zh-CN" sz="1000" dirty="0">
                          <a:solidFill>
                            <a:schemeClr val="tx1"/>
                          </a:solidFill>
                          <a:latin typeface="Cambria" panose="02040503050406030204" pitchFamily="18" charset="0"/>
                          <a:ea typeface="Cambria" panose="02040503050406030204" pitchFamily="18" charset="0"/>
                        </a:rPr>
                        <a:t>⋈t2⋈t3⋈t4</a:t>
                      </a:r>
                      <a:endParaRPr lang="zh-CN" altLang="en-US"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6558176"/>
                  </a:ext>
                </a:extLst>
              </a:tr>
            </a:tbl>
          </a:graphicData>
        </a:graphic>
      </p:graphicFrame>
      <p:pic>
        <p:nvPicPr>
          <p:cNvPr id="7" name="图片 6">
            <a:extLst>
              <a:ext uri="{FF2B5EF4-FFF2-40B4-BE49-F238E27FC236}">
                <a16:creationId xmlns:a16="http://schemas.microsoft.com/office/drawing/2014/main" id="{4E73B904-E239-E2A5-12C8-DFF9B9F52A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1278" y="1600920"/>
            <a:ext cx="5585405" cy="838560"/>
          </a:xfrm>
          <a:prstGeom prst="rect">
            <a:avLst/>
          </a:prstGeom>
        </p:spPr>
      </p:pic>
      <p:pic>
        <p:nvPicPr>
          <p:cNvPr id="9" name="图片 8">
            <a:extLst>
              <a:ext uri="{FF2B5EF4-FFF2-40B4-BE49-F238E27FC236}">
                <a16:creationId xmlns:a16="http://schemas.microsoft.com/office/drawing/2014/main" id="{18CF3892-5F3B-652F-85A0-CED746D3F3D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97960" y="1227940"/>
            <a:ext cx="5378280" cy="952724"/>
          </a:xfrm>
          <a:prstGeom prst="rect">
            <a:avLst/>
          </a:prstGeom>
        </p:spPr>
      </p:pic>
      <p:pic>
        <p:nvPicPr>
          <p:cNvPr id="15" name="图片 14">
            <a:extLst>
              <a:ext uri="{FF2B5EF4-FFF2-40B4-BE49-F238E27FC236}">
                <a16:creationId xmlns:a16="http://schemas.microsoft.com/office/drawing/2014/main" id="{9A30F982-F45C-E8AA-1252-4600CF5F5E5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09786" y="3583494"/>
            <a:ext cx="4556526" cy="1355722"/>
          </a:xfrm>
          <a:prstGeom prst="rect">
            <a:avLst/>
          </a:prstGeom>
        </p:spPr>
      </p:pic>
      <p:pic>
        <p:nvPicPr>
          <p:cNvPr id="17" name="图片 16">
            <a:extLst>
              <a:ext uri="{FF2B5EF4-FFF2-40B4-BE49-F238E27FC236}">
                <a16:creationId xmlns:a16="http://schemas.microsoft.com/office/drawing/2014/main" id="{E6ED4258-1960-1B90-FAFB-BBF56DDEE9B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767298" y="3247286"/>
            <a:ext cx="1439736" cy="1779449"/>
          </a:xfrm>
          <a:prstGeom prst="rect">
            <a:avLst/>
          </a:prstGeom>
        </p:spPr>
      </p:pic>
    </p:spTree>
    <p:extLst>
      <p:ext uri="{BB962C8B-B14F-4D97-AF65-F5344CB8AC3E}">
        <p14:creationId xmlns:p14="http://schemas.microsoft.com/office/powerpoint/2010/main" val="1061191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1E7AEAF0-4D86-71E2-B652-491975D0F3B2}"/>
              </a:ext>
            </a:extLst>
          </p:cNvPr>
          <p:cNvSpPr/>
          <p:nvPr/>
        </p:nvSpPr>
        <p:spPr>
          <a:xfrm>
            <a:off x="445615" y="363834"/>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 1</a:t>
            </a:r>
            <a:endParaRPr lang="zh-CN" altLang="en-US" dirty="0">
              <a:solidFill>
                <a:schemeClr val="tx1"/>
              </a:solidFill>
            </a:endParaRPr>
          </a:p>
        </p:txBody>
      </p:sp>
      <p:sp>
        <p:nvSpPr>
          <p:cNvPr id="7" name="矩形: 圆角 6">
            <a:extLst>
              <a:ext uri="{FF2B5EF4-FFF2-40B4-BE49-F238E27FC236}">
                <a16:creationId xmlns:a16="http://schemas.microsoft.com/office/drawing/2014/main" id="{1259DCEF-9392-F895-A2E1-F69848186C46}"/>
              </a:ext>
            </a:extLst>
          </p:cNvPr>
          <p:cNvSpPr/>
          <p:nvPr/>
        </p:nvSpPr>
        <p:spPr>
          <a:xfrm>
            <a:off x="445616" y="1051630"/>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 2</a:t>
            </a:r>
            <a:endParaRPr lang="zh-CN" altLang="en-US" dirty="0">
              <a:solidFill>
                <a:schemeClr val="tx1"/>
              </a:solidFill>
            </a:endParaRPr>
          </a:p>
        </p:txBody>
      </p:sp>
      <p:sp>
        <p:nvSpPr>
          <p:cNvPr id="8" name="矩形: 圆角 7">
            <a:extLst>
              <a:ext uri="{FF2B5EF4-FFF2-40B4-BE49-F238E27FC236}">
                <a16:creationId xmlns:a16="http://schemas.microsoft.com/office/drawing/2014/main" id="{C3762296-E326-44D2-CC47-FC18A44C48CE}"/>
              </a:ext>
            </a:extLst>
          </p:cNvPr>
          <p:cNvSpPr/>
          <p:nvPr/>
        </p:nvSpPr>
        <p:spPr>
          <a:xfrm>
            <a:off x="445616" y="1739426"/>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 2</a:t>
            </a:r>
            <a:endParaRPr lang="zh-CN" altLang="en-US" dirty="0">
              <a:solidFill>
                <a:schemeClr val="tx1"/>
              </a:solidFill>
            </a:endParaRPr>
          </a:p>
        </p:txBody>
      </p:sp>
      <p:sp>
        <p:nvSpPr>
          <p:cNvPr id="12" name="矩形: 圆角 11">
            <a:extLst>
              <a:ext uri="{FF2B5EF4-FFF2-40B4-BE49-F238E27FC236}">
                <a16:creationId xmlns:a16="http://schemas.microsoft.com/office/drawing/2014/main" id="{00C83147-C3B4-2EF9-6BD6-93114B5D9B54}"/>
              </a:ext>
            </a:extLst>
          </p:cNvPr>
          <p:cNvSpPr/>
          <p:nvPr/>
        </p:nvSpPr>
        <p:spPr>
          <a:xfrm>
            <a:off x="2238658" y="930900"/>
            <a:ext cx="14749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Join(A,B,C) 1</a:t>
            </a:r>
            <a:endParaRPr lang="zh-CN" altLang="en-US" dirty="0">
              <a:solidFill>
                <a:schemeClr val="tx1"/>
              </a:solidFill>
            </a:endParaRPr>
          </a:p>
        </p:txBody>
      </p:sp>
      <p:cxnSp>
        <p:nvCxnSpPr>
          <p:cNvPr id="19" name="直接箭头连接符 18">
            <a:extLst>
              <a:ext uri="{FF2B5EF4-FFF2-40B4-BE49-F238E27FC236}">
                <a16:creationId xmlns:a16="http://schemas.microsoft.com/office/drawing/2014/main" id="{038D1715-B270-1C5D-CE0A-5386E567409A}"/>
              </a:ext>
            </a:extLst>
          </p:cNvPr>
          <p:cNvCxnSpPr>
            <a:cxnSpLocks/>
            <a:stCxn id="7" idx="3"/>
            <a:endCxn id="12" idx="1"/>
          </p:cNvCxnSpPr>
          <p:nvPr/>
        </p:nvCxnSpPr>
        <p:spPr>
          <a:xfrm flipV="1">
            <a:off x="1272233" y="1146698"/>
            <a:ext cx="966425" cy="120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13D6314A-53E8-190B-8032-1E742DE37613}"/>
              </a:ext>
            </a:extLst>
          </p:cNvPr>
          <p:cNvCxnSpPr>
            <a:cxnSpLocks/>
            <a:stCxn id="6" idx="3"/>
            <a:endCxn id="12" idx="1"/>
          </p:cNvCxnSpPr>
          <p:nvPr/>
        </p:nvCxnSpPr>
        <p:spPr>
          <a:xfrm>
            <a:off x="1272232" y="579632"/>
            <a:ext cx="966426" cy="567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7F79C971-0AB4-6026-A0D1-FB0F5D9DB2B2}"/>
              </a:ext>
            </a:extLst>
          </p:cNvPr>
          <p:cNvCxnSpPr>
            <a:cxnSpLocks/>
            <a:stCxn id="8" idx="3"/>
            <a:endCxn id="12" idx="1"/>
          </p:cNvCxnSpPr>
          <p:nvPr/>
        </p:nvCxnSpPr>
        <p:spPr>
          <a:xfrm flipV="1">
            <a:off x="1272233" y="1146698"/>
            <a:ext cx="966425" cy="808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矩形: 圆角 57">
            <a:extLst>
              <a:ext uri="{FF2B5EF4-FFF2-40B4-BE49-F238E27FC236}">
                <a16:creationId xmlns:a16="http://schemas.microsoft.com/office/drawing/2014/main" id="{795F5934-7E25-0CB0-A932-9CDB49D438ED}"/>
              </a:ext>
            </a:extLst>
          </p:cNvPr>
          <p:cNvSpPr/>
          <p:nvPr/>
        </p:nvSpPr>
        <p:spPr>
          <a:xfrm>
            <a:off x="445615" y="2427222"/>
            <a:ext cx="826617"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 1</a:t>
            </a:r>
            <a:endParaRPr lang="zh-CN" altLang="en-US" dirty="0">
              <a:solidFill>
                <a:schemeClr val="tx1"/>
              </a:solidFill>
            </a:endParaRPr>
          </a:p>
        </p:txBody>
      </p:sp>
      <p:cxnSp>
        <p:nvCxnSpPr>
          <p:cNvPr id="60" name="直接箭头连接符 59">
            <a:extLst>
              <a:ext uri="{FF2B5EF4-FFF2-40B4-BE49-F238E27FC236}">
                <a16:creationId xmlns:a16="http://schemas.microsoft.com/office/drawing/2014/main" id="{418A15FB-093C-221A-D569-EFA84B8F63AA}"/>
              </a:ext>
            </a:extLst>
          </p:cNvPr>
          <p:cNvCxnSpPr>
            <a:cxnSpLocks/>
            <a:stCxn id="8" idx="3"/>
            <a:endCxn id="66" idx="1"/>
          </p:cNvCxnSpPr>
          <p:nvPr/>
        </p:nvCxnSpPr>
        <p:spPr>
          <a:xfrm>
            <a:off x="1272233" y="1955224"/>
            <a:ext cx="954169" cy="293103"/>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A7AB6FD3-4A45-2E61-2D6F-10166A347387}"/>
              </a:ext>
            </a:extLst>
          </p:cNvPr>
          <p:cNvCxnSpPr>
            <a:cxnSpLocks/>
            <a:stCxn id="58" idx="3"/>
            <a:endCxn id="66" idx="1"/>
          </p:cNvCxnSpPr>
          <p:nvPr/>
        </p:nvCxnSpPr>
        <p:spPr>
          <a:xfrm flipV="1">
            <a:off x="1272232" y="2248327"/>
            <a:ext cx="954170" cy="394693"/>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矩形: 圆角 65">
            <a:extLst>
              <a:ext uri="{FF2B5EF4-FFF2-40B4-BE49-F238E27FC236}">
                <a16:creationId xmlns:a16="http://schemas.microsoft.com/office/drawing/2014/main" id="{17A6F5C6-8EB0-966B-2CE6-081A64D74918}"/>
              </a:ext>
            </a:extLst>
          </p:cNvPr>
          <p:cNvSpPr/>
          <p:nvPr/>
        </p:nvSpPr>
        <p:spPr>
          <a:xfrm>
            <a:off x="2226402" y="2032529"/>
            <a:ext cx="1474927"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Join(B,C,D) 1</a:t>
            </a:r>
            <a:endParaRPr lang="zh-CN" altLang="en-US" dirty="0">
              <a:solidFill>
                <a:schemeClr val="tx1"/>
              </a:solidFill>
            </a:endParaRPr>
          </a:p>
        </p:txBody>
      </p:sp>
      <p:cxnSp>
        <p:nvCxnSpPr>
          <p:cNvPr id="67" name="直接箭头连接符 66">
            <a:extLst>
              <a:ext uri="{FF2B5EF4-FFF2-40B4-BE49-F238E27FC236}">
                <a16:creationId xmlns:a16="http://schemas.microsoft.com/office/drawing/2014/main" id="{D0BD2A40-F284-811C-0364-2E5D0C089B24}"/>
              </a:ext>
            </a:extLst>
          </p:cNvPr>
          <p:cNvCxnSpPr>
            <a:cxnSpLocks/>
            <a:stCxn id="7" idx="3"/>
            <a:endCxn id="66" idx="1"/>
          </p:cNvCxnSpPr>
          <p:nvPr/>
        </p:nvCxnSpPr>
        <p:spPr>
          <a:xfrm>
            <a:off x="1272233" y="1267428"/>
            <a:ext cx="954169" cy="980899"/>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5" name="矩形: 圆角 144">
            <a:extLst>
              <a:ext uri="{FF2B5EF4-FFF2-40B4-BE49-F238E27FC236}">
                <a16:creationId xmlns:a16="http://schemas.microsoft.com/office/drawing/2014/main" id="{D5FFC09B-DAD2-9C45-FD60-E124ACE07582}"/>
              </a:ext>
            </a:extLst>
          </p:cNvPr>
          <p:cNvSpPr/>
          <p:nvPr/>
        </p:nvSpPr>
        <p:spPr>
          <a:xfrm>
            <a:off x="5398615" y="508000"/>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 1</a:t>
            </a:r>
            <a:endParaRPr lang="zh-CN" altLang="en-US" dirty="0">
              <a:solidFill>
                <a:schemeClr val="tx1"/>
              </a:solidFill>
            </a:endParaRPr>
          </a:p>
        </p:txBody>
      </p:sp>
      <p:sp>
        <p:nvSpPr>
          <p:cNvPr id="146" name="矩形: 圆角 145">
            <a:extLst>
              <a:ext uri="{FF2B5EF4-FFF2-40B4-BE49-F238E27FC236}">
                <a16:creationId xmlns:a16="http://schemas.microsoft.com/office/drawing/2014/main" id="{E68D4469-9376-FB2A-66B7-05C510B952BA}"/>
              </a:ext>
            </a:extLst>
          </p:cNvPr>
          <p:cNvSpPr/>
          <p:nvPr/>
        </p:nvSpPr>
        <p:spPr>
          <a:xfrm>
            <a:off x="5398615" y="1148989"/>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 2</a:t>
            </a:r>
            <a:endParaRPr lang="zh-CN" altLang="en-US" dirty="0">
              <a:solidFill>
                <a:schemeClr val="tx1"/>
              </a:solidFill>
            </a:endParaRPr>
          </a:p>
        </p:txBody>
      </p:sp>
      <p:sp>
        <p:nvSpPr>
          <p:cNvPr id="147" name="矩形: 圆角 146">
            <a:extLst>
              <a:ext uri="{FF2B5EF4-FFF2-40B4-BE49-F238E27FC236}">
                <a16:creationId xmlns:a16="http://schemas.microsoft.com/office/drawing/2014/main" id="{60A2447D-E458-501A-268A-D5C503EB7454}"/>
              </a:ext>
            </a:extLst>
          </p:cNvPr>
          <p:cNvSpPr/>
          <p:nvPr/>
        </p:nvSpPr>
        <p:spPr>
          <a:xfrm>
            <a:off x="5398613" y="1789978"/>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 2</a:t>
            </a:r>
            <a:endParaRPr lang="zh-CN" altLang="en-US" dirty="0">
              <a:solidFill>
                <a:schemeClr val="tx1"/>
              </a:solidFill>
            </a:endParaRPr>
          </a:p>
        </p:txBody>
      </p:sp>
      <p:sp>
        <p:nvSpPr>
          <p:cNvPr id="149" name="矩形: 圆角 148">
            <a:extLst>
              <a:ext uri="{FF2B5EF4-FFF2-40B4-BE49-F238E27FC236}">
                <a16:creationId xmlns:a16="http://schemas.microsoft.com/office/drawing/2014/main" id="{525DB2FE-8C0A-23A5-8BEF-44B7B6670FD5}"/>
              </a:ext>
            </a:extLst>
          </p:cNvPr>
          <p:cNvSpPr/>
          <p:nvPr/>
        </p:nvSpPr>
        <p:spPr>
          <a:xfrm>
            <a:off x="6664138" y="1518586"/>
            <a:ext cx="1252728" cy="431596"/>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Join(B,C) 2</a:t>
            </a:r>
            <a:endParaRPr lang="zh-CN" altLang="en-US" dirty="0">
              <a:solidFill>
                <a:schemeClr val="tx1"/>
              </a:solidFill>
            </a:endParaRPr>
          </a:p>
        </p:txBody>
      </p:sp>
      <p:sp>
        <p:nvSpPr>
          <p:cNvPr id="150" name="矩形: 圆角 149">
            <a:extLst>
              <a:ext uri="{FF2B5EF4-FFF2-40B4-BE49-F238E27FC236}">
                <a16:creationId xmlns:a16="http://schemas.microsoft.com/office/drawing/2014/main" id="{01DF647E-6B53-A1EE-488F-E9DB25CE96AF}"/>
              </a:ext>
            </a:extLst>
          </p:cNvPr>
          <p:cNvSpPr/>
          <p:nvPr/>
        </p:nvSpPr>
        <p:spPr>
          <a:xfrm>
            <a:off x="8543229" y="923983"/>
            <a:ext cx="14749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Join(A,B,C) 1</a:t>
            </a:r>
            <a:endParaRPr lang="zh-CN" altLang="en-US" dirty="0">
              <a:solidFill>
                <a:schemeClr val="tx1"/>
              </a:solidFill>
            </a:endParaRPr>
          </a:p>
        </p:txBody>
      </p:sp>
      <p:cxnSp>
        <p:nvCxnSpPr>
          <p:cNvPr id="151" name="直接箭头连接符 150">
            <a:extLst>
              <a:ext uri="{FF2B5EF4-FFF2-40B4-BE49-F238E27FC236}">
                <a16:creationId xmlns:a16="http://schemas.microsoft.com/office/drawing/2014/main" id="{418CF8EE-F346-E6FF-3FA1-C97A5CB625E2}"/>
              </a:ext>
            </a:extLst>
          </p:cNvPr>
          <p:cNvCxnSpPr>
            <a:cxnSpLocks/>
            <a:stCxn id="145" idx="3"/>
            <a:endCxn id="150" idx="1"/>
          </p:cNvCxnSpPr>
          <p:nvPr/>
        </p:nvCxnSpPr>
        <p:spPr>
          <a:xfrm>
            <a:off x="6225232" y="723798"/>
            <a:ext cx="2317997" cy="415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2" name="直接箭头连接符 151">
            <a:extLst>
              <a:ext uri="{FF2B5EF4-FFF2-40B4-BE49-F238E27FC236}">
                <a16:creationId xmlns:a16="http://schemas.microsoft.com/office/drawing/2014/main" id="{4CE21FCE-AB4C-0B4F-F35A-A3ABDD30CE75}"/>
              </a:ext>
            </a:extLst>
          </p:cNvPr>
          <p:cNvCxnSpPr>
            <a:cxnSpLocks/>
            <a:stCxn id="146" idx="3"/>
            <a:endCxn id="149" idx="1"/>
          </p:cNvCxnSpPr>
          <p:nvPr/>
        </p:nvCxnSpPr>
        <p:spPr>
          <a:xfrm>
            <a:off x="6225232" y="1364787"/>
            <a:ext cx="438906" cy="369597"/>
          </a:xfrm>
          <a:prstGeom prst="straightConnector1">
            <a:avLst/>
          </a:prstGeom>
          <a:ln w="25400">
            <a:tailEnd type="triangle"/>
          </a:ln>
        </p:spPr>
        <p:style>
          <a:lnRef idx="1">
            <a:schemeClr val="accent5"/>
          </a:lnRef>
          <a:fillRef idx="0">
            <a:schemeClr val="accent5"/>
          </a:fillRef>
          <a:effectRef idx="0">
            <a:schemeClr val="accent5"/>
          </a:effectRef>
          <a:fontRef idx="minor">
            <a:schemeClr val="tx1"/>
          </a:fontRef>
        </p:style>
      </p:cxnSp>
      <p:cxnSp>
        <p:nvCxnSpPr>
          <p:cNvPr id="153" name="直接箭头连接符 152">
            <a:extLst>
              <a:ext uri="{FF2B5EF4-FFF2-40B4-BE49-F238E27FC236}">
                <a16:creationId xmlns:a16="http://schemas.microsoft.com/office/drawing/2014/main" id="{60011397-68C1-AEC5-ACA8-AB9F2D1CC166}"/>
              </a:ext>
            </a:extLst>
          </p:cNvPr>
          <p:cNvCxnSpPr>
            <a:cxnSpLocks/>
            <a:stCxn id="146" idx="3"/>
            <a:endCxn id="150" idx="1"/>
          </p:cNvCxnSpPr>
          <p:nvPr/>
        </p:nvCxnSpPr>
        <p:spPr>
          <a:xfrm flipV="1">
            <a:off x="6225232" y="1139781"/>
            <a:ext cx="2317997" cy="225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46B85135-592F-DB92-7276-629439FFD25B}"/>
              </a:ext>
            </a:extLst>
          </p:cNvPr>
          <p:cNvCxnSpPr>
            <a:cxnSpLocks/>
            <a:stCxn id="147" idx="3"/>
            <a:endCxn id="149" idx="1"/>
          </p:cNvCxnSpPr>
          <p:nvPr/>
        </p:nvCxnSpPr>
        <p:spPr>
          <a:xfrm flipV="1">
            <a:off x="6225230" y="1734384"/>
            <a:ext cx="438908" cy="271392"/>
          </a:xfrm>
          <a:prstGeom prst="straightConnector1">
            <a:avLst/>
          </a:prstGeom>
          <a:ln w="25400">
            <a:tailEnd type="triangle"/>
          </a:ln>
        </p:spPr>
        <p:style>
          <a:lnRef idx="1">
            <a:schemeClr val="accent5"/>
          </a:lnRef>
          <a:fillRef idx="0">
            <a:schemeClr val="accent5"/>
          </a:fillRef>
          <a:effectRef idx="0">
            <a:schemeClr val="accent5"/>
          </a:effectRef>
          <a:fontRef idx="minor">
            <a:schemeClr val="tx1"/>
          </a:fontRef>
        </p:style>
      </p:cxnSp>
      <p:sp>
        <p:nvSpPr>
          <p:cNvPr id="159" name="矩形: 圆角 158">
            <a:extLst>
              <a:ext uri="{FF2B5EF4-FFF2-40B4-BE49-F238E27FC236}">
                <a16:creationId xmlns:a16="http://schemas.microsoft.com/office/drawing/2014/main" id="{A011AA7F-DAFB-B911-4ECD-249832C9C375}"/>
              </a:ext>
            </a:extLst>
          </p:cNvPr>
          <p:cNvSpPr/>
          <p:nvPr/>
        </p:nvSpPr>
        <p:spPr>
          <a:xfrm>
            <a:off x="5398613" y="2430968"/>
            <a:ext cx="826617"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 1</a:t>
            </a:r>
            <a:endParaRPr lang="zh-CN" altLang="en-US" dirty="0">
              <a:solidFill>
                <a:schemeClr val="tx1"/>
              </a:solidFill>
            </a:endParaRPr>
          </a:p>
        </p:txBody>
      </p:sp>
      <p:cxnSp>
        <p:nvCxnSpPr>
          <p:cNvPr id="161" name="直接箭头连接符 160">
            <a:extLst>
              <a:ext uri="{FF2B5EF4-FFF2-40B4-BE49-F238E27FC236}">
                <a16:creationId xmlns:a16="http://schemas.microsoft.com/office/drawing/2014/main" id="{3944193B-7B2D-C354-552C-070021CF2C02}"/>
              </a:ext>
            </a:extLst>
          </p:cNvPr>
          <p:cNvCxnSpPr>
            <a:cxnSpLocks/>
            <a:stCxn id="147" idx="3"/>
            <a:endCxn id="163" idx="1"/>
          </p:cNvCxnSpPr>
          <p:nvPr/>
        </p:nvCxnSpPr>
        <p:spPr>
          <a:xfrm>
            <a:off x="6225230" y="2005776"/>
            <a:ext cx="2318000" cy="242551"/>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a:extLst>
              <a:ext uri="{FF2B5EF4-FFF2-40B4-BE49-F238E27FC236}">
                <a16:creationId xmlns:a16="http://schemas.microsoft.com/office/drawing/2014/main" id="{919A91F4-65D9-9C6B-9213-2D23F3FB602C}"/>
              </a:ext>
            </a:extLst>
          </p:cNvPr>
          <p:cNvCxnSpPr>
            <a:cxnSpLocks/>
            <a:stCxn id="159" idx="3"/>
            <a:endCxn id="163" idx="1"/>
          </p:cNvCxnSpPr>
          <p:nvPr/>
        </p:nvCxnSpPr>
        <p:spPr>
          <a:xfrm flipV="1">
            <a:off x="6225230" y="2248327"/>
            <a:ext cx="2318000" cy="398439"/>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3" name="矩形: 圆角 162">
            <a:extLst>
              <a:ext uri="{FF2B5EF4-FFF2-40B4-BE49-F238E27FC236}">
                <a16:creationId xmlns:a16="http://schemas.microsoft.com/office/drawing/2014/main" id="{A0DF0052-F804-9D36-7F87-8D33F8D6A4DC}"/>
              </a:ext>
            </a:extLst>
          </p:cNvPr>
          <p:cNvSpPr/>
          <p:nvPr/>
        </p:nvSpPr>
        <p:spPr>
          <a:xfrm>
            <a:off x="8543230" y="2032529"/>
            <a:ext cx="1474927"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Join(B,C,D) 1</a:t>
            </a:r>
            <a:endParaRPr lang="zh-CN" altLang="en-US" dirty="0">
              <a:solidFill>
                <a:schemeClr val="tx1"/>
              </a:solidFill>
            </a:endParaRPr>
          </a:p>
        </p:txBody>
      </p:sp>
      <p:cxnSp>
        <p:nvCxnSpPr>
          <p:cNvPr id="183" name="直接箭头连接符 182">
            <a:extLst>
              <a:ext uri="{FF2B5EF4-FFF2-40B4-BE49-F238E27FC236}">
                <a16:creationId xmlns:a16="http://schemas.microsoft.com/office/drawing/2014/main" id="{BB348428-67BC-3C5C-AE2B-C4A144A89F9B}"/>
              </a:ext>
            </a:extLst>
          </p:cNvPr>
          <p:cNvCxnSpPr>
            <a:cxnSpLocks/>
            <a:stCxn id="147" idx="3"/>
            <a:endCxn id="150" idx="1"/>
          </p:cNvCxnSpPr>
          <p:nvPr/>
        </p:nvCxnSpPr>
        <p:spPr>
          <a:xfrm flipV="1">
            <a:off x="6225230" y="1139781"/>
            <a:ext cx="2317999" cy="865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直接箭头连接符 185">
            <a:extLst>
              <a:ext uri="{FF2B5EF4-FFF2-40B4-BE49-F238E27FC236}">
                <a16:creationId xmlns:a16="http://schemas.microsoft.com/office/drawing/2014/main" id="{261147E2-7A85-3F58-32CC-9A563B405701}"/>
              </a:ext>
            </a:extLst>
          </p:cNvPr>
          <p:cNvCxnSpPr>
            <a:cxnSpLocks/>
            <a:stCxn id="149" idx="3"/>
            <a:endCxn id="150" idx="1"/>
          </p:cNvCxnSpPr>
          <p:nvPr/>
        </p:nvCxnSpPr>
        <p:spPr>
          <a:xfrm flipV="1">
            <a:off x="7916866" y="1139781"/>
            <a:ext cx="626363" cy="594603"/>
          </a:xfrm>
          <a:prstGeom prst="straightConnector1">
            <a:avLst/>
          </a:prstGeom>
          <a:ln w="25400">
            <a:tailEnd type="triangle"/>
          </a:ln>
        </p:spPr>
        <p:style>
          <a:lnRef idx="1">
            <a:schemeClr val="accent5"/>
          </a:lnRef>
          <a:fillRef idx="0">
            <a:schemeClr val="accent5"/>
          </a:fillRef>
          <a:effectRef idx="0">
            <a:schemeClr val="accent5"/>
          </a:effectRef>
          <a:fontRef idx="minor">
            <a:schemeClr val="tx1"/>
          </a:fontRef>
        </p:style>
      </p:cxnSp>
      <p:sp>
        <p:nvSpPr>
          <p:cNvPr id="204" name="弧形 203">
            <a:extLst>
              <a:ext uri="{FF2B5EF4-FFF2-40B4-BE49-F238E27FC236}">
                <a16:creationId xmlns:a16="http://schemas.microsoft.com/office/drawing/2014/main" id="{45CD29E4-45B4-C42F-2219-494387D4335A}"/>
              </a:ext>
            </a:extLst>
          </p:cNvPr>
          <p:cNvSpPr/>
          <p:nvPr/>
        </p:nvSpPr>
        <p:spPr>
          <a:xfrm>
            <a:off x="3225574" y="714589"/>
            <a:ext cx="5626654" cy="1176058"/>
          </a:xfrm>
          <a:prstGeom prst="arc">
            <a:avLst>
              <a:gd name="adj1" fmla="val 17180877"/>
              <a:gd name="adj2" fmla="val 21252519"/>
            </a:avLst>
          </a:prstGeom>
          <a:ln w="25400">
            <a:tailEnd type="triangle"/>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zh-CN" altLang="en-US"/>
          </a:p>
        </p:txBody>
      </p:sp>
      <p:cxnSp>
        <p:nvCxnSpPr>
          <p:cNvPr id="210" name="直接箭头连接符 209">
            <a:extLst>
              <a:ext uri="{FF2B5EF4-FFF2-40B4-BE49-F238E27FC236}">
                <a16:creationId xmlns:a16="http://schemas.microsoft.com/office/drawing/2014/main" id="{9122AC29-0439-D569-6E76-98842CB36CCB}"/>
              </a:ext>
            </a:extLst>
          </p:cNvPr>
          <p:cNvCxnSpPr>
            <a:cxnSpLocks/>
            <a:stCxn id="149" idx="3"/>
            <a:endCxn id="163" idx="1"/>
          </p:cNvCxnSpPr>
          <p:nvPr/>
        </p:nvCxnSpPr>
        <p:spPr>
          <a:xfrm>
            <a:off x="7916866" y="1734384"/>
            <a:ext cx="626364" cy="513943"/>
          </a:xfrm>
          <a:prstGeom prst="straightConnector1">
            <a:avLst/>
          </a:prstGeom>
          <a:ln w="25400">
            <a:tailEnd type="triangle"/>
          </a:ln>
        </p:spPr>
        <p:style>
          <a:lnRef idx="1">
            <a:schemeClr val="accent5"/>
          </a:lnRef>
          <a:fillRef idx="0">
            <a:schemeClr val="accent5"/>
          </a:fillRef>
          <a:effectRef idx="0">
            <a:schemeClr val="accent5"/>
          </a:effectRef>
          <a:fontRef idx="minor">
            <a:schemeClr val="tx1"/>
          </a:fontRef>
        </p:style>
      </p:cxnSp>
      <p:cxnSp>
        <p:nvCxnSpPr>
          <p:cNvPr id="214" name="直接箭头连接符 213">
            <a:extLst>
              <a:ext uri="{FF2B5EF4-FFF2-40B4-BE49-F238E27FC236}">
                <a16:creationId xmlns:a16="http://schemas.microsoft.com/office/drawing/2014/main" id="{DBC21AE5-4862-E25A-70AF-605F7D3EBE86}"/>
              </a:ext>
            </a:extLst>
          </p:cNvPr>
          <p:cNvCxnSpPr>
            <a:cxnSpLocks/>
            <a:stCxn id="146" idx="3"/>
            <a:endCxn id="163" idx="1"/>
          </p:cNvCxnSpPr>
          <p:nvPr/>
        </p:nvCxnSpPr>
        <p:spPr>
          <a:xfrm>
            <a:off x="6225232" y="1364787"/>
            <a:ext cx="2317998" cy="88354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9" name="弧形 218">
            <a:extLst>
              <a:ext uri="{FF2B5EF4-FFF2-40B4-BE49-F238E27FC236}">
                <a16:creationId xmlns:a16="http://schemas.microsoft.com/office/drawing/2014/main" id="{8646CB8C-8619-CEBB-1ADD-8176EE46506C}"/>
              </a:ext>
            </a:extLst>
          </p:cNvPr>
          <p:cNvSpPr/>
          <p:nvPr/>
        </p:nvSpPr>
        <p:spPr>
          <a:xfrm flipV="1">
            <a:off x="3225428" y="1467511"/>
            <a:ext cx="5626800" cy="1177200"/>
          </a:xfrm>
          <a:prstGeom prst="arc">
            <a:avLst>
              <a:gd name="adj1" fmla="val 17180877"/>
              <a:gd name="adj2" fmla="val 21252519"/>
            </a:avLst>
          </a:prstGeom>
          <a:ln w="25400">
            <a:tailEnd type="triangle"/>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zh-CN" altLang="en-US" dirty="0"/>
          </a:p>
        </p:txBody>
      </p:sp>
      <p:sp>
        <p:nvSpPr>
          <p:cNvPr id="250" name="箭头: 右 249">
            <a:extLst>
              <a:ext uri="{FF2B5EF4-FFF2-40B4-BE49-F238E27FC236}">
                <a16:creationId xmlns:a16="http://schemas.microsoft.com/office/drawing/2014/main" id="{953405F4-01AE-566D-FCCD-7BA1ED2EA18D}"/>
              </a:ext>
            </a:extLst>
          </p:cNvPr>
          <p:cNvSpPr/>
          <p:nvPr/>
        </p:nvSpPr>
        <p:spPr>
          <a:xfrm>
            <a:off x="4010375" y="1286900"/>
            <a:ext cx="1075056" cy="741261"/>
          </a:xfrm>
          <a:prstGeom prst="right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accent6">
                    <a:lumMod val="75000"/>
                  </a:schemeClr>
                </a:solidFill>
              </a:rPr>
              <a:t>按需拓展</a:t>
            </a:r>
            <a:endParaRPr lang="en-US" altLang="zh-CN" sz="1200" dirty="0">
              <a:solidFill>
                <a:schemeClr val="accent6">
                  <a:lumMod val="75000"/>
                </a:schemeClr>
              </a:solidFill>
            </a:endParaRPr>
          </a:p>
          <a:p>
            <a:pPr algn="ctr"/>
            <a:r>
              <a:rPr lang="zh-CN" altLang="en-US" sz="1200" dirty="0">
                <a:solidFill>
                  <a:schemeClr val="accent6">
                    <a:lumMod val="75000"/>
                  </a:schemeClr>
                </a:solidFill>
              </a:rPr>
              <a:t>共享节点</a:t>
            </a:r>
          </a:p>
        </p:txBody>
      </p:sp>
      <p:sp>
        <p:nvSpPr>
          <p:cNvPr id="252" name="文本框 251">
            <a:extLst>
              <a:ext uri="{FF2B5EF4-FFF2-40B4-BE49-F238E27FC236}">
                <a16:creationId xmlns:a16="http://schemas.microsoft.com/office/drawing/2014/main" id="{F4F355C1-AC3A-D2D9-4314-0611518DB99E}"/>
              </a:ext>
            </a:extLst>
          </p:cNvPr>
          <p:cNvSpPr txBox="1"/>
          <p:nvPr/>
        </p:nvSpPr>
        <p:spPr>
          <a:xfrm>
            <a:off x="1879339" y="2987960"/>
            <a:ext cx="6547439" cy="369332"/>
          </a:xfrm>
          <a:prstGeom prst="rect">
            <a:avLst/>
          </a:prstGeom>
          <a:noFill/>
        </p:spPr>
        <p:txBody>
          <a:bodyPr wrap="square">
            <a:spAutoFit/>
          </a:bodyPr>
          <a:lstStyle/>
          <a:p>
            <a:r>
              <a:rPr lang="zh-CN" altLang="en-US" dirty="0"/>
              <a:t>计算图迭代插入与按需拓展共享节点，数字代表该节点权重</a:t>
            </a:r>
          </a:p>
        </p:txBody>
      </p:sp>
    </p:spTree>
    <p:extLst>
      <p:ext uri="{BB962C8B-B14F-4D97-AF65-F5344CB8AC3E}">
        <p14:creationId xmlns:p14="http://schemas.microsoft.com/office/powerpoint/2010/main" val="3983335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文本框 275">
            <a:extLst>
              <a:ext uri="{FF2B5EF4-FFF2-40B4-BE49-F238E27FC236}">
                <a16:creationId xmlns:a16="http://schemas.microsoft.com/office/drawing/2014/main" id="{EF3AA0CF-D36A-3576-1E9E-4439DC005450}"/>
              </a:ext>
            </a:extLst>
          </p:cNvPr>
          <p:cNvSpPr txBox="1"/>
          <p:nvPr/>
        </p:nvSpPr>
        <p:spPr>
          <a:xfrm>
            <a:off x="7183878" y="2541027"/>
            <a:ext cx="1331128" cy="338554"/>
          </a:xfrm>
          <a:prstGeom prst="rect">
            <a:avLst/>
          </a:prstGeom>
          <a:noFill/>
        </p:spPr>
        <p:txBody>
          <a:bodyPr wrap="square" rtlCol="0">
            <a:spAutoFit/>
          </a:bodyPr>
          <a:lstStyle/>
          <a:p>
            <a:r>
              <a:rPr lang="en-US" altLang="zh-CN" sz="1600" dirty="0">
                <a:solidFill>
                  <a:schemeClr val="accent6">
                    <a:lumMod val="75000"/>
                  </a:schemeClr>
                </a:solidFill>
              </a:rPr>
              <a:t>foreign key</a:t>
            </a:r>
          </a:p>
        </p:txBody>
      </p:sp>
      <p:sp>
        <p:nvSpPr>
          <p:cNvPr id="27" name="矩形: 圆角 26">
            <a:extLst>
              <a:ext uri="{FF2B5EF4-FFF2-40B4-BE49-F238E27FC236}">
                <a16:creationId xmlns:a16="http://schemas.microsoft.com/office/drawing/2014/main" id="{5C3354AA-019F-ED74-26E2-F935558AD156}"/>
              </a:ext>
            </a:extLst>
          </p:cNvPr>
          <p:cNvSpPr/>
          <p:nvPr/>
        </p:nvSpPr>
        <p:spPr>
          <a:xfrm>
            <a:off x="207236" y="571142"/>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 2</a:t>
            </a:r>
            <a:endParaRPr lang="zh-CN" altLang="en-US" dirty="0">
              <a:solidFill>
                <a:schemeClr val="tx1"/>
              </a:solidFill>
            </a:endParaRPr>
          </a:p>
        </p:txBody>
      </p:sp>
      <p:sp>
        <p:nvSpPr>
          <p:cNvPr id="28" name="矩形: 圆角 27">
            <a:extLst>
              <a:ext uri="{FF2B5EF4-FFF2-40B4-BE49-F238E27FC236}">
                <a16:creationId xmlns:a16="http://schemas.microsoft.com/office/drawing/2014/main" id="{ADAF6F76-B247-7CA1-D4AC-92B33797C0FF}"/>
              </a:ext>
            </a:extLst>
          </p:cNvPr>
          <p:cNvSpPr/>
          <p:nvPr/>
        </p:nvSpPr>
        <p:spPr>
          <a:xfrm>
            <a:off x="1553684" y="571142"/>
            <a:ext cx="12527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AVG(A) 1</a:t>
            </a:r>
            <a:endParaRPr lang="zh-CN" altLang="en-US" dirty="0">
              <a:solidFill>
                <a:schemeClr val="tx1"/>
              </a:solidFill>
            </a:endParaRPr>
          </a:p>
        </p:txBody>
      </p:sp>
      <p:cxnSp>
        <p:nvCxnSpPr>
          <p:cNvPr id="29" name="直接箭头连接符 28">
            <a:extLst>
              <a:ext uri="{FF2B5EF4-FFF2-40B4-BE49-F238E27FC236}">
                <a16:creationId xmlns:a16="http://schemas.microsoft.com/office/drawing/2014/main" id="{55FDA5F8-7C7C-6C19-84AF-08C379A0E145}"/>
              </a:ext>
            </a:extLst>
          </p:cNvPr>
          <p:cNvCxnSpPr>
            <a:cxnSpLocks/>
            <a:stCxn id="27" idx="3"/>
            <a:endCxn id="28" idx="1"/>
          </p:cNvCxnSpPr>
          <p:nvPr/>
        </p:nvCxnSpPr>
        <p:spPr>
          <a:xfrm>
            <a:off x="1033853" y="786940"/>
            <a:ext cx="5198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矩形: 圆角 36">
            <a:extLst>
              <a:ext uri="{FF2B5EF4-FFF2-40B4-BE49-F238E27FC236}">
                <a16:creationId xmlns:a16="http://schemas.microsoft.com/office/drawing/2014/main" id="{B6609E98-D4F7-9533-3176-34BB3913B57D}"/>
              </a:ext>
            </a:extLst>
          </p:cNvPr>
          <p:cNvSpPr/>
          <p:nvPr/>
        </p:nvSpPr>
        <p:spPr>
          <a:xfrm>
            <a:off x="1553684" y="1135175"/>
            <a:ext cx="1252728"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SUM(A) 1</a:t>
            </a:r>
            <a:endParaRPr lang="zh-CN" altLang="en-US" dirty="0">
              <a:solidFill>
                <a:schemeClr val="tx1"/>
              </a:solidFill>
            </a:endParaRPr>
          </a:p>
        </p:txBody>
      </p:sp>
      <p:cxnSp>
        <p:nvCxnSpPr>
          <p:cNvPr id="38" name="直接箭头连接符 37">
            <a:extLst>
              <a:ext uri="{FF2B5EF4-FFF2-40B4-BE49-F238E27FC236}">
                <a16:creationId xmlns:a16="http://schemas.microsoft.com/office/drawing/2014/main" id="{7EF230C4-EC38-A7E2-7F78-79FB9D4091E1}"/>
              </a:ext>
            </a:extLst>
          </p:cNvPr>
          <p:cNvCxnSpPr>
            <a:cxnSpLocks/>
            <a:stCxn id="27" idx="3"/>
            <a:endCxn id="37" idx="1"/>
          </p:cNvCxnSpPr>
          <p:nvPr/>
        </p:nvCxnSpPr>
        <p:spPr>
          <a:xfrm>
            <a:off x="1033853" y="786940"/>
            <a:ext cx="519831" cy="564033"/>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圆角 41">
            <a:extLst>
              <a:ext uri="{FF2B5EF4-FFF2-40B4-BE49-F238E27FC236}">
                <a16:creationId xmlns:a16="http://schemas.microsoft.com/office/drawing/2014/main" id="{47A246E1-EAE0-3E45-85E3-534D3BB87A40}"/>
              </a:ext>
            </a:extLst>
          </p:cNvPr>
          <p:cNvSpPr/>
          <p:nvPr/>
        </p:nvSpPr>
        <p:spPr>
          <a:xfrm>
            <a:off x="207236" y="2056601"/>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 2</a:t>
            </a:r>
            <a:endParaRPr lang="zh-CN" altLang="en-US" dirty="0">
              <a:solidFill>
                <a:schemeClr val="tx1"/>
              </a:solidFill>
            </a:endParaRPr>
          </a:p>
        </p:txBody>
      </p:sp>
      <p:sp>
        <p:nvSpPr>
          <p:cNvPr id="43" name="矩形: 圆角 42">
            <a:extLst>
              <a:ext uri="{FF2B5EF4-FFF2-40B4-BE49-F238E27FC236}">
                <a16:creationId xmlns:a16="http://schemas.microsoft.com/office/drawing/2014/main" id="{8CFE20D2-0B8A-B294-D28B-EC6D42DB6B54}"/>
              </a:ext>
            </a:extLst>
          </p:cNvPr>
          <p:cNvSpPr/>
          <p:nvPr/>
        </p:nvSpPr>
        <p:spPr>
          <a:xfrm>
            <a:off x="1553684" y="2056601"/>
            <a:ext cx="12527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AVG(A) 2</a:t>
            </a:r>
            <a:endParaRPr lang="zh-CN" altLang="en-US" dirty="0">
              <a:solidFill>
                <a:schemeClr val="tx1"/>
              </a:solidFill>
            </a:endParaRPr>
          </a:p>
        </p:txBody>
      </p:sp>
      <p:cxnSp>
        <p:nvCxnSpPr>
          <p:cNvPr id="44" name="直接箭头连接符 43">
            <a:extLst>
              <a:ext uri="{FF2B5EF4-FFF2-40B4-BE49-F238E27FC236}">
                <a16:creationId xmlns:a16="http://schemas.microsoft.com/office/drawing/2014/main" id="{6FAB61B6-4029-1EC0-7372-DE367B648F64}"/>
              </a:ext>
            </a:extLst>
          </p:cNvPr>
          <p:cNvCxnSpPr>
            <a:cxnSpLocks/>
            <a:stCxn id="42" idx="3"/>
            <a:endCxn id="43" idx="1"/>
          </p:cNvCxnSpPr>
          <p:nvPr/>
        </p:nvCxnSpPr>
        <p:spPr>
          <a:xfrm>
            <a:off x="1033853" y="2272399"/>
            <a:ext cx="5198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矩形: 圆角 44">
            <a:extLst>
              <a:ext uri="{FF2B5EF4-FFF2-40B4-BE49-F238E27FC236}">
                <a16:creationId xmlns:a16="http://schemas.microsoft.com/office/drawing/2014/main" id="{F84988A7-48AC-15F5-0C71-993E4C941AAC}"/>
              </a:ext>
            </a:extLst>
          </p:cNvPr>
          <p:cNvSpPr/>
          <p:nvPr/>
        </p:nvSpPr>
        <p:spPr>
          <a:xfrm>
            <a:off x="1553684" y="2910348"/>
            <a:ext cx="1252728"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SUM(A) 2</a:t>
            </a:r>
            <a:endParaRPr lang="zh-CN" altLang="en-US" dirty="0">
              <a:solidFill>
                <a:schemeClr val="tx1"/>
              </a:solidFill>
            </a:endParaRPr>
          </a:p>
        </p:txBody>
      </p:sp>
      <p:sp>
        <p:nvSpPr>
          <p:cNvPr id="63" name="文本框 62">
            <a:extLst>
              <a:ext uri="{FF2B5EF4-FFF2-40B4-BE49-F238E27FC236}">
                <a16:creationId xmlns:a16="http://schemas.microsoft.com/office/drawing/2014/main" id="{33AB2164-86F7-56CC-E4F5-1C2C5B87608F}"/>
              </a:ext>
            </a:extLst>
          </p:cNvPr>
          <p:cNvSpPr txBox="1"/>
          <p:nvPr/>
        </p:nvSpPr>
        <p:spPr>
          <a:xfrm>
            <a:off x="1435873" y="2534378"/>
            <a:ext cx="850657" cy="338554"/>
          </a:xfrm>
          <a:prstGeom prst="rect">
            <a:avLst/>
          </a:prstGeom>
          <a:noFill/>
        </p:spPr>
        <p:txBody>
          <a:bodyPr wrap="square" rtlCol="0">
            <a:spAutoFit/>
          </a:bodyPr>
          <a:lstStyle/>
          <a:p>
            <a:r>
              <a:rPr lang="en-US" altLang="zh-CN" sz="1600" dirty="0">
                <a:solidFill>
                  <a:schemeClr val="accent6">
                    <a:lumMod val="75000"/>
                  </a:schemeClr>
                </a:solidFill>
              </a:rPr>
              <a:t>project</a:t>
            </a:r>
          </a:p>
        </p:txBody>
      </p:sp>
      <p:cxnSp>
        <p:nvCxnSpPr>
          <p:cNvPr id="64" name="直接箭头连接符 63">
            <a:extLst>
              <a:ext uri="{FF2B5EF4-FFF2-40B4-BE49-F238E27FC236}">
                <a16:creationId xmlns:a16="http://schemas.microsoft.com/office/drawing/2014/main" id="{053D0756-5293-6DC2-F258-E48BB5BDC548}"/>
              </a:ext>
            </a:extLst>
          </p:cNvPr>
          <p:cNvCxnSpPr>
            <a:cxnSpLocks/>
            <a:stCxn id="42" idx="3"/>
            <a:endCxn id="45" idx="1"/>
          </p:cNvCxnSpPr>
          <p:nvPr/>
        </p:nvCxnSpPr>
        <p:spPr>
          <a:xfrm>
            <a:off x="1033853" y="2272399"/>
            <a:ext cx="519831" cy="853747"/>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F17F8D26-D9D7-D94A-426E-23ECB6AD6C3A}"/>
              </a:ext>
            </a:extLst>
          </p:cNvPr>
          <p:cNvSpPr txBox="1"/>
          <p:nvPr/>
        </p:nvSpPr>
        <p:spPr>
          <a:xfrm>
            <a:off x="2268158" y="2534378"/>
            <a:ext cx="850657" cy="338554"/>
          </a:xfrm>
          <a:prstGeom prst="rect">
            <a:avLst/>
          </a:prstGeom>
          <a:noFill/>
        </p:spPr>
        <p:txBody>
          <a:bodyPr wrap="square" rtlCol="0">
            <a:spAutoFit/>
          </a:bodyPr>
          <a:lstStyle/>
          <a:p>
            <a:r>
              <a:rPr lang="en-US" altLang="zh-CN" sz="1600" dirty="0">
                <a:solidFill>
                  <a:schemeClr val="accent6">
                    <a:lumMod val="75000"/>
                  </a:schemeClr>
                </a:solidFill>
              </a:rPr>
              <a:t>division</a:t>
            </a:r>
          </a:p>
        </p:txBody>
      </p:sp>
      <p:cxnSp>
        <p:nvCxnSpPr>
          <p:cNvPr id="79" name="直接箭头连接符 78">
            <a:extLst>
              <a:ext uri="{FF2B5EF4-FFF2-40B4-BE49-F238E27FC236}">
                <a16:creationId xmlns:a16="http://schemas.microsoft.com/office/drawing/2014/main" id="{9B3B882C-3C45-4E7C-2D14-61BCC0CED45E}"/>
              </a:ext>
            </a:extLst>
          </p:cNvPr>
          <p:cNvCxnSpPr>
            <a:cxnSpLocks/>
            <a:stCxn id="43" idx="2"/>
            <a:endCxn id="45" idx="0"/>
          </p:cNvCxnSpPr>
          <p:nvPr/>
        </p:nvCxnSpPr>
        <p:spPr>
          <a:xfrm>
            <a:off x="2180048" y="2488197"/>
            <a:ext cx="0" cy="422151"/>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86" name="连接符: 肘形 85">
            <a:extLst>
              <a:ext uri="{FF2B5EF4-FFF2-40B4-BE49-F238E27FC236}">
                <a16:creationId xmlns:a16="http://schemas.microsoft.com/office/drawing/2014/main" id="{7CFFCA72-8CCB-E1E8-3228-9DC8BA601EFF}"/>
              </a:ext>
            </a:extLst>
          </p:cNvPr>
          <p:cNvCxnSpPr>
            <a:cxnSpLocks/>
            <a:stCxn id="45" idx="3"/>
            <a:endCxn id="43" idx="3"/>
          </p:cNvCxnSpPr>
          <p:nvPr/>
        </p:nvCxnSpPr>
        <p:spPr>
          <a:xfrm flipV="1">
            <a:off x="2806412" y="2272399"/>
            <a:ext cx="12700" cy="853747"/>
          </a:xfrm>
          <a:prstGeom prst="bentConnector3">
            <a:avLst>
              <a:gd name="adj1" fmla="val 1800000"/>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9" name="矩形: 圆角 98">
            <a:extLst>
              <a:ext uri="{FF2B5EF4-FFF2-40B4-BE49-F238E27FC236}">
                <a16:creationId xmlns:a16="http://schemas.microsoft.com/office/drawing/2014/main" id="{8CA95399-9641-7EF2-6087-131B9FDC0D87}"/>
              </a:ext>
            </a:extLst>
          </p:cNvPr>
          <p:cNvSpPr/>
          <p:nvPr/>
        </p:nvSpPr>
        <p:spPr>
          <a:xfrm>
            <a:off x="3450556" y="571142"/>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 1</a:t>
            </a:r>
            <a:endParaRPr lang="zh-CN" altLang="en-US" dirty="0">
              <a:solidFill>
                <a:schemeClr val="tx1"/>
              </a:solidFill>
            </a:endParaRPr>
          </a:p>
        </p:txBody>
      </p:sp>
      <p:sp>
        <p:nvSpPr>
          <p:cNvPr id="100" name="矩形: 圆角 99">
            <a:extLst>
              <a:ext uri="{FF2B5EF4-FFF2-40B4-BE49-F238E27FC236}">
                <a16:creationId xmlns:a16="http://schemas.microsoft.com/office/drawing/2014/main" id="{10D58040-DA35-18D0-06A9-606EEEB04331}"/>
              </a:ext>
            </a:extLst>
          </p:cNvPr>
          <p:cNvSpPr/>
          <p:nvPr/>
        </p:nvSpPr>
        <p:spPr>
          <a:xfrm>
            <a:off x="3450556" y="1135175"/>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 2</a:t>
            </a:r>
            <a:endParaRPr lang="zh-CN" altLang="en-US" dirty="0">
              <a:solidFill>
                <a:schemeClr val="tx1"/>
              </a:solidFill>
            </a:endParaRPr>
          </a:p>
        </p:txBody>
      </p:sp>
      <p:sp>
        <p:nvSpPr>
          <p:cNvPr id="101" name="矩形: 圆角 100">
            <a:extLst>
              <a:ext uri="{FF2B5EF4-FFF2-40B4-BE49-F238E27FC236}">
                <a16:creationId xmlns:a16="http://schemas.microsoft.com/office/drawing/2014/main" id="{C2F28CE3-3429-B0FB-F891-0E2659491886}"/>
              </a:ext>
            </a:extLst>
          </p:cNvPr>
          <p:cNvSpPr/>
          <p:nvPr/>
        </p:nvSpPr>
        <p:spPr>
          <a:xfrm>
            <a:off x="5112660" y="571142"/>
            <a:ext cx="1794690"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Left Join(A,B) 1</a:t>
            </a:r>
            <a:endParaRPr lang="zh-CN" altLang="en-US" dirty="0">
              <a:solidFill>
                <a:schemeClr val="tx1"/>
              </a:solidFill>
            </a:endParaRPr>
          </a:p>
        </p:txBody>
      </p:sp>
      <p:cxnSp>
        <p:nvCxnSpPr>
          <p:cNvPr id="102" name="直接箭头连接符 101">
            <a:extLst>
              <a:ext uri="{FF2B5EF4-FFF2-40B4-BE49-F238E27FC236}">
                <a16:creationId xmlns:a16="http://schemas.microsoft.com/office/drawing/2014/main" id="{4DC6D13C-A6FF-8549-F7DF-DE6219925D10}"/>
              </a:ext>
            </a:extLst>
          </p:cNvPr>
          <p:cNvCxnSpPr>
            <a:cxnSpLocks/>
            <a:stCxn id="99" idx="3"/>
            <a:endCxn id="101" idx="1"/>
          </p:cNvCxnSpPr>
          <p:nvPr/>
        </p:nvCxnSpPr>
        <p:spPr>
          <a:xfrm>
            <a:off x="4277173" y="786940"/>
            <a:ext cx="8354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322C5B90-54CF-6882-5C5B-22A1BBF7266A}"/>
              </a:ext>
            </a:extLst>
          </p:cNvPr>
          <p:cNvCxnSpPr>
            <a:cxnSpLocks/>
            <a:stCxn id="100" idx="3"/>
            <a:endCxn id="101" idx="1"/>
          </p:cNvCxnSpPr>
          <p:nvPr/>
        </p:nvCxnSpPr>
        <p:spPr>
          <a:xfrm flipV="1">
            <a:off x="4277173" y="786940"/>
            <a:ext cx="835487" cy="564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a:extLst>
              <a:ext uri="{FF2B5EF4-FFF2-40B4-BE49-F238E27FC236}">
                <a16:creationId xmlns:a16="http://schemas.microsoft.com/office/drawing/2014/main" id="{30FBC585-CC01-0C77-9AF4-03CA04FFA68F}"/>
              </a:ext>
            </a:extLst>
          </p:cNvPr>
          <p:cNvCxnSpPr>
            <a:cxnSpLocks/>
            <a:stCxn id="100" idx="3"/>
            <a:endCxn id="126" idx="1"/>
          </p:cNvCxnSpPr>
          <p:nvPr/>
        </p:nvCxnSpPr>
        <p:spPr>
          <a:xfrm>
            <a:off x="4277173" y="1350973"/>
            <a:ext cx="835487"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矩形: 圆角 125">
            <a:extLst>
              <a:ext uri="{FF2B5EF4-FFF2-40B4-BE49-F238E27FC236}">
                <a16:creationId xmlns:a16="http://schemas.microsoft.com/office/drawing/2014/main" id="{2E2AA728-3E67-D26D-42CC-2988B88AA3F8}"/>
              </a:ext>
            </a:extLst>
          </p:cNvPr>
          <p:cNvSpPr/>
          <p:nvPr/>
        </p:nvSpPr>
        <p:spPr>
          <a:xfrm>
            <a:off x="5112660" y="1135175"/>
            <a:ext cx="1794691"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Inner Join(A,B) 1</a:t>
            </a:r>
            <a:endParaRPr lang="zh-CN" altLang="en-US" dirty="0">
              <a:solidFill>
                <a:schemeClr val="tx1"/>
              </a:solidFill>
            </a:endParaRPr>
          </a:p>
        </p:txBody>
      </p:sp>
      <p:cxnSp>
        <p:nvCxnSpPr>
          <p:cNvPr id="150" name="直接箭头连接符 149">
            <a:extLst>
              <a:ext uri="{FF2B5EF4-FFF2-40B4-BE49-F238E27FC236}">
                <a16:creationId xmlns:a16="http://schemas.microsoft.com/office/drawing/2014/main" id="{5C430EAB-5CF6-BB01-9912-542627E95EBE}"/>
              </a:ext>
            </a:extLst>
          </p:cNvPr>
          <p:cNvCxnSpPr>
            <a:cxnSpLocks/>
            <a:stCxn id="99" idx="3"/>
            <a:endCxn id="126" idx="1"/>
          </p:cNvCxnSpPr>
          <p:nvPr/>
        </p:nvCxnSpPr>
        <p:spPr>
          <a:xfrm>
            <a:off x="4277173" y="786940"/>
            <a:ext cx="835487" cy="564033"/>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圆角 152">
            <a:extLst>
              <a:ext uri="{FF2B5EF4-FFF2-40B4-BE49-F238E27FC236}">
                <a16:creationId xmlns:a16="http://schemas.microsoft.com/office/drawing/2014/main" id="{3DB0DD85-4947-C315-9AAC-2C93972CA0AE}"/>
              </a:ext>
            </a:extLst>
          </p:cNvPr>
          <p:cNvSpPr/>
          <p:nvPr/>
        </p:nvSpPr>
        <p:spPr>
          <a:xfrm>
            <a:off x="3450556" y="2056601"/>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 1</a:t>
            </a:r>
            <a:endParaRPr lang="zh-CN" altLang="en-US" dirty="0">
              <a:solidFill>
                <a:schemeClr val="tx1"/>
              </a:solidFill>
            </a:endParaRPr>
          </a:p>
        </p:txBody>
      </p:sp>
      <p:sp>
        <p:nvSpPr>
          <p:cNvPr id="154" name="矩形: 圆角 153">
            <a:extLst>
              <a:ext uri="{FF2B5EF4-FFF2-40B4-BE49-F238E27FC236}">
                <a16:creationId xmlns:a16="http://schemas.microsoft.com/office/drawing/2014/main" id="{61350CB3-4F5A-2972-AD0B-D2B687AB4937}"/>
              </a:ext>
            </a:extLst>
          </p:cNvPr>
          <p:cNvSpPr/>
          <p:nvPr/>
        </p:nvSpPr>
        <p:spPr>
          <a:xfrm>
            <a:off x="3450556" y="2910348"/>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 2</a:t>
            </a:r>
            <a:endParaRPr lang="zh-CN" altLang="en-US" dirty="0">
              <a:solidFill>
                <a:schemeClr val="tx1"/>
              </a:solidFill>
            </a:endParaRPr>
          </a:p>
        </p:txBody>
      </p:sp>
      <p:sp>
        <p:nvSpPr>
          <p:cNvPr id="155" name="矩形: 圆角 154">
            <a:extLst>
              <a:ext uri="{FF2B5EF4-FFF2-40B4-BE49-F238E27FC236}">
                <a16:creationId xmlns:a16="http://schemas.microsoft.com/office/drawing/2014/main" id="{79CE2B56-F382-F017-DB76-9EF40940F268}"/>
              </a:ext>
            </a:extLst>
          </p:cNvPr>
          <p:cNvSpPr/>
          <p:nvPr/>
        </p:nvSpPr>
        <p:spPr>
          <a:xfrm>
            <a:off x="5112660" y="2056601"/>
            <a:ext cx="1794690"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Left Join(A,B) 2</a:t>
            </a:r>
            <a:endParaRPr lang="zh-CN" altLang="en-US" dirty="0">
              <a:solidFill>
                <a:schemeClr val="tx1"/>
              </a:solidFill>
            </a:endParaRPr>
          </a:p>
        </p:txBody>
      </p:sp>
      <p:cxnSp>
        <p:nvCxnSpPr>
          <p:cNvPr id="156" name="直接箭头连接符 155">
            <a:extLst>
              <a:ext uri="{FF2B5EF4-FFF2-40B4-BE49-F238E27FC236}">
                <a16:creationId xmlns:a16="http://schemas.microsoft.com/office/drawing/2014/main" id="{CA323EC1-F850-B0F3-78BC-F65F0BBC4647}"/>
              </a:ext>
            </a:extLst>
          </p:cNvPr>
          <p:cNvCxnSpPr>
            <a:cxnSpLocks/>
            <a:stCxn id="153" idx="3"/>
            <a:endCxn id="155" idx="1"/>
          </p:cNvCxnSpPr>
          <p:nvPr/>
        </p:nvCxnSpPr>
        <p:spPr>
          <a:xfrm>
            <a:off x="4277173" y="2272399"/>
            <a:ext cx="8354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a:extLst>
              <a:ext uri="{FF2B5EF4-FFF2-40B4-BE49-F238E27FC236}">
                <a16:creationId xmlns:a16="http://schemas.microsoft.com/office/drawing/2014/main" id="{6F88376F-8BBF-9445-1AA4-BF0D32AD2E1D}"/>
              </a:ext>
            </a:extLst>
          </p:cNvPr>
          <p:cNvCxnSpPr>
            <a:cxnSpLocks/>
            <a:stCxn id="154" idx="3"/>
            <a:endCxn id="155" idx="1"/>
          </p:cNvCxnSpPr>
          <p:nvPr/>
        </p:nvCxnSpPr>
        <p:spPr>
          <a:xfrm flipV="1">
            <a:off x="4277173" y="2272399"/>
            <a:ext cx="835487" cy="853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直接箭头连接符 157">
            <a:extLst>
              <a:ext uri="{FF2B5EF4-FFF2-40B4-BE49-F238E27FC236}">
                <a16:creationId xmlns:a16="http://schemas.microsoft.com/office/drawing/2014/main" id="{FF912BFE-3649-5BBB-A18C-6B567DC6D10D}"/>
              </a:ext>
            </a:extLst>
          </p:cNvPr>
          <p:cNvCxnSpPr>
            <a:cxnSpLocks/>
            <a:stCxn id="154" idx="3"/>
            <a:endCxn id="159" idx="1"/>
          </p:cNvCxnSpPr>
          <p:nvPr/>
        </p:nvCxnSpPr>
        <p:spPr>
          <a:xfrm>
            <a:off x="4277173" y="3126146"/>
            <a:ext cx="835487"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9" name="矩形: 圆角 158">
            <a:extLst>
              <a:ext uri="{FF2B5EF4-FFF2-40B4-BE49-F238E27FC236}">
                <a16:creationId xmlns:a16="http://schemas.microsoft.com/office/drawing/2014/main" id="{FD803D6B-ABD0-6467-0341-0E62BE7FB43B}"/>
              </a:ext>
            </a:extLst>
          </p:cNvPr>
          <p:cNvSpPr/>
          <p:nvPr/>
        </p:nvSpPr>
        <p:spPr>
          <a:xfrm>
            <a:off x="5112660" y="2910348"/>
            <a:ext cx="1794691"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Inner Join(A,B) 1</a:t>
            </a:r>
            <a:endParaRPr lang="zh-CN" altLang="en-US" dirty="0">
              <a:solidFill>
                <a:schemeClr val="tx1"/>
              </a:solidFill>
            </a:endParaRPr>
          </a:p>
        </p:txBody>
      </p:sp>
      <p:cxnSp>
        <p:nvCxnSpPr>
          <p:cNvPr id="160" name="直接箭头连接符 159">
            <a:extLst>
              <a:ext uri="{FF2B5EF4-FFF2-40B4-BE49-F238E27FC236}">
                <a16:creationId xmlns:a16="http://schemas.microsoft.com/office/drawing/2014/main" id="{693AABA2-9C73-A2E9-F50A-D03E31C72F36}"/>
              </a:ext>
            </a:extLst>
          </p:cNvPr>
          <p:cNvCxnSpPr>
            <a:cxnSpLocks/>
            <a:stCxn id="153" idx="3"/>
            <a:endCxn id="159" idx="1"/>
          </p:cNvCxnSpPr>
          <p:nvPr/>
        </p:nvCxnSpPr>
        <p:spPr>
          <a:xfrm>
            <a:off x="4277173" y="2272399"/>
            <a:ext cx="835487" cy="853747"/>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箭头连接符 160">
            <a:extLst>
              <a:ext uri="{FF2B5EF4-FFF2-40B4-BE49-F238E27FC236}">
                <a16:creationId xmlns:a16="http://schemas.microsoft.com/office/drawing/2014/main" id="{D378756F-71B4-B54A-9805-824BFB4A8B31}"/>
              </a:ext>
            </a:extLst>
          </p:cNvPr>
          <p:cNvCxnSpPr>
            <a:cxnSpLocks/>
            <a:stCxn id="155" idx="2"/>
            <a:endCxn id="159" idx="0"/>
          </p:cNvCxnSpPr>
          <p:nvPr/>
        </p:nvCxnSpPr>
        <p:spPr>
          <a:xfrm>
            <a:off x="6010005" y="2488197"/>
            <a:ext cx="1" cy="422151"/>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164" name="文本框 163">
            <a:extLst>
              <a:ext uri="{FF2B5EF4-FFF2-40B4-BE49-F238E27FC236}">
                <a16:creationId xmlns:a16="http://schemas.microsoft.com/office/drawing/2014/main" id="{613BF3FC-D7DE-2C53-D015-82DCAE07A81A}"/>
              </a:ext>
            </a:extLst>
          </p:cNvPr>
          <p:cNvSpPr txBox="1"/>
          <p:nvPr/>
        </p:nvSpPr>
        <p:spPr>
          <a:xfrm>
            <a:off x="5481731" y="2533645"/>
            <a:ext cx="850657" cy="338554"/>
          </a:xfrm>
          <a:prstGeom prst="rect">
            <a:avLst/>
          </a:prstGeom>
          <a:noFill/>
        </p:spPr>
        <p:txBody>
          <a:bodyPr wrap="square" rtlCol="0">
            <a:spAutoFit/>
          </a:bodyPr>
          <a:lstStyle/>
          <a:p>
            <a:r>
              <a:rPr lang="en-US" altLang="zh-CN" sz="1600" dirty="0">
                <a:solidFill>
                  <a:schemeClr val="accent6">
                    <a:lumMod val="75000"/>
                  </a:schemeClr>
                </a:solidFill>
              </a:rPr>
              <a:t>filter</a:t>
            </a:r>
          </a:p>
        </p:txBody>
      </p:sp>
      <p:sp>
        <p:nvSpPr>
          <p:cNvPr id="186" name="矩形: 圆角 185">
            <a:extLst>
              <a:ext uri="{FF2B5EF4-FFF2-40B4-BE49-F238E27FC236}">
                <a16:creationId xmlns:a16="http://schemas.microsoft.com/office/drawing/2014/main" id="{5A8190CB-402F-4C38-9FA1-5234FB5E967F}"/>
              </a:ext>
            </a:extLst>
          </p:cNvPr>
          <p:cNvSpPr/>
          <p:nvPr/>
        </p:nvSpPr>
        <p:spPr>
          <a:xfrm>
            <a:off x="7472632" y="1135175"/>
            <a:ext cx="147492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Join(A,B,C) 2</a:t>
            </a:r>
            <a:endParaRPr lang="zh-CN" altLang="en-US" dirty="0">
              <a:solidFill>
                <a:schemeClr val="tx1"/>
              </a:solidFill>
            </a:endParaRPr>
          </a:p>
        </p:txBody>
      </p:sp>
      <p:sp>
        <p:nvSpPr>
          <p:cNvPr id="188" name="矩形: 圆角 187">
            <a:extLst>
              <a:ext uri="{FF2B5EF4-FFF2-40B4-BE49-F238E27FC236}">
                <a16:creationId xmlns:a16="http://schemas.microsoft.com/office/drawing/2014/main" id="{C21B7095-9E85-0237-677B-5B920518238B}"/>
              </a:ext>
            </a:extLst>
          </p:cNvPr>
          <p:cNvSpPr/>
          <p:nvPr/>
        </p:nvSpPr>
        <p:spPr>
          <a:xfrm>
            <a:off x="9487865" y="571142"/>
            <a:ext cx="1707273"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Join(A,B,C,D) 1</a:t>
            </a:r>
            <a:endParaRPr lang="zh-CN" altLang="en-US" dirty="0">
              <a:solidFill>
                <a:schemeClr val="tx1"/>
              </a:solidFill>
            </a:endParaRPr>
          </a:p>
        </p:txBody>
      </p:sp>
      <p:sp>
        <p:nvSpPr>
          <p:cNvPr id="189" name="矩形: 圆角 188">
            <a:extLst>
              <a:ext uri="{FF2B5EF4-FFF2-40B4-BE49-F238E27FC236}">
                <a16:creationId xmlns:a16="http://schemas.microsoft.com/office/drawing/2014/main" id="{EE00FCA0-EFC7-3DE2-0812-04ECABA7FB1C}"/>
              </a:ext>
            </a:extLst>
          </p:cNvPr>
          <p:cNvSpPr/>
          <p:nvPr/>
        </p:nvSpPr>
        <p:spPr>
          <a:xfrm>
            <a:off x="7796787" y="571142"/>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 1</a:t>
            </a:r>
            <a:endParaRPr lang="zh-CN" altLang="en-US" dirty="0">
              <a:solidFill>
                <a:schemeClr val="tx1"/>
              </a:solidFill>
            </a:endParaRPr>
          </a:p>
        </p:txBody>
      </p:sp>
      <p:sp>
        <p:nvSpPr>
          <p:cNvPr id="190" name="矩形: 圆角 189">
            <a:extLst>
              <a:ext uri="{FF2B5EF4-FFF2-40B4-BE49-F238E27FC236}">
                <a16:creationId xmlns:a16="http://schemas.microsoft.com/office/drawing/2014/main" id="{9419DA40-F635-5520-AF1D-E7C55D105444}"/>
              </a:ext>
            </a:extLst>
          </p:cNvPr>
          <p:cNvSpPr/>
          <p:nvPr/>
        </p:nvSpPr>
        <p:spPr>
          <a:xfrm>
            <a:off x="9715137" y="1135175"/>
            <a:ext cx="1252728"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SUM(A) 1</a:t>
            </a:r>
            <a:endParaRPr lang="zh-CN" altLang="en-US" dirty="0">
              <a:solidFill>
                <a:schemeClr val="tx1"/>
              </a:solidFill>
            </a:endParaRPr>
          </a:p>
        </p:txBody>
      </p:sp>
      <p:cxnSp>
        <p:nvCxnSpPr>
          <p:cNvPr id="191" name="直接箭头连接符 190">
            <a:extLst>
              <a:ext uri="{FF2B5EF4-FFF2-40B4-BE49-F238E27FC236}">
                <a16:creationId xmlns:a16="http://schemas.microsoft.com/office/drawing/2014/main" id="{94BAC2AF-D570-71EF-37D1-659D19D6C5F2}"/>
              </a:ext>
            </a:extLst>
          </p:cNvPr>
          <p:cNvCxnSpPr>
            <a:cxnSpLocks/>
            <a:stCxn id="186" idx="3"/>
            <a:endCxn id="188" idx="1"/>
          </p:cNvCxnSpPr>
          <p:nvPr/>
        </p:nvCxnSpPr>
        <p:spPr>
          <a:xfrm flipV="1">
            <a:off x="8947559" y="786940"/>
            <a:ext cx="540306" cy="564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4" name="直接箭头连接符 193">
            <a:extLst>
              <a:ext uri="{FF2B5EF4-FFF2-40B4-BE49-F238E27FC236}">
                <a16:creationId xmlns:a16="http://schemas.microsoft.com/office/drawing/2014/main" id="{47710F56-646D-C468-D8B0-2171EFAD34F1}"/>
              </a:ext>
            </a:extLst>
          </p:cNvPr>
          <p:cNvCxnSpPr>
            <a:cxnSpLocks/>
            <a:stCxn id="186" idx="3"/>
            <a:endCxn id="190" idx="1"/>
          </p:cNvCxnSpPr>
          <p:nvPr/>
        </p:nvCxnSpPr>
        <p:spPr>
          <a:xfrm>
            <a:off x="8947559" y="1350973"/>
            <a:ext cx="767578"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直接箭头连接符 196">
            <a:extLst>
              <a:ext uri="{FF2B5EF4-FFF2-40B4-BE49-F238E27FC236}">
                <a16:creationId xmlns:a16="http://schemas.microsoft.com/office/drawing/2014/main" id="{F8A99F55-CB56-CC73-3776-F344E174C03C}"/>
              </a:ext>
            </a:extLst>
          </p:cNvPr>
          <p:cNvCxnSpPr>
            <a:cxnSpLocks/>
            <a:stCxn id="189" idx="3"/>
            <a:endCxn id="188" idx="1"/>
          </p:cNvCxnSpPr>
          <p:nvPr/>
        </p:nvCxnSpPr>
        <p:spPr>
          <a:xfrm>
            <a:off x="8623404" y="786940"/>
            <a:ext cx="8644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5" name="矩形: 圆角 204">
            <a:extLst>
              <a:ext uri="{FF2B5EF4-FFF2-40B4-BE49-F238E27FC236}">
                <a16:creationId xmlns:a16="http://schemas.microsoft.com/office/drawing/2014/main" id="{3DF76C7E-76FF-9E17-E629-397BB1B25580}"/>
              </a:ext>
            </a:extLst>
          </p:cNvPr>
          <p:cNvSpPr/>
          <p:nvPr/>
        </p:nvSpPr>
        <p:spPr>
          <a:xfrm>
            <a:off x="7472632" y="2910348"/>
            <a:ext cx="147492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Join(A,B,C) 2</a:t>
            </a:r>
            <a:endParaRPr lang="zh-CN" altLang="en-US" dirty="0">
              <a:solidFill>
                <a:schemeClr val="tx1"/>
              </a:solidFill>
            </a:endParaRPr>
          </a:p>
        </p:txBody>
      </p:sp>
      <p:sp>
        <p:nvSpPr>
          <p:cNvPr id="206" name="矩形: 圆角 205">
            <a:extLst>
              <a:ext uri="{FF2B5EF4-FFF2-40B4-BE49-F238E27FC236}">
                <a16:creationId xmlns:a16="http://schemas.microsoft.com/office/drawing/2014/main" id="{AA45B7FF-476B-095F-95E9-FFCB58A5FF6B}"/>
              </a:ext>
            </a:extLst>
          </p:cNvPr>
          <p:cNvSpPr/>
          <p:nvPr/>
        </p:nvSpPr>
        <p:spPr>
          <a:xfrm>
            <a:off x="9487865" y="2056601"/>
            <a:ext cx="1707273"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Join(A,B,C,D) 2</a:t>
            </a:r>
            <a:endParaRPr lang="zh-CN" altLang="en-US" dirty="0">
              <a:solidFill>
                <a:schemeClr val="tx1"/>
              </a:solidFill>
            </a:endParaRPr>
          </a:p>
        </p:txBody>
      </p:sp>
      <p:sp>
        <p:nvSpPr>
          <p:cNvPr id="207" name="矩形: 圆角 206">
            <a:extLst>
              <a:ext uri="{FF2B5EF4-FFF2-40B4-BE49-F238E27FC236}">
                <a16:creationId xmlns:a16="http://schemas.microsoft.com/office/drawing/2014/main" id="{081ACCA6-73A3-6B0B-6FE3-D4C2D23568A1}"/>
              </a:ext>
            </a:extLst>
          </p:cNvPr>
          <p:cNvSpPr/>
          <p:nvPr/>
        </p:nvSpPr>
        <p:spPr>
          <a:xfrm>
            <a:off x="7796787" y="2056601"/>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 1</a:t>
            </a:r>
            <a:endParaRPr lang="zh-CN" altLang="en-US" dirty="0">
              <a:solidFill>
                <a:schemeClr val="tx1"/>
              </a:solidFill>
            </a:endParaRPr>
          </a:p>
        </p:txBody>
      </p:sp>
      <p:sp>
        <p:nvSpPr>
          <p:cNvPr id="208" name="矩形: 圆角 207">
            <a:extLst>
              <a:ext uri="{FF2B5EF4-FFF2-40B4-BE49-F238E27FC236}">
                <a16:creationId xmlns:a16="http://schemas.microsoft.com/office/drawing/2014/main" id="{23D32323-E29D-538D-3E55-073F3CB37D5E}"/>
              </a:ext>
            </a:extLst>
          </p:cNvPr>
          <p:cNvSpPr/>
          <p:nvPr/>
        </p:nvSpPr>
        <p:spPr>
          <a:xfrm>
            <a:off x="9715137" y="2910348"/>
            <a:ext cx="1252728"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SUM(A) 1</a:t>
            </a:r>
            <a:endParaRPr lang="zh-CN" altLang="en-US" dirty="0">
              <a:solidFill>
                <a:schemeClr val="tx1"/>
              </a:solidFill>
            </a:endParaRPr>
          </a:p>
        </p:txBody>
      </p:sp>
      <p:cxnSp>
        <p:nvCxnSpPr>
          <p:cNvPr id="209" name="直接箭头连接符 208">
            <a:extLst>
              <a:ext uri="{FF2B5EF4-FFF2-40B4-BE49-F238E27FC236}">
                <a16:creationId xmlns:a16="http://schemas.microsoft.com/office/drawing/2014/main" id="{6BADC02F-FF93-73A7-E3D9-393EB9B7648F}"/>
              </a:ext>
            </a:extLst>
          </p:cNvPr>
          <p:cNvCxnSpPr>
            <a:cxnSpLocks/>
            <a:stCxn id="205" idx="3"/>
            <a:endCxn id="206" idx="1"/>
          </p:cNvCxnSpPr>
          <p:nvPr/>
        </p:nvCxnSpPr>
        <p:spPr>
          <a:xfrm flipV="1">
            <a:off x="8947559" y="2272399"/>
            <a:ext cx="540306" cy="853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0" name="直接箭头连接符 209">
            <a:extLst>
              <a:ext uri="{FF2B5EF4-FFF2-40B4-BE49-F238E27FC236}">
                <a16:creationId xmlns:a16="http://schemas.microsoft.com/office/drawing/2014/main" id="{FC599D31-E850-4B80-E276-C315B2DEBECE}"/>
              </a:ext>
            </a:extLst>
          </p:cNvPr>
          <p:cNvCxnSpPr>
            <a:cxnSpLocks/>
            <a:stCxn id="205" idx="3"/>
            <a:endCxn id="208" idx="1"/>
          </p:cNvCxnSpPr>
          <p:nvPr/>
        </p:nvCxnSpPr>
        <p:spPr>
          <a:xfrm>
            <a:off x="8947559" y="3126146"/>
            <a:ext cx="767578"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直接箭头连接符 210">
            <a:extLst>
              <a:ext uri="{FF2B5EF4-FFF2-40B4-BE49-F238E27FC236}">
                <a16:creationId xmlns:a16="http://schemas.microsoft.com/office/drawing/2014/main" id="{504357A7-C190-E033-1CF4-5253B7E57DAE}"/>
              </a:ext>
            </a:extLst>
          </p:cNvPr>
          <p:cNvCxnSpPr>
            <a:cxnSpLocks/>
            <a:stCxn id="207" idx="3"/>
            <a:endCxn id="206" idx="1"/>
          </p:cNvCxnSpPr>
          <p:nvPr/>
        </p:nvCxnSpPr>
        <p:spPr>
          <a:xfrm>
            <a:off x="8623404" y="2272399"/>
            <a:ext cx="8644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2" name="直接箭头连接符 211">
            <a:extLst>
              <a:ext uri="{FF2B5EF4-FFF2-40B4-BE49-F238E27FC236}">
                <a16:creationId xmlns:a16="http://schemas.microsoft.com/office/drawing/2014/main" id="{23FD3323-15A9-7D20-6584-D0863E6FD9CC}"/>
              </a:ext>
            </a:extLst>
          </p:cNvPr>
          <p:cNvCxnSpPr>
            <a:cxnSpLocks/>
            <a:stCxn id="206" idx="2"/>
            <a:endCxn id="208" idx="0"/>
          </p:cNvCxnSpPr>
          <p:nvPr/>
        </p:nvCxnSpPr>
        <p:spPr>
          <a:xfrm flipH="1">
            <a:off x="10341501" y="2488197"/>
            <a:ext cx="1" cy="422151"/>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271" name="直接箭头连接符 270">
            <a:extLst>
              <a:ext uri="{FF2B5EF4-FFF2-40B4-BE49-F238E27FC236}">
                <a16:creationId xmlns:a16="http://schemas.microsoft.com/office/drawing/2014/main" id="{77171592-4EB3-5E9E-CA5A-51BA14A78038}"/>
              </a:ext>
            </a:extLst>
          </p:cNvPr>
          <p:cNvCxnSpPr>
            <a:cxnSpLocks/>
            <a:stCxn id="205" idx="0"/>
            <a:endCxn id="207" idx="2"/>
          </p:cNvCxnSpPr>
          <p:nvPr/>
        </p:nvCxnSpPr>
        <p:spPr>
          <a:xfrm flipV="1">
            <a:off x="8210096" y="2488197"/>
            <a:ext cx="0" cy="422151"/>
          </a:xfrm>
          <a:prstGeom prst="straightConnector1">
            <a:avLst/>
          </a:prstGeom>
          <a:ln w="12700" cmpd="sng">
            <a:prstDash val="dash"/>
            <a:tailEnd type="triangle"/>
          </a:ln>
        </p:spPr>
        <p:style>
          <a:lnRef idx="1">
            <a:schemeClr val="accent5"/>
          </a:lnRef>
          <a:fillRef idx="0">
            <a:schemeClr val="accent5"/>
          </a:fillRef>
          <a:effectRef idx="0">
            <a:schemeClr val="accent5"/>
          </a:effectRef>
          <a:fontRef idx="minor">
            <a:schemeClr val="tx1"/>
          </a:fontRef>
        </p:style>
      </p:cxnSp>
      <p:grpSp>
        <p:nvGrpSpPr>
          <p:cNvPr id="288" name="组合 287">
            <a:extLst>
              <a:ext uri="{FF2B5EF4-FFF2-40B4-BE49-F238E27FC236}">
                <a16:creationId xmlns:a16="http://schemas.microsoft.com/office/drawing/2014/main" id="{B25E03E1-9C4C-B1D3-FB1A-4C91681DCDD2}"/>
              </a:ext>
            </a:extLst>
          </p:cNvPr>
          <p:cNvGrpSpPr/>
          <p:nvPr/>
        </p:nvGrpSpPr>
        <p:grpSpPr>
          <a:xfrm>
            <a:off x="4277173" y="1646062"/>
            <a:ext cx="3389814" cy="365091"/>
            <a:chOff x="4694916" y="31934"/>
            <a:chExt cx="3389814" cy="365091"/>
          </a:xfrm>
        </p:grpSpPr>
        <p:sp>
          <p:nvSpPr>
            <p:cNvPr id="283" name="箭头: 下 282">
              <a:extLst>
                <a:ext uri="{FF2B5EF4-FFF2-40B4-BE49-F238E27FC236}">
                  <a16:creationId xmlns:a16="http://schemas.microsoft.com/office/drawing/2014/main" id="{874DFE0E-EB49-33E5-A4C9-D282520E3178}"/>
                </a:ext>
              </a:extLst>
            </p:cNvPr>
            <p:cNvSpPr/>
            <p:nvPr/>
          </p:nvSpPr>
          <p:spPr>
            <a:xfrm>
              <a:off x="4844818" y="31934"/>
              <a:ext cx="454205" cy="365091"/>
            </a:xfrm>
            <a:prstGeom prst="down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7" name="文本框 286">
              <a:extLst>
                <a:ext uri="{FF2B5EF4-FFF2-40B4-BE49-F238E27FC236}">
                  <a16:creationId xmlns:a16="http://schemas.microsoft.com/office/drawing/2014/main" id="{DEF8BFF5-F4D5-796C-B270-24EBD64BD83D}"/>
                </a:ext>
              </a:extLst>
            </p:cNvPr>
            <p:cNvSpPr txBox="1"/>
            <p:nvPr/>
          </p:nvSpPr>
          <p:spPr>
            <a:xfrm>
              <a:off x="4694916" y="47567"/>
              <a:ext cx="3389814" cy="307777"/>
            </a:xfrm>
            <a:prstGeom prst="rect">
              <a:avLst/>
            </a:prstGeom>
            <a:noFill/>
          </p:spPr>
          <p:txBody>
            <a:bodyPr wrap="square">
              <a:spAutoFit/>
            </a:bodyPr>
            <a:lstStyle/>
            <a:p>
              <a:pPr algn="ctr"/>
              <a:r>
                <a:rPr lang="zh-CN" altLang="en-US" sz="1400" dirty="0">
                  <a:solidFill>
                    <a:schemeClr val="accent5">
                      <a:lumMod val="75000"/>
                    </a:schemeClr>
                  </a:solidFill>
                </a:rPr>
                <a:t>增量特性引入共享节点发现</a:t>
              </a:r>
            </a:p>
          </p:txBody>
        </p:sp>
      </p:grpSp>
      <p:cxnSp>
        <p:nvCxnSpPr>
          <p:cNvPr id="290" name="直接连接符 289">
            <a:extLst>
              <a:ext uri="{FF2B5EF4-FFF2-40B4-BE49-F238E27FC236}">
                <a16:creationId xmlns:a16="http://schemas.microsoft.com/office/drawing/2014/main" id="{9C8F5ED7-BBC8-BF01-465A-19E87CAFB7C3}"/>
              </a:ext>
            </a:extLst>
          </p:cNvPr>
          <p:cNvCxnSpPr/>
          <p:nvPr/>
        </p:nvCxnSpPr>
        <p:spPr>
          <a:xfrm>
            <a:off x="3230380" y="479685"/>
            <a:ext cx="0" cy="2877249"/>
          </a:xfrm>
          <a:prstGeom prst="line">
            <a:avLst/>
          </a:prstGeom>
          <a:ln>
            <a:solidFill>
              <a:schemeClr val="bg1">
                <a:lumMod val="65000"/>
              </a:schemeClr>
            </a:solidFill>
            <a:prstDash val="lgDash"/>
          </a:ln>
        </p:spPr>
        <p:style>
          <a:lnRef idx="1">
            <a:schemeClr val="dk1"/>
          </a:lnRef>
          <a:fillRef idx="0">
            <a:schemeClr val="dk1"/>
          </a:fillRef>
          <a:effectRef idx="0">
            <a:schemeClr val="dk1"/>
          </a:effectRef>
          <a:fontRef idx="minor">
            <a:schemeClr val="tx1"/>
          </a:fontRef>
        </p:style>
      </p:cxnSp>
      <p:cxnSp>
        <p:nvCxnSpPr>
          <p:cNvPr id="291" name="直接连接符 290">
            <a:extLst>
              <a:ext uri="{FF2B5EF4-FFF2-40B4-BE49-F238E27FC236}">
                <a16:creationId xmlns:a16="http://schemas.microsoft.com/office/drawing/2014/main" id="{751ED7FF-DEE7-D109-1F9E-7678499C7DC9}"/>
              </a:ext>
            </a:extLst>
          </p:cNvPr>
          <p:cNvCxnSpPr/>
          <p:nvPr/>
        </p:nvCxnSpPr>
        <p:spPr>
          <a:xfrm>
            <a:off x="7183878" y="472190"/>
            <a:ext cx="0" cy="2877249"/>
          </a:xfrm>
          <a:prstGeom prst="line">
            <a:avLst/>
          </a:prstGeom>
          <a:ln>
            <a:solidFill>
              <a:schemeClr val="bg1">
                <a:lumMod val="65000"/>
              </a:schemeClr>
            </a:solidFill>
            <a:prstDash val="lgDash"/>
          </a:ln>
        </p:spPr>
        <p:style>
          <a:lnRef idx="1">
            <a:schemeClr val="dk1"/>
          </a:lnRef>
          <a:fillRef idx="0">
            <a:schemeClr val="dk1"/>
          </a:fillRef>
          <a:effectRef idx="0">
            <a:schemeClr val="dk1"/>
          </a:effectRef>
          <a:fontRef idx="minor">
            <a:schemeClr val="tx1"/>
          </a:fontRef>
        </p:style>
      </p:cxnSp>
      <p:sp>
        <p:nvSpPr>
          <p:cNvPr id="292" name="文本框 291">
            <a:extLst>
              <a:ext uri="{FF2B5EF4-FFF2-40B4-BE49-F238E27FC236}">
                <a16:creationId xmlns:a16="http://schemas.microsoft.com/office/drawing/2014/main" id="{C72F8878-F433-E60C-3849-ABBD5347E65D}"/>
              </a:ext>
            </a:extLst>
          </p:cNvPr>
          <p:cNvSpPr txBox="1"/>
          <p:nvPr/>
        </p:nvSpPr>
        <p:spPr>
          <a:xfrm>
            <a:off x="749138" y="3391525"/>
            <a:ext cx="1609092" cy="369332"/>
          </a:xfrm>
          <a:prstGeom prst="rect">
            <a:avLst/>
          </a:prstGeom>
          <a:noFill/>
        </p:spPr>
        <p:txBody>
          <a:bodyPr wrap="square">
            <a:spAutoFit/>
          </a:bodyPr>
          <a:lstStyle/>
          <a:p>
            <a:r>
              <a:rPr lang="zh-CN" altLang="en-US" dirty="0"/>
              <a:t>增量维护语义</a:t>
            </a:r>
          </a:p>
        </p:txBody>
      </p:sp>
      <p:sp>
        <p:nvSpPr>
          <p:cNvPr id="293" name="文本框 292">
            <a:extLst>
              <a:ext uri="{FF2B5EF4-FFF2-40B4-BE49-F238E27FC236}">
                <a16:creationId xmlns:a16="http://schemas.microsoft.com/office/drawing/2014/main" id="{7BD79F88-0E5B-766D-E602-F8A8F168D6D6}"/>
              </a:ext>
            </a:extLst>
          </p:cNvPr>
          <p:cNvSpPr txBox="1"/>
          <p:nvPr/>
        </p:nvSpPr>
        <p:spPr>
          <a:xfrm>
            <a:off x="4336663" y="3391525"/>
            <a:ext cx="1679367" cy="369332"/>
          </a:xfrm>
          <a:prstGeom prst="rect">
            <a:avLst/>
          </a:prstGeom>
          <a:noFill/>
        </p:spPr>
        <p:txBody>
          <a:bodyPr wrap="square">
            <a:spAutoFit/>
          </a:bodyPr>
          <a:lstStyle/>
          <a:p>
            <a:r>
              <a:rPr lang="zh-CN" altLang="en-US" dirty="0"/>
              <a:t>数据包含关系</a:t>
            </a:r>
          </a:p>
        </p:txBody>
      </p:sp>
      <p:sp>
        <p:nvSpPr>
          <p:cNvPr id="294" name="文本框 293">
            <a:extLst>
              <a:ext uri="{FF2B5EF4-FFF2-40B4-BE49-F238E27FC236}">
                <a16:creationId xmlns:a16="http://schemas.microsoft.com/office/drawing/2014/main" id="{A3BB2C25-11E7-4905-E6C5-8539D9836157}"/>
              </a:ext>
            </a:extLst>
          </p:cNvPr>
          <p:cNvSpPr txBox="1"/>
          <p:nvPr/>
        </p:nvSpPr>
        <p:spPr>
          <a:xfrm>
            <a:off x="8629878" y="3391525"/>
            <a:ext cx="1201544" cy="369332"/>
          </a:xfrm>
          <a:prstGeom prst="rect">
            <a:avLst/>
          </a:prstGeom>
          <a:noFill/>
        </p:spPr>
        <p:txBody>
          <a:bodyPr wrap="square">
            <a:spAutoFit/>
          </a:bodyPr>
          <a:lstStyle/>
          <a:p>
            <a:r>
              <a:rPr lang="zh-CN" altLang="en-US" dirty="0"/>
              <a:t>约束引导</a:t>
            </a:r>
          </a:p>
        </p:txBody>
      </p:sp>
    </p:spTree>
    <p:extLst>
      <p:ext uri="{BB962C8B-B14F-4D97-AF65-F5344CB8AC3E}">
        <p14:creationId xmlns:p14="http://schemas.microsoft.com/office/powerpoint/2010/main" val="372836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78D05-B2D3-F335-03C2-494CADD2789A}"/>
            </a:ext>
          </a:extLst>
        </p:cNvPr>
        <p:cNvGrpSpPr/>
        <p:nvPr/>
      </p:nvGrpSpPr>
      <p:grpSpPr>
        <a:xfrm>
          <a:off x="0" y="0"/>
          <a:ext cx="0" cy="0"/>
          <a:chOff x="0" y="0"/>
          <a:chExt cx="0" cy="0"/>
        </a:xfrm>
      </p:grpSpPr>
      <p:sp>
        <p:nvSpPr>
          <p:cNvPr id="6" name="矩形: 圆角 5">
            <a:extLst>
              <a:ext uri="{FF2B5EF4-FFF2-40B4-BE49-F238E27FC236}">
                <a16:creationId xmlns:a16="http://schemas.microsoft.com/office/drawing/2014/main" id="{663FF214-CB4D-2366-0981-D6F200632011}"/>
              </a:ext>
            </a:extLst>
          </p:cNvPr>
          <p:cNvSpPr/>
          <p:nvPr/>
        </p:nvSpPr>
        <p:spPr>
          <a:xfrm>
            <a:off x="467560" y="707649"/>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7" name="矩形: 圆角 6">
            <a:extLst>
              <a:ext uri="{FF2B5EF4-FFF2-40B4-BE49-F238E27FC236}">
                <a16:creationId xmlns:a16="http://schemas.microsoft.com/office/drawing/2014/main" id="{545CA053-F82F-7909-9176-9C18635E4636}"/>
              </a:ext>
            </a:extLst>
          </p:cNvPr>
          <p:cNvSpPr/>
          <p:nvPr/>
        </p:nvSpPr>
        <p:spPr>
          <a:xfrm>
            <a:off x="467561" y="1395445"/>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8" name="矩形: 圆角 7">
            <a:extLst>
              <a:ext uri="{FF2B5EF4-FFF2-40B4-BE49-F238E27FC236}">
                <a16:creationId xmlns:a16="http://schemas.microsoft.com/office/drawing/2014/main" id="{BA97B1F5-987A-B346-AA79-0FC9F74CC810}"/>
              </a:ext>
            </a:extLst>
          </p:cNvPr>
          <p:cNvSpPr/>
          <p:nvPr/>
        </p:nvSpPr>
        <p:spPr>
          <a:xfrm>
            <a:off x="467561" y="2083241"/>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sp>
        <p:nvSpPr>
          <p:cNvPr id="12" name="矩形: 圆角 11">
            <a:extLst>
              <a:ext uri="{FF2B5EF4-FFF2-40B4-BE49-F238E27FC236}">
                <a16:creationId xmlns:a16="http://schemas.microsoft.com/office/drawing/2014/main" id="{47899612-85F6-300D-9625-13A4789F7618}"/>
              </a:ext>
            </a:extLst>
          </p:cNvPr>
          <p:cNvSpPr/>
          <p:nvPr/>
        </p:nvSpPr>
        <p:spPr>
          <a:xfrm>
            <a:off x="3448201" y="1475588"/>
            <a:ext cx="14749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Join(t1,t2,t3)</a:t>
            </a:r>
            <a:endParaRPr lang="zh-CN" altLang="en-US" dirty="0">
              <a:solidFill>
                <a:schemeClr val="tx1"/>
              </a:solidFill>
            </a:endParaRPr>
          </a:p>
        </p:txBody>
      </p:sp>
      <p:cxnSp>
        <p:nvCxnSpPr>
          <p:cNvPr id="19" name="直接箭头连接符 18">
            <a:extLst>
              <a:ext uri="{FF2B5EF4-FFF2-40B4-BE49-F238E27FC236}">
                <a16:creationId xmlns:a16="http://schemas.microsoft.com/office/drawing/2014/main" id="{E9B403AA-5E60-00ED-12A5-963887ACBE1D}"/>
              </a:ext>
            </a:extLst>
          </p:cNvPr>
          <p:cNvCxnSpPr>
            <a:cxnSpLocks/>
            <a:stCxn id="7" idx="3"/>
            <a:endCxn id="12" idx="1"/>
          </p:cNvCxnSpPr>
          <p:nvPr/>
        </p:nvCxnSpPr>
        <p:spPr>
          <a:xfrm>
            <a:off x="1294178" y="1611243"/>
            <a:ext cx="2154023" cy="80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10B52423-3986-CC2A-4A5C-911BBF3FB841}"/>
              </a:ext>
            </a:extLst>
          </p:cNvPr>
          <p:cNvCxnSpPr>
            <a:cxnSpLocks/>
            <a:stCxn id="6" idx="3"/>
            <a:endCxn id="2" idx="1"/>
          </p:cNvCxnSpPr>
          <p:nvPr/>
        </p:nvCxnSpPr>
        <p:spPr>
          <a:xfrm>
            <a:off x="1294177" y="923447"/>
            <a:ext cx="616641" cy="25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826F86F7-7261-00DC-4C6E-9A6A1C6E9C6C}"/>
              </a:ext>
            </a:extLst>
          </p:cNvPr>
          <p:cNvCxnSpPr>
            <a:cxnSpLocks/>
            <a:stCxn id="8" idx="3"/>
            <a:endCxn id="12" idx="1"/>
          </p:cNvCxnSpPr>
          <p:nvPr/>
        </p:nvCxnSpPr>
        <p:spPr>
          <a:xfrm flipV="1">
            <a:off x="1294178" y="1691386"/>
            <a:ext cx="2154023" cy="607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矩形: 圆角 1">
            <a:extLst>
              <a:ext uri="{FF2B5EF4-FFF2-40B4-BE49-F238E27FC236}">
                <a16:creationId xmlns:a16="http://schemas.microsoft.com/office/drawing/2014/main" id="{FBCCE2CD-3163-0232-3770-CAAC5229BF20}"/>
              </a:ext>
            </a:extLst>
          </p:cNvPr>
          <p:cNvSpPr/>
          <p:nvPr/>
        </p:nvSpPr>
        <p:spPr>
          <a:xfrm>
            <a:off x="1910818" y="963849"/>
            <a:ext cx="122576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 _filter</a:t>
            </a:r>
            <a:endParaRPr lang="zh-CN" altLang="en-US" dirty="0">
              <a:solidFill>
                <a:schemeClr val="tx1"/>
              </a:solidFill>
            </a:endParaRPr>
          </a:p>
        </p:txBody>
      </p:sp>
      <p:cxnSp>
        <p:nvCxnSpPr>
          <p:cNvPr id="10" name="直接箭头连接符 9">
            <a:extLst>
              <a:ext uri="{FF2B5EF4-FFF2-40B4-BE49-F238E27FC236}">
                <a16:creationId xmlns:a16="http://schemas.microsoft.com/office/drawing/2014/main" id="{604DA63F-26DC-9293-3E14-73CE6577A89E}"/>
              </a:ext>
            </a:extLst>
          </p:cNvPr>
          <p:cNvCxnSpPr>
            <a:cxnSpLocks/>
            <a:stCxn id="2" idx="3"/>
            <a:endCxn id="12" idx="1"/>
          </p:cNvCxnSpPr>
          <p:nvPr/>
        </p:nvCxnSpPr>
        <p:spPr>
          <a:xfrm>
            <a:off x="3136580" y="1179647"/>
            <a:ext cx="311621" cy="5117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6E976B33-2DDC-728E-DA6C-1DA6CE520C4F}"/>
              </a:ext>
            </a:extLst>
          </p:cNvPr>
          <p:cNvSpPr txBox="1"/>
          <p:nvPr/>
        </p:nvSpPr>
        <p:spPr>
          <a:xfrm>
            <a:off x="193335" y="153651"/>
            <a:ext cx="6579716" cy="369332"/>
          </a:xfrm>
          <a:prstGeom prst="rect">
            <a:avLst/>
          </a:prstGeom>
          <a:noFill/>
        </p:spPr>
        <p:txBody>
          <a:bodyPr wrap="square">
            <a:spAutoFit/>
          </a:bodyPr>
          <a:lstStyle/>
          <a:p>
            <a:r>
              <a:rPr lang="en-US" altLang="zh-CN" b="1" dirty="0"/>
              <a:t>Mv1     select Sum(t1_c1) from t1 join t2 join t3 where t1_c1 &gt; 0; </a:t>
            </a:r>
            <a:endParaRPr lang="zh-CN" altLang="en-US" b="1" dirty="0"/>
          </a:p>
        </p:txBody>
      </p:sp>
      <p:sp>
        <p:nvSpPr>
          <p:cNvPr id="49" name="文本框 48">
            <a:extLst>
              <a:ext uri="{FF2B5EF4-FFF2-40B4-BE49-F238E27FC236}">
                <a16:creationId xmlns:a16="http://schemas.microsoft.com/office/drawing/2014/main" id="{3B5580A3-5D09-A62F-2B6B-9F5A7F05CD65}"/>
              </a:ext>
            </a:extLst>
          </p:cNvPr>
          <p:cNvSpPr txBox="1"/>
          <p:nvPr/>
        </p:nvSpPr>
        <p:spPr>
          <a:xfrm>
            <a:off x="364014" y="2701167"/>
            <a:ext cx="5842492" cy="369332"/>
          </a:xfrm>
          <a:prstGeom prst="rect">
            <a:avLst/>
          </a:prstGeom>
          <a:noFill/>
        </p:spPr>
        <p:txBody>
          <a:bodyPr wrap="square">
            <a:spAutoFit/>
          </a:bodyPr>
          <a:lstStyle/>
          <a:p>
            <a:r>
              <a:rPr lang="en-US" altLang="zh-CN" b="1" dirty="0"/>
              <a:t>Mv2 select Avg(t1_c1) from t1 where t1_c1 &gt; 0; </a:t>
            </a:r>
            <a:endParaRPr lang="zh-CN" altLang="en-US" b="1" dirty="0"/>
          </a:p>
        </p:txBody>
      </p:sp>
      <p:sp>
        <p:nvSpPr>
          <p:cNvPr id="53" name="矩形: 圆角 52">
            <a:extLst>
              <a:ext uri="{FF2B5EF4-FFF2-40B4-BE49-F238E27FC236}">
                <a16:creationId xmlns:a16="http://schemas.microsoft.com/office/drawing/2014/main" id="{D8DF786C-9520-7A2E-F6B4-1104F91E2E1C}"/>
              </a:ext>
            </a:extLst>
          </p:cNvPr>
          <p:cNvSpPr/>
          <p:nvPr/>
        </p:nvSpPr>
        <p:spPr>
          <a:xfrm>
            <a:off x="5639379" y="1470500"/>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cxnSp>
        <p:nvCxnSpPr>
          <p:cNvPr id="54" name="直接箭头连接符 53">
            <a:extLst>
              <a:ext uri="{FF2B5EF4-FFF2-40B4-BE49-F238E27FC236}">
                <a16:creationId xmlns:a16="http://schemas.microsoft.com/office/drawing/2014/main" id="{1F73CEBF-39EF-462F-330A-7BEE0652046E}"/>
              </a:ext>
            </a:extLst>
          </p:cNvPr>
          <p:cNvCxnSpPr>
            <a:cxnSpLocks/>
            <a:stCxn id="12" idx="3"/>
            <a:endCxn id="53" idx="1"/>
          </p:cNvCxnSpPr>
          <p:nvPr/>
        </p:nvCxnSpPr>
        <p:spPr>
          <a:xfrm flipV="1">
            <a:off x="4923129" y="1686298"/>
            <a:ext cx="716250" cy="5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5" name="矩形: 圆角 164">
            <a:extLst>
              <a:ext uri="{FF2B5EF4-FFF2-40B4-BE49-F238E27FC236}">
                <a16:creationId xmlns:a16="http://schemas.microsoft.com/office/drawing/2014/main" id="{EFA20748-C372-4757-DD4F-1F56534BE2FE}"/>
              </a:ext>
            </a:extLst>
          </p:cNvPr>
          <p:cNvSpPr/>
          <p:nvPr/>
        </p:nvSpPr>
        <p:spPr>
          <a:xfrm>
            <a:off x="300089" y="3499818"/>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166" name="矩形: 圆角 165">
            <a:extLst>
              <a:ext uri="{FF2B5EF4-FFF2-40B4-BE49-F238E27FC236}">
                <a16:creationId xmlns:a16="http://schemas.microsoft.com/office/drawing/2014/main" id="{508AC61C-5718-3313-6BC2-B2F624793966}"/>
              </a:ext>
            </a:extLst>
          </p:cNvPr>
          <p:cNvSpPr/>
          <p:nvPr/>
        </p:nvSpPr>
        <p:spPr>
          <a:xfrm>
            <a:off x="300090" y="4187614"/>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167" name="矩形: 圆角 166">
            <a:extLst>
              <a:ext uri="{FF2B5EF4-FFF2-40B4-BE49-F238E27FC236}">
                <a16:creationId xmlns:a16="http://schemas.microsoft.com/office/drawing/2014/main" id="{88068DE7-1258-3E39-3C6E-4A2FC17F00E6}"/>
              </a:ext>
            </a:extLst>
          </p:cNvPr>
          <p:cNvSpPr/>
          <p:nvPr/>
        </p:nvSpPr>
        <p:spPr>
          <a:xfrm>
            <a:off x="193335" y="5289187"/>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sp>
        <p:nvSpPr>
          <p:cNvPr id="168" name="矩形: 圆角 167">
            <a:extLst>
              <a:ext uri="{FF2B5EF4-FFF2-40B4-BE49-F238E27FC236}">
                <a16:creationId xmlns:a16="http://schemas.microsoft.com/office/drawing/2014/main" id="{D3D6344D-66E3-E777-2841-19E0429D6A91}"/>
              </a:ext>
            </a:extLst>
          </p:cNvPr>
          <p:cNvSpPr/>
          <p:nvPr/>
        </p:nvSpPr>
        <p:spPr>
          <a:xfrm>
            <a:off x="3147490" y="4474390"/>
            <a:ext cx="14749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Join(t1,t2,t3)</a:t>
            </a:r>
            <a:endParaRPr lang="zh-CN" altLang="en-US" dirty="0">
              <a:solidFill>
                <a:schemeClr val="tx1"/>
              </a:solidFill>
            </a:endParaRPr>
          </a:p>
        </p:txBody>
      </p:sp>
      <p:cxnSp>
        <p:nvCxnSpPr>
          <p:cNvPr id="169" name="直接箭头连接符 168">
            <a:extLst>
              <a:ext uri="{FF2B5EF4-FFF2-40B4-BE49-F238E27FC236}">
                <a16:creationId xmlns:a16="http://schemas.microsoft.com/office/drawing/2014/main" id="{2A8C25B0-1E54-65DE-DFBA-130F5A3C3BEC}"/>
              </a:ext>
            </a:extLst>
          </p:cNvPr>
          <p:cNvCxnSpPr>
            <a:cxnSpLocks/>
            <a:stCxn id="166" idx="3"/>
            <a:endCxn id="168" idx="1"/>
          </p:cNvCxnSpPr>
          <p:nvPr/>
        </p:nvCxnSpPr>
        <p:spPr>
          <a:xfrm>
            <a:off x="1126707" y="4403412"/>
            <a:ext cx="2020783" cy="286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0" name="直接箭头连接符 169">
            <a:extLst>
              <a:ext uri="{FF2B5EF4-FFF2-40B4-BE49-F238E27FC236}">
                <a16:creationId xmlns:a16="http://schemas.microsoft.com/office/drawing/2014/main" id="{7AD7EA02-4A9F-4786-99E6-50D586E7AA24}"/>
              </a:ext>
            </a:extLst>
          </p:cNvPr>
          <p:cNvCxnSpPr>
            <a:cxnSpLocks/>
            <a:stCxn id="165" idx="3"/>
            <a:endCxn id="172" idx="1"/>
          </p:cNvCxnSpPr>
          <p:nvPr/>
        </p:nvCxnSpPr>
        <p:spPr>
          <a:xfrm>
            <a:off x="1126706" y="3715616"/>
            <a:ext cx="616641" cy="25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直接箭头连接符 170">
            <a:extLst>
              <a:ext uri="{FF2B5EF4-FFF2-40B4-BE49-F238E27FC236}">
                <a16:creationId xmlns:a16="http://schemas.microsoft.com/office/drawing/2014/main" id="{82225A78-7961-B1D3-A6E3-CF8A7E043915}"/>
              </a:ext>
            </a:extLst>
          </p:cNvPr>
          <p:cNvCxnSpPr>
            <a:cxnSpLocks/>
            <a:stCxn id="167" idx="3"/>
            <a:endCxn id="168" idx="1"/>
          </p:cNvCxnSpPr>
          <p:nvPr/>
        </p:nvCxnSpPr>
        <p:spPr>
          <a:xfrm flipV="1">
            <a:off x="1019952" y="4690188"/>
            <a:ext cx="2127538" cy="8147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2" name="矩形: 圆角 171">
            <a:extLst>
              <a:ext uri="{FF2B5EF4-FFF2-40B4-BE49-F238E27FC236}">
                <a16:creationId xmlns:a16="http://schemas.microsoft.com/office/drawing/2014/main" id="{E0ED0175-30D2-24F4-4067-CC70A7F91837}"/>
              </a:ext>
            </a:extLst>
          </p:cNvPr>
          <p:cNvSpPr/>
          <p:nvPr/>
        </p:nvSpPr>
        <p:spPr>
          <a:xfrm>
            <a:off x="1743347" y="3756018"/>
            <a:ext cx="122576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 _filter</a:t>
            </a:r>
            <a:endParaRPr lang="zh-CN" altLang="en-US" dirty="0">
              <a:solidFill>
                <a:schemeClr val="tx1"/>
              </a:solidFill>
            </a:endParaRPr>
          </a:p>
        </p:txBody>
      </p:sp>
      <p:cxnSp>
        <p:nvCxnSpPr>
          <p:cNvPr id="173" name="直接箭头连接符 172">
            <a:extLst>
              <a:ext uri="{FF2B5EF4-FFF2-40B4-BE49-F238E27FC236}">
                <a16:creationId xmlns:a16="http://schemas.microsoft.com/office/drawing/2014/main" id="{ADC9F8EF-98C9-F47D-BBEE-3152DE84EAB4}"/>
              </a:ext>
            </a:extLst>
          </p:cNvPr>
          <p:cNvCxnSpPr>
            <a:cxnSpLocks/>
            <a:stCxn id="172" idx="3"/>
            <a:endCxn id="168" idx="1"/>
          </p:cNvCxnSpPr>
          <p:nvPr/>
        </p:nvCxnSpPr>
        <p:spPr>
          <a:xfrm>
            <a:off x="2969109" y="3971816"/>
            <a:ext cx="178381" cy="718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4" name="矩形: 圆角 173">
            <a:extLst>
              <a:ext uri="{FF2B5EF4-FFF2-40B4-BE49-F238E27FC236}">
                <a16:creationId xmlns:a16="http://schemas.microsoft.com/office/drawing/2014/main" id="{32680C5B-83CD-7922-91C6-CBAFD7B00F0C}"/>
              </a:ext>
            </a:extLst>
          </p:cNvPr>
          <p:cNvSpPr/>
          <p:nvPr/>
        </p:nvSpPr>
        <p:spPr>
          <a:xfrm>
            <a:off x="6022085" y="4717494"/>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cxnSp>
        <p:nvCxnSpPr>
          <p:cNvPr id="175" name="直接箭头连接符 174">
            <a:extLst>
              <a:ext uri="{FF2B5EF4-FFF2-40B4-BE49-F238E27FC236}">
                <a16:creationId xmlns:a16="http://schemas.microsoft.com/office/drawing/2014/main" id="{D9421A0B-C385-8C42-F9AD-CA83CEECE858}"/>
              </a:ext>
            </a:extLst>
          </p:cNvPr>
          <p:cNvCxnSpPr>
            <a:cxnSpLocks/>
            <a:stCxn id="168" idx="3"/>
            <a:endCxn id="174" idx="1"/>
          </p:cNvCxnSpPr>
          <p:nvPr/>
        </p:nvCxnSpPr>
        <p:spPr>
          <a:xfrm>
            <a:off x="4622418" y="4690188"/>
            <a:ext cx="1399667" cy="243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 name="矩形: 圆角 208">
            <a:extLst>
              <a:ext uri="{FF2B5EF4-FFF2-40B4-BE49-F238E27FC236}">
                <a16:creationId xmlns:a16="http://schemas.microsoft.com/office/drawing/2014/main" id="{3F6738E2-82D0-C2A4-E917-84B1737F9E69}"/>
              </a:ext>
            </a:extLst>
          </p:cNvPr>
          <p:cNvSpPr/>
          <p:nvPr/>
        </p:nvSpPr>
        <p:spPr>
          <a:xfrm>
            <a:off x="5175278" y="2954900"/>
            <a:ext cx="105096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mv2</a:t>
            </a:r>
            <a:endParaRPr lang="zh-CN" altLang="en-US" dirty="0">
              <a:solidFill>
                <a:schemeClr val="tx1"/>
              </a:solidFill>
            </a:endParaRPr>
          </a:p>
        </p:txBody>
      </p:sp>
      <p:cxnSp>
        <p:nvCxnSpPr>
          <p:cNvPr id="320" name="直接箭头连接符 319">
            <a:extLst>
              <a:ext uri="{FF2B5EF4-FFF2-40B4-BE49-F238E27FC236}">
                <a16:creationId xmlns:a16="http://schemas.microsoft.com/office/drawing/2014/main" id="{24C90391-2C44-38D0-E109-A6D2234112D2}"/>
              </a:ext>
            </a:extLst>
          </p:cNvPr>
          <p:cNvCxnSpPr>
            <a:cxnSpLocks/>
            <a:stCxn id="167" idx="3"/>
            <a:endCxn id="210" idx="1"/>
          </p:cNvCxnSpPr>
          <p:nvPr/>
        </p:nvCxnSpPr>
        <p:spPr>
          <a:xfrm flipV="1">
            <a:off x="1019952" y="4025950"/>
            <a:ext cx="5532669" cy="1479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6" name="文本框 325">
            <a:extLst>
              <a:ext uri="{FF2B5EF4-FFF2-40B4-BE49-F238E27FC236}">
                <a16:creationId xmlns:a16="http://schemas.microsoft.com/office/drawing/2014/main" id="{B84168A5-0D42-1ADE-3FA8-0EE72790F2C6}"/>
              </a:ext>
            </a:extLst>
          </p:cNvPr>
          <p:cNvSpPr txBox="1"/>
          <p:nvPr/>
        </p:nvSpPr>
        <p:spPr>
          <a:xfrm>
            <a:off x="300089" y="5893995"/>
            <a:ext cx="3981565" cy="369332"/>
          </a:xfrm>
          <a:prstGeom prst="rect">
            <a:avLst/>
          </a:prstGeom>
          <a:noFill/>
        </p:spPr>
        <p:txBody>
          <a:bodyPr wrap="square">
            <a:spAutoFit/>
          </a:bodyPr>
          <a:lstStyle/>
          <a:p>
            <a:r>
              <a:rPr lang="en-US" altLang="zh-CN" b="1" dirty="0"/>
              <a:t>Mv3     select * from t2 join t3 join t4; </a:t>
            </a:r>
            <a:endParaRPr lang="zh-CN" altLang="en-US" b="1" dirty="0"/>
          </a:p>
        </p:txBody>
      </p:sp>
      <p:cxnSp>
        <p:nvCxnSpPr>
          <p:cNvPr id="3" name="直接箭头连接符 2">
            <a:extLst>
              <a:ext uri="{FF2B5EF4-FFF2-40B4-BE49-F238E27FC236}">
                <a16:creationId xmlns:a16="http://schemas.microsoft.com/office/drawing/2014/main" id="{CF259F93-A4D1-EE33-2B74-BEC3D4DAEFEA}"/>
              </a:ext>
            </a:extLst>
          </p:cNvPr>
          <p:cNvCxnSpPr>
            <a:cxnSpLocks/>
            <a:stCxn id="172" idx="3"/>
            <a:endCxn id="209" idx="1"/>
          </p:cNvCxnSpPr>
          <p:nvPr/>
        </p:nvCxnSpPr>
        <p:spPr>
          <a:xfrm flipV="1">
            <a:off x="2969109" y="3170698"/>
            <a:ext cx="2206169" cy="801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矩形: 圆角 10">
            <a:extLst>
              <a:ext uri="{FF2B5EF4-FFF2-40B4-BE49-F238E27FC236}">
                <a16:creationId xmlns:a16="http://schemas.microsoft.com/office/drawing/2014/main" id="{99D8513A-72C2-C396-2C99-2AA5791450A4}"/>
              </a:ext>
            </a:extLst>
          </p:cNvPr>
          <p:cNvSpPr/>
          <p:nvPr/>
        </p:nvSpPr>
        <p:spPr>
          <a:xfrm>
            <a:off x="3884954" y="3648199"/>
            <a:ext cx="1853113"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groupjoinkey</a:t>
            </a:r>
            <a:endParaRPr lang="zh-CN" altLang="en-US" dirty="0">
              <a:solidFill>
                <a:schemeClr val="tx1"/>
              </a:solidFill>
            </a:endParaRPr>
          </a:p>
        </p:txBody>
      </p:sp>
      <p:cxnSp>
        <p:nvCxnSpPr>
          <p:cNvPr id="14" name="直接箭头连接符 13">
            <a:extLst>
              <a:ext uri="{FF2B5EF4-FFF2-40B4-BE49-F238E27FC236}">
                <a16:creationId xmlns:a16="http://schemas.microsoft.com/office/drawing/2014/main" id="{BA957A08-1412-5E04-9E16-48FB797EEE71}"/>
              </a:ext>
            </a:extLst>
          </p:cNvPr>
          <p:cNvCxnSpPr>
            <a:cxnSpLocks/>
            <a:stCxn id="172" idx="3"/>
            <a:endCxn id="11" idx="1"/>
          </p:cNvCxnSpPr>
          <p:nvPr/>
        </p:nvCxnSpPr>
        <p:spPr>
          <a:xfrm flipV="1">
            <a:off x="2969109" y="3863997"/>
            <a:ext cx="915845" cy="107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B4B21E6-5F31-F28A-0CE2-381B4F0B7A50}"/>
              </a:ext>
            </a:extLst>
          </p:cNvPr>
          <p:cNvCxnSpPr>
            <a:cxnSpLocks/>
            <a:stCxn id="11" idx="0"/>
            <a:endCxn id="209" idx="2"/>
          </p:cNvCxnSpPr>
          <p:nvPr/>
        </p:nvCxnSpPr>
        <p:spPr>
          <a:xfrm flipV="1">
            <a:off x="4811511" y="3386496"/>
            <a:ext cx="889251" cy="261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6C068903-DF9E-69C6-D15E-B98BB535A261}"/>
              </a:ext>
            </a:extLst>
          </p:cNvPr>
          <p:cNvCxnSpPr>
            <a:cxnSpLocks/>
            <a:stCxn id="11" idx="3"/>
            <a:endCxn id="210" idx="1"/>
          </p:cNvCxnSpPr>
          <p:nvPr/>
        </p:nvCxnSpPr>
        <p:spPr>
          <a:xfrm>
            <a:off x="5738067" y="3863997"/>
            <a:ext cx="814554" cy="161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矩形: 圆角 28">
            <a:extLst>
              <a:ext uri="{FF2B5EF4-FFF2-40B4-BE49-F238E27FC236}">
                <a16:creationId xmlns:a16="http://schemas.microsoft.com/office/drawing/2014/main" id="{2A15079B-9007-9423-783C-F4B83FF61AD3}"/>
              </a:ext>
            </a:extLst>
          </p:cNvPr>
          <p:cNvSpPr/>
          <p:nvPr/>
        </p:nvSpPr>
        <p:spPr>
          <a:xfrm>
            <a:off x="274943" y="6978812"/>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31" name="矩形: 圆角 30">
            <a:extLst>
              <a:ext uri="{FF2B5EF4-FFF2-40B4-BE49-F238E27FC236}">
                <a16:creationId xmlns:a16="http://schemas.microsoft.com/office/drawing/2014/main" id="{0388845D-AC8F-15A2-900C-A5F13F2B28A7}"/>
              </a:ext>
            </a:extLst>
          </p:cNvPr>
          <p:cNvSpPr/>
          <p:nvPr/>
        </p:nvSpPr>
        <p:spPr>
          <a:xfrm>
            <a:off x="265243" y="7607675"/>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32" name="矩形: 圆角 31">
            <a:extLst>
              <a:ext uri="{FF2B5EF4-FFF2-40B4-BE49-F238E27FC236}">
                <a16:creationId xmlns:a16="http://schemas.microsoft.com/office/drawing/2014/main" id="{7CD972DB-245B-FEC6-DE95-9B6E6038C05A}"/>
              </a:ext>
            </a:extLst>
          </p:cNvPr>
          <p:cNvSpPr/>
          <p:nvPr/>
        </p:nvSpPr>
        <p:spPr>
          <a:xfrm>
            <a:off x="221426" y="8498076"/>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sp>
        <p:nvSpPr>
          <p:cNvPr id="33" name="矩形: 圆角 32">
            <a:extLst>
              <a:ext uri="{FF2B5EF4-FFF2-40B4-BE49-F238E27FC236}">
                <a16:creationId xmlns:a16="http://schemas.microsoft.com/office/drawing/2014/main" id="{B48260A4-4FC3-BB91-F51B-CE5B958AAF3C}"/>
              </a:ext>
            </a:extLst>
          </p:cNvPr>
          <p:cNvSpPr/>
          <p:nvPr/>
        </p:nvSpPr>
        <p:spPr>
          <a:xfrm>
            <a:off x="3417298" y="7858965"/>
            <a:ext cx="14749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Join(t1,t2,t3)</a:t>
            </a:r>
            <a:endParaRPr lang="zh-CN" altLang="en-US" dirty="0">
              <a:solidFill>
                <a:schemeClr val="tx1"/>
              </a:solidFill>
            </a:endParaRPr>
          </a:p>
        </p:txBody>
      </p:sp>
      <p:cxnSp>
        <p:nvCxnSpPr>
          <p:cNvPr id="34" name="直接箭头连接符 33">
            <a:extLst>
              <a:ext uri="{FF2B5EF4-FFF2-40B4-BE49-F238E27FC236}">
                <a16:creationId xmlns:a16="http://schemas.microsoft.com/office/drawing/2014/main" id="{F1651ED9-0D42-473A-EA2A-E4F652891051}"/>
              </a:ext>
            </a:extLst>
          </p:cNvPr>
          <p:cNvCxnSpPr>
            <a:cxnSpLocks/>
            <a:stCxn id="31" idx="3"/>
            <a:endCxn id="33" idx="1"/>
          </p:cNvCxnSpPr>
          <p:nvPr/>
        </p:nvCxnSpPr>
        <p:spPr>
          <a:xfrm>
            <a:off x="1091860" y="7823473"/>
            <a:ext cx="2325438" cy="251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6BDF32F0-7C8B-9F53-591C-DE24B38146AD}"/>
              </a:ext>
            </a:extLst>
          </p:cNvPr>
          <p:cNvCxnSpPr>
            <a:cxnSpLocks/>
            <a:stCxn id="29" idx="3"/>
            <a:endCxn id="37" idx="1"/>
          </p:cNvCxnSpPr>
          <p:nvPr/>
        </p:nvCxnSpPr>
        <p:spPr>
          <a:xfrm>
            <a:off x="1101560" y="7194610"/>
            <a:ext cx="616641" cy="25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EED03CD7-A17D-EB38-F5C6-691DEFE73791}"/>
              </a:ext>
            </a:extLst>
          </p:cNvPr>
          <p:cNvCxnSpPr>
            <a:cxnSpLocks/>
            <a:stCxn id="32" idx="3"/>
            <a:endCxn id="33" idx="1"/>
          </p:cNvCxnSpPr>
          <p:nvPr/>
        </p:nvCxnSpPr>
        <p:spPr>
          <a:xfrm flipV="1">
            <a:off x="1048043" y="8074763"/>
            <a:ext cx="2369255" cy="639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矩形: 圆角 36">
            <a:extLst>
              <a:ext uri="{FF2B5EF4-FFF2-40B4-BE49-F238E27FC236}">
                <a16:creationId xmlns:a16="http://schemas.microsoft.com/office/drawing/2014/main" id="{CC44049F-B626-BC0B-ED7C-34CCAF23866B}"/>
              </a:ext>
            </a:extLst>
          </p:cNvPr>
          <p:cNvSpPr/>
          <p:nvPr/>
        </p:nvSpPr>
        <p:spPr>
          <a:xfrm>
            <a:off x="1718201" y="7235012"/>
            <a:ext cx="122576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 _filter</a:t>
            </a:r>
            <a:endParaRPr lang="zh-CN" altLang="en-US" dirty="0">
              <a:solidFill>
                <a:schemeClr val="tx1"/>
              </a:solidFill>
            </a:endParaRPr>
          </a:p>
        </p:txBody>
      </p:sp>
      <p:cxnSp>
        <p:nvCxnSpPr>
          <p:cNvPr id="38" name="直接箭头连接符 37">
            <a:extLst>
              <a:ext uri="{FF2B5EF4-FFF2-40B4-BE49-F238E27FC236}">
                <a16:creationId xmlns:a16="http://schemas.microsoft.com/office/drawing/2014/main" id="{2CBB2229-F81C-1513-41C5-80FC1364C1BA}"/>
              </a:ext>
            </a:extLst>
          </p:cNvPr>
          <p:cNvCxnSpPr>
            <a:cxnSpLocks/>
            <a:stCxn id="37" idx="3"/>
            <a:endCxn id="33" idx="1"/>
          </p:cNvCxnSpPr>
          <p:nvPr/>
        </p:nvCxnSpPr>
        <p:spPr>
          <a:xfrm>
            <a:off x="2943963" y="7450810"/>
            <a:ext cx="473335" cy="6239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矩形: 圆角 38">
            <a:extLst>
              <a:ext uri="{FF2B5EF4-FFF2-40B4-BE49-F238E27FC236}">
                <a16:creationId xmlns:a16="http://schemas.microsoft.com/office/drawing/2014/main" id="{B842F524-EA23-4BF6-12D4-0851F2F72190}"/>
              </a:ext>
            </a:extLst>
          </p:cNvPr>
          <p:cNvSpPr/>
          <p:nvPr/>
        </p:nvSpPr>
        <p:spPr>
          <a:xfrm>
            <a:off x="7057541" y="7904574"/>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cxnSp>
        <p:nvCxnSpPr>
          <p:cNvPr id="40" name="直接箭头连接符 39">
            <a:extLst>
              <a:ext uri="{FF2B5EF4-FFF2-40B4-BE49-F238E27FC236}">
                <a16:creationId xmlns:a16="http://schemas.microsoft.com/office/drawing/2014/main" id="{049C47F0-A639-1F18-DBAA-03D49C44B49C}"/>
              </a:ext>
            </a:extLst>
          </p:cNvPr>
          <p:cNvCxnSpPr>
            <a:cxnSpLocks/>
            <a:stCxn id="33" idx="3"/>
            <a:endCxn id="39" idx="1"/>
          </p:cNvCxnSpPr>
          <p:nvPr/>
        </p:nvCxnSpPr>
        <p:spPr>
          <a:xfrm>
            <a:off x="4892226" y="8074763"/>
            <a:ext cx="2165315" cy="45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矩形: 圆角 40">
            <a:extLst>
              <a:ext uri="{FF2B5EF4-FFF2-40B4-BE49-F238E27FC236}">
                <a16:creationId xmlns:a16="http://schemas.microsoft.com/office/drawing/2014/main" id="{BB791B8F-C1F7-0FD8-C792-1FD4D32DD737}"/>
              </a:ext>
            </a:extLst>
          </p:cNvPr>
          <p:cNvSpPr/>
          <p:nvPr/>
        </p:nvSpPr>
        <p:spPr>
          <a:xfrm>
            <a:off x="5150132" y="6433894"/>
            <a:ext cx="105096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mv2</a:t>
            </a:r>
            <a:endParaRPr lang="zh-CN" altLang="en-US" dirty="0">
              <a:solidFill>
                <a:schemeClr val="tx1"/>
              </a:solidFill>
            </a:endParaRPr>
          </a:p>
        </p:txBody>
      </p:sp>
      <p:cxnSp>
        <p:nvCxnSpPr>
          <p:cNvPr id="42" name="直接箭头连接符 41">
            <a:extLst>
              <a:ext uri="{FF2B5EF4-FFF2-40B4-BE49-F238E27FC236}">
                <a16:creationId xmlns:a16="http://schemas.microsoft.com/office/drawing/2014/main" id="{DDEDF44F-D31E-C870-0046-E99B3B355D79}"/>
              </a:ext>
            </a:extLst>
          </p:cNvPr>
          <p:cNvCxnSpPr>
            <a:cxnSpLocks/>
            <a:stCxn id="32" idx="3"/>
            <a:endCxn id="230" idx="1"/>
          </p:cNvCxnSpPr>
          <p:nvPr/>
        </p:nvCxnSpPr>
        <p:spPr>
          <a:xfrm flipV="1">
            <a:off x="1048043" y="7410408"/>
            <a:ext cx="5811224" cy="1303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8ACF57DC-3E93-25A8-3527-C5267A9A1C19}"/>
              </a:ext>
            </a:extLst>
          </p:cNvPr>
          <p:cNvCxnSpPr>
            <a:cxnSpLocks/>
            <a:stCxn id="37" idx="3"/>
            <a:endCxn id="41" idx="1"/>
          </p:cNvCxnSpPr>
          <p:nvPr/>
        </p:nvCxnSpPr>
        <p:spPr>
          <a:xfrm flipV="1">
            <a:off x="2943963" y="6649692"/>
            <a:ext cx="2206169" cy="801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矩形: 圆角 43">
            <a:extLst>
              <a:ext uri="{FF2B5EF4-FFF2-40B4-BE49-F238E27FC236}">
                <a16:creationId xmlns:a16="http://schemas.microsoft.com/office/drawing/2014/main" id="{77BDBB15-AB43-26ED-6333-EFF070EB5B14}"/>
              </a:ext>
            </a:extLst>
          </p:cNvPr>
          <p:cNvSpPr/>
          <p:nvPr/>
        </p:nvSpPr>
        <p:spPr>
          <a:xfrm>
            <a:off x="3859808" y="7127193"/>
            <a:ext cx="1853113"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groupjoinkey</a:t>
            </a:r>
            <a:endParaRPr lang="zh-CN" altLang="en-US" dirty="0">
              <a:solidFill>
                <a:schemeClr val="tx1"/>
              </a:solidFill>
            </a:endParaRPr>
          </a:p>
        </p:txBody>
      </p:sp>
      <p:cxnSp>
        <p:nvCxnSpPr>
          <p:cNvPr id="45" name="直接箭头连接符 44">
            <a:extLst>
              <a:ext uri="{FF2B5EF4-FFF2-40B4-BE49-F238E27FC236}">
                <a16:creationId xmlns:a16="http://schemas.microsoft.com/office/drawing/2014/main" id="{A3602211-F752-CB4D-4FDE-78873DE291AE}"/>
              </a:ext>
            </a:extLst>
          </p:cNvPr>
          <p:cNvCxnSpPr>
            <a:cxnSpLocks/>
            <a:stCxn id="37" idx="3"/>
            <a:endCxn id="44" idx="1"/>
          </p:cNvCxnSpPr>
          <p:nvPr/>
        </p:nvCxnSpPr>
        <p:spPr>
          <a:xfrm flipV="1">
            <a:off x="2943963" y="7342991"/>
            <a:ext cx="915845" cy="107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6EC37252-44DE-B3D0-5B54-3EF3B7577BE0}"/>
              </a:ext>
            </a:extLst>
          </p:cNvPr>
          <p:cNvCxnSpPr>
            <a:cxnSpLocks/>
            <a:stCxn id="44" idx="0"/>
            <a:endCxn id="41" idx="2"/>
          </p:cNvCxnSpPr>
          <p:nvPr/>
        </p:nvCxnSpPr>
        <p:spPr>
          <a:xfrm flipV="1">
            <a:off x="4786365" y="6865490"/>
            <a:ext cx="889251" cy="261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C004FCC0-C0E5-0236-48E8-E7AD5CB7B769}"/>
              </a:ext>
            </a:extLst>
          </p:cNvPr>
          <p:cNvCxnSpPr>
            <a:cxnSpLocks/>
            <a:stCxn id="44" idx="3"/>
            <a:endCxn id="230" idx="1"/>
          </p:cNvCxnSpPr>
          <p:nvPr/>
        </p:nvCxnSpPr>
        <p:spPr>
          <a:xfrm>
            <a:off x="5712921" y="7342991"/>
            <a:ext cx="1146346" cy="67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矩形: 圆角 47">
            <a:extLst>
              <a:ext uri="{FF2B5EF4-FFF2-40B4-BE49-F238E27FC236}">
                <a16:creationId xmlns:a16="http://schemas.microsoft.com/office/drawing/2014/main" id="{D144D5A6-633C-8198-38F3-CD7355F242BA}"/>
              </a:ext>
            </a:extLst>
          </p:cNvPr>
          <p:cNvSpPr/>
          <p:nvPr/>
        </p:nvSpPr>
        <p:spPr>
          <a:xfrm>
            <a:off x="192802" y="9289142"/>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t4</a:t>
            </a:r>
            <a:endParaRPr lang="zh-CN" altLang="en-US" dirty="0">
              <a:solidFill>
                <a:schemeClr val="tx1"/>
              </a:solidFill>
            </a:endParaRPr>
          </a:p>
        </p:txBody>
      </p:sp>
      <p:sp>
        <p:nvSpPr>
          <p:cNvPr id="50" name="矩形: 圆角 49">
            <a:extLst>
              <a:ext uri="{FF2B5EF4-FFF2-40B4-BE49-F238E27FC236}">
                <a16:creationId xmlns:a16="http://schemas.microsoft.com/office/drawing/2014/main" id="{80DED05A-851A-EB66-151A-882AC900AE73}"/>
              </a:ext>
            </a:extLst>
          </p:cNvPr>
          <p:cNvSpPr/>
          <p:nvPr/>
        </p:nvSpPr>
        <p:spPr>
          <a:xfrm>
            <a:off x="2597265" y="8713874"/>
            <a:ext cx="14749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Join(t2,t3)</a:t>
            </a:r>
            <a:endParaRPr lang="zh-CN" altLang="en-US" dirty="0">
              <a:solidFill>
                <a:schemeClr val="tx1"/>
              </a:solidFill>
            </a:endParaRPr>
          </a:p>
        </p:txBody>
      </p:sp>
      <p:cxnSp>
        <p:nvCxnSpPr>
          <p:cNvPr id="51" name="直接箭头连接符 50">
            <a:extLst>
              <a:ext uri="{FF2B5EF4-FFF2-40B4-BE49-F238E27FC236}">
                <a16:creationId xmlns:a16="http://schemas.microsoft.com/office/drawing/2014/main" id="{6FFDC133-C952-3C19-D646-F6CE775F9BF3}"/>
              </a:ext>
            </a:extLst>
          </p:cNvPr>
          <p:cNvCxnSpPr>
            <a:cxnSpLocks/>
            <a:stCxn id="32" idx="3"/>
            <a:endCxn id="50" idx="1"/>
          </p:cNvCxnSpPr>
          <p:nvPr/>
        </p:nvCxnSpPr>
        <p:spPr>
          <a:xfrm>
            <a:off x="1048043" y="8713874"/>
            <a:ext cx="1549222" cy="2157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C2C21F7B-0F1C-9F50-438E-A86C5C449F78}"/>
              </a:ext>
            </a:extLst>
          </p:cNvPr>
          <p:cNvCxnSpPr>
            <a:cxnSpLocks/>
            <a:stCxn id="31" idx="3"/>
            <a:endCxn id="50" idx="1"/>
          </p:cNvCxnSpPr>
          <p:nvPr/>
        </p:nvCxnSpPr>
        <p:spPr>
          <a:xfrm>
            <a:off x="1091860" y="7823473"/>
            <a:ext cx="1505405" cy="11061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E8BB1ACF-25D2-0BEE-B271-BD4C32BC71C8}"/>
              </a:ext>
            </a:extLst>
          </p:cNvPr>
          <p:cNvCxnSpPr>
            <a:cxnSpLocks/>
            <a:stCxn id="48" idx="3"/>
            <a:endCxn id="63" idx="1"/>
          </p:cNvCxnSpPr>
          <p:nvPr/>
        </p:nvCxnSpPr>
        <p:spPr>
          <a:xfrm flipV="1">
            <a:off x="1019419" y="9333071"/>
            <a:ext cx="3805406" cy="171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矩形: 圆角 62">
            <a:extLst>
              <a:ext uri="{FF2B5EF4-FFF2-40B4-BE49-F238E27FC236}">
                <a16:creationId xmlns:a16="http://schemas.microsoft.com/office/drawing/2014/main" id="{368AC6C0-8F5D-8364-A4DB-47C00EE763A3}"/>
              </a:ext>
            </a:extLst>
          </p:cNvPr>
          <p:cNvSpPr/>
          <p:nvPr/>
        </p:nvSpPr>
        <p:spPr>
          <a:xfrm>
            <a:off x="4824825" y="9117273"/>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mv3</a:t>
            </a:r>
            <a:endParaRPr lang="zh-CN" altLang="en-US" dirty="0">
              <a:solidFill>
                <a:schemeClr val="tx1"/>
              </a:solidFill>
            </a:endParaRPr>
          </a:p>
        </p:txBody>
      </p:sp>
      <p:cxnSp>
        <p:nvCxnSpPr>
          <p:cNvPr id="129" name="直接箭头连接符 128">
            <a:extLst>
              <a:ext uri="{FF2B5EF4-FFF2-40B4-BE49-F238E27FC236}">
                <a16:creationId xmlns:a16="http://schemas.microsoft.com/office/drawing/2014/main" id="{E42B2319-6ACC-C027-74A1-310C4760849E}"/>
              </a:ext>
            </a:extLst>
          </p:cNvPr>
          <p:cNvCxnSpPr>
            <a:cxnSpLocks/>
            <a:stCxn id="50" idx="3"/>
            <a:endCxn id="63" idx="1"/>
          </p:cNvCxnSpPr>
          <p:nvPr/>
        </p:nvCxnSpPr>
        <p:spPr>
          <a:xfrm>
            <a:off x="4072193" y="8929672"/>
            <a:ext cx="752632" cy="403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04E25E78-D3F0-536B-D30B-CBC35C916B76}"/>
              </a:ext>
            </a:extLst>
          </p:cNvPr>
          <p:cNvCxnSpPr>
            <a:cxnSpLocks/>
            <a:stCxn id="31" idx="3"/>
            <a:endCxn id="230" idx="1"/>
          </p:cNvCxnSpPr>
          <p:nvPr/>
        </p:nvCxnSpPr>
        <p:spPr>
          <a:xfrm flipV="1">
            <a:off x="1091860" y="7410408"/>
            <a:ext cx="5767407" cy="4130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a:extLst>
              <a:ext uri="{FF2B5EF4-FFF2-40B4-BE49-F238E27FC236}">
                <a16:creationId xmlns:a16="http://schemas.microsoft.com/office/drawing/2014/main" id="{576FCD61-4EDB-F066-B16B-47E6780093E8}"/>
              </a:ext>
            </a:extLst>
          </p:cNvPr>
          <p:cNvCxnSpPr>
            <a:cxnSpLocks/>
            <a:stCxn id="166" idx="3"/>
            <a:endCxn id="210" idx="1"/>
          </p:cNvCxnSpPr>
          <p:nvPr/>
        </p:nvCxnSpPr>
        <p:spPr>
          <a:xfrm flipV="1">
            <a:off x="1126707" y="4025950"/>
            <a:ext cx="5425914" cy="377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DE572F43-4603-6F89-0C97-A42C1FB62FDC}"/>
              </a:ext>
            </a:extLst>
          </p:cNvPr>
          <p:cNvCxnSpPr>
            <a:cxnSpLocks/>
            <a:stCxn id="50" idx="3"/>
            <a:endCxn id="33" idx="2"/>
          </p:cNvCxnSpPr>
          <p:nvPr/>
        </p:nvCxnSpPr>
        <p:spPr>
          <a:xfrm flipV="1">
            <a:off x="4072193" y="8290561"/>
            <a:ext cx="82569" cy="639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3" name="矩形: 圆角 162">
            <a:extLst>
              <a:ext uri="{FF2B5EF4-FFF2-40B4-BE49-F238E27FC236}">
                <a16:creationId xmlns:a16="http://schemas.microsoft.com/office/drawing/2014/main" id="{10F62B77-2DC3-0EAB-BBFF-716B9893A10A}"/>
              </a:ext>
            </a:extLst>
          </p:cNvPr>
          <p:cNvSpPr/>
          <p:nvPr/>
        </p:nvSpPr>
        <p:spPr>
          <a:xfrm>
            <a:off x="9274723" y="3366524"/>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164" name="矩形: 圆角 163">
            <a:extLst>
              <a:ext uri="{FF2B5EF4-FFF2-40B4-BE49-F238E27FC236}">
                <a16:creationId xmlns:a16="http://schemas.microsoft.com/office/drawing/2014/main" id="{F430B488-AD06-CE97-24F0-E274148EA03D}"/>
              </a:ext>
            </a:extLst>
          </p:cNvPr>
          <p:cNvSpPr/>
          <p:nvPr/>
        </p:nvSpPr>
        <p:spPr>
          <a:xfrm>
            <a:off x="9265023" y="3995387"/>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176" name="矩形: 圆角 175">
            <a:extLst>
              <a:ext uri="{FF2B5EF4-FFF2-40B4-BE49-F238E27FC236}">
                <a16:creationId xmlns:a16="http://schemas.microsoft.com/office/drawing/2014/main" id="{81E27B63-EA72-2F2C-7007-4AF05406A389}"/>
              </a:ext>
            </a:extLst>
          </p:cNvPr>
          <p:cNvSpPr/>
          <p:nvPr/>
        </p:nvSpPr>
        <p:spPr>
          <a:xfrm>
            <a:off x="8906253" y="5002251"/>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cxnSp>
        <p:nvCxnSpPr>
          <p:cNvPr id="179" name="直接箭头连接符 178">
            <a:extLst>
              <a:ext uri="{FF2B5EF4-FFF2-40B4-BE49-F238E27FC236}">
                <a16:creationId xmlns:a16="http://schemas.microsoft.com/office/drawing/2014/main" id="{72631990-CB04-75F2-A44C-E7856B3D25A4}"/>
              </a:ext>
            </a:extLst>
          </p:cNvPr>
          <p:cNvCxnSpPr>
            <a:cxnSpLocks/>
            <a:stCxn id="163" idx="3"/>
            <a:endCxn id="181" idx="1"/>
          </p:cNvCxnSpPr>
          <p:nvPr/>
        </p:nvCxnSpPr>
        <p:spPr>
          <a:xfrm>
            <a:off x="10101340" y="3582322"/>
            <a:ext cx="616641" cy="25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1" name="矩形: 圆角 180">
            <a:extLst>
              <a:ext uri="{FF2B5EF4-FFF2-40B4-BE49-F238E27FC236}">
                <a16:creationId xmlns:a16="http://schemas.microsoft.com/office/drawing/2014/main" id="{8D900DD1-0BEB-C258-E2BD-B4BE760ECF40}"/>
              </a:ext>
            </a:extLst>
          </p:cNvPr>
          <p:cNvSpPr/>
          <p:nvPr/>
        </p:nvSpPr>
        <p:spPr>
          <a:xfrm>
            <a:off x="10717981" y="3622724"/>
            <a:ext cx="122576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 _filter</a:t>
            </a:r>
            <a:endParaRPr lang="zh-CN" altLang="en-US" dirty="0">
              <a:solidFill>
                <a:schemeClr val="tx1"/>
              </a:solidFill>
            </a:endParaRPr>
          </a:p>
        </p:txBody>
      </p:sp>
      <p:sp>
        <p:nvSpPr>
          <p:cNvPr id="183" name="矩形: 圆角 182">
            <a:extLst>
              <a:ext uri="{FF2B5EF4-FFF2-40B4-BE49-F238E27FC236}">
                <a16:creationId xmlns:a16="http://schemas.microsoft.com/office/drawing/2014/main" id="{46424A65-4771-546D-BC0A-DE4963DE0A5F}"/>
              </a:ext>
            </a:extLst>
          </p:cNvPr>
          <p:cNvSpPr/>
          <p:nvPr/>
        </p:nvSpPr>
        <p:spPr>
          <a:xfrm>
            <a:off x="15095780" y="4079393"/>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sp>
        <p:nvSpPr>
          <p:cNvPr id="185" name="矩形: 圆角 184">
            <a:extLst>
              <a:ext uri="{FF2B5EF4-FFF2-40B4-BE49-F238E27FC236}">
                <a16:creationId xmlns:a16="http://schemas.microsoft.com/office/drawing/2014/main" id="{CA1EF59D-FEB8-10BF-FDDE-0E96E3736988}"/>
              </a:ext>
            </a:extLst>
          </p:cNvPr>
          <p:cNvSpPr/>
          <p:nvPr/>
        </p:nvSpPr>
        <p:spPr>
          <a:xfrm>
            <a:off x="14149912" y="2821606"/>
            <a:ext cx="105096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mv2</a:t>
            </a:r>
            <a:endParaRPr lang="zh-CN" altLang="en-US" dirty="0">
              <a:solidFill>
                <a:schemeClr val="tx1"/>
              </a:solidFill>
            </a:endParaRPr>
          </a:p>
        </p:txBody>
      </p:sp>
      <p:cxnSp>
        <p:nvCxnSpPr>
          <p:cNvPr id="187" name="直接箭头连接符 186">
            <a:extLst>
              <a:ext uri="{FF2B5EF4-FFF2-40B4-BE49-F238E27FC236}">
                <a16:creationId xmlns:a16="http://schemas.microsoft.com/office/drawing/2014/main" id="{9EAA8E41-8855-F775-6CA7-E5DF115A01D0}"/>
              </a:ext>
            </a:extLst>
          </p:cNvPr>
          <p:cNvCxnSpPr>
            <a:cxnSpLocks/>
            <a:stCxn id="181" idx="3"/>
            <a:endCxn id="185" idx="1"/>
          </p:cNvCxnSpPr>
          <p:nvPr/>
        </p:nvCxnSpPr>
        <p:spPr>
          <a:xfrm flipV="1">
            <a:off x="11943743" y="3037404"/>
            <a:ext cx="2206169" cy="801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8" name="矩形: 圆角 187">
            <a:extLst>
              <a:ext uri="{FF2B5EF4-FFF2-40B4-BE49-F238E27FC236}">
                <a16:creationId xmlns:a16="http://schemas.microsoft.com/office/drawing/2014/main" id="{674FEE8F-5CAA-956D-72FA-012D5681A50F}"/>
              </a:ext>
            </a:extLst>
          </p:cNvPr>
          <p:cNvSpPr/>
          <p:nvPr/>
        </p:nvSpPr>
        <p:spPr>
          <a:xfrm>
            <a:off x="12859588" y="3514905"/>
            <a:ext cx="1853113"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groupjoinkey</a:t>
            </a:r>
            <a:endParaRPr lang="zh-CN" altLang="en-US" dirty="0">
              <a:solidFill>
                <a:schemeClr val="tx1"/>
              </a:solidFill>
            </a:endParaRPr>
          </a:p>
        </p:txBody>
      </p:sp>
      <p:cxnSp>
        <p:nvCxnSpPr>
          <p:cNvPr id="189" name="直接箭头连接符 188">
            <a:extLst>
              <a:ext uri="{FF2B5EF4-FFF2-40B4-BE49-F238E27FC236}">
                <a16:creationId xmlns:a16="http://schemas.microsoft.com/office/drawing/2014/main" id="{F613EC0A-81BD-C6F7-A25F-293AB61A09BE}"/>
              </a:ext>
            </a:extLst>
          </p:cNvPr>
          <p:cNvCxnSpPr>
            <a:cxnSpLocks/>
            <a:stCxn id="181" idx="3"/>
            <a:endCxn id="188" idx="1"/>
          </p:cNvCxnSpPr>
          <p:nvPr/>
        </p:nvCxnSpPr>
        <p:spPr>
          <a:xfrm flipV="1">
            <a:off x="11943743" y="3730703"/>
            <a:ext cx="915845" cy="107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直接箭头连接符 189">
            <a:extLst>
              <a:ext uri="{FF2B5EF4-FFF2-40B4-BE49-F238E27FC236}">
                <a16:creationId xmlns:a16="http://schemas.microsoft.com/office/drawing/2014/main" id="{CBEDBF3C-EB53-2EC7-5FB8-C53102A334FB}"/>
              </a:ext>
            </a:extLst>
          </p:cNvPr>
          <p:cNvCxnSpPr>
            <a:cxnSpLocks/>
            <a:stCxn id="188" idx="0"/>
            <a:endCxn id="185" idx="2"/>
          </p:cNvCxnSpPr>
          <p:nvPr/>
        </p:nvCxnSpPr>
        <p:spPr>
          <a:xfrm flipV="1">
            <a:off x="13786145" y="3253202"/>
            <a:ext cx="889251" cy="261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直接箭头连接符 190">
            <a:extLst>
              <a:ext uri="{FF2B5EF4-FFF2-40B4-BE49-F238E27FC236}">
                <a16:creationId xmlns:a16="http://schemas.microsoft.com/office/drawing/2014/main" id="{3E8F48EA-8AA3-9F84-A973-F4F1CD084B21}"/>
              </a:ext>
            </a:extLst>
          </p:cNvPr>
          <p:cNvCxnSpPr>
            <a:cxnSpLocks/>
            <a:stCxn id="188" idx="3"/>
            <a:endCxn id="183" idx="0"/>
          </p:cNvCxnSpPr>
          <p:nvPr/>
        </p:nvCxnSpPr>
        <p:spPr>
          <a:xfrm>
            <a:off x="14712701" y="3730703"/>
            <a:ext cx="839700" cy="348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2" name="矩形: 圆角 191">
            <a:extLst>
              <a:ext uri="{FF2B5EF4-FFF2-40B4-BE49-F238E27FC236}">
                <a16:creationId xmlns:a16="http://schemas.microsoft.com/office/drawing/2014/main" id="{8CA06418-764D-4D24-B840-DF68F49BA91F}"/>
              </a:ext>
            </a:extLst>
          </p:cNvPr>
          <p:cNvSpPr/>
          <p:nvPr/>
        </p:nvSpPr>
        <p:spPr>
          <a:xfrm>
            <a:off x="9004749" y="5619157"/>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t4</a:t>
            </a:r>
            <a:endParaRPr lang="zh-CN" altLang="en-US" dirty="0">
              <a:solidFill>
                <a:schemeClr val="tx1"/>
              </a:solidFill>
            </a:endParaRPr>
          </a:p>
        </p:txBody>
      </p:sp>
      <p:sp>
        <p:nvSpPr>
          <p:cNvPr id="193" name="矩形: 圆角 192">
            <a:extLst>
              <a:ext uri="{FF2B5EF4-FFF2-40B4-BE49-F238E27FC236}">
                <a16:creationId xmlns:a16="http://schemas.microsoft.com/office/drawing/2014/main" id="{B2CCB15D-01D6-A4A6-E423-8245E8C2F919}"/>
              </a:ext>
            </a:extLst>
          </p:cNvPr>
          <p:cNvSpPr/>
          <p:nvPr/>
        </p:nvSpPr>
        <p:spPr>
          <a:xfrm>
            <a:off x="11597045" y="4543654"/>
            <a:ext cx="14749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Join(t2,t3)</a:t>
            </a:r>
            <a:endParaRPr lang="zh-CN" altLang="en-US" dirty="0">
              <a:solidFill>
                <a:schemeClr val="tx1"/>
              </a:solidFill>
            </a:endParaRPr>
          </a:p>
        </p:txBody>
      </p:sp>
      <p:cxnSp>
        <p:nvCxnSpPr>
          <p:cNvPr id="194" name="直接箭头连接符 193">
            <a:extLst>
              <a:ext uri="{FF2B5EF4-FFF2-40B4-BE49-F238E27FC236}">
                <a16:creationId xmlns:a16="http://schemas.microsoft.com/office/drawing/2014/main" id="{BE860304-8F1D-E5C2-1668-28930129168C}"/>
              </a:ext>
            </a:extLst>
          </p:cNvPr>
          <p:cNvCxnSpPr>
            <a:cxnSpLocks/>
            <a:stCxn id="176" idx="3"/>
            <a:endCxn id="193" idx="1"/>
          </p:cNvCxnSpPr>
          <p:nvPr/>
        </p:nvCxnSpPr>
        <p:spPr>
          <a:xfrm flipV="1">
            <a:off x="9732870" y="4759452"/>
            <a:ext cx="1864175" cy="458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5" name="直接箭头连接符 194">
            <a:extLst>
              <a:ext uri="{FF2B5EF4-FFF2-40B4-BE49-F238E27FC236}">
                <a16:creationId xmlns:a16="http://schemas.microsoft.com/office/drawing/2014/main" id="{975FDA58-73F9-321C-4B32-7760A19AB7CA}"/>
              </a:ext>
            </a:extLst>
          </p:cNvPr>
          <p:cNvCxnSpPr>
            <a:cxnSpLocks/>
            <a:stCxn id="164" idx="3"/>
            <a:endCxn id="193" idx="1"/>
          </p:cNvCxnSpPr>
          <p:nvPr/>
        </p:nvCxnSpPr>
        <p:spPr>
          <a:xfrm>
            <a:off x="10091640" y="4211185"/>
            <a:ext cx="1505405" cy="548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6" name="直接箭头连接符 195">
            <a:extLst>
              <a:ext uri="{FF2B5EF4-FFF2-40B4-BE49-F238E27FC236}">
                <a16:creationId xmlns:a16="http://schemas.microsoft.com/office/drawing/2014/main" id="{700D698A-FCD4-6B71-E346-2BDB9DDF3976}"/>
              </a:ext>
            </a:extLst>
          </p:cNvPr>
          <p:cNvCxnSpPr>
            <a:cxnSpLocks/>
            <a:stCxn id="192" idx="3"/>
            <a:endCxn id="197" idx="1"/>
          </p:cNvCxnSpPr>
          <p:nvPr/>
        </p:nvCxnSpPr>
        <p:spPr>
          <a:xfrm flipV="1">
            <a:off x="9831366" y="5720783"/>
            <a:ext cx="3993239" cy="114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7" name="矩形: 圆角 196">
            <a:extLst>
              <a:ext uri="{FF2B5EF4-FFF2-40B4-BE49-F238E27FC236}">
                <a16:creationId xmlns:a16="http://schemas.microsoft.com/office/drawing/2014/main" id="{EC59C4C6-9423-8443-406C-15A168EAC5A7}"/>
              </a:ext>
            </a:extLst>
          </p:cNvPr>
          <p:cNvSpPr/>
          <p:nvPr/>
        </p:nvSpPr>
        <p:spPr>
          <a:xfrm>
            <a:off x="13824605" y="5504985"/>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mv3</a:t>
            </a:r>
            <a:endParaRPr lang="zh-CN" altLang="en-US" dirty="0">
              <a:solidFill>
                <a:schemeClr val="tx1"/>
              </a:solidFill>
            </a:endParaRPr>
          </a:p>
        </p:txBody>
      </p:sp>
      <p:cxnSp>
        <p:nvCxnSpPr>
          <p:cNvPr id="198" name="直接箭头连接符 197">
            <a:extLst>
              <a:ext uri="{FF2B5EF4-FFF2-40B4-BE49-F238E27FC236}">
                <a16:creationId xmlns:a16="http://schemas.microsoft.com/office/drawing/2014/main" id="{721402C9-2B37-8550-4F49-0104DBD5E0AB}"/>
              </a:ext>
            </a:extLst>
          </p:cNvPr>
          <p:cNvCxnSpPr>
            <a:cxnSpLocks/>
            <a:stCxn id="193" idx="3"/>
            <a:endCxn id="197" idx="1"/>
          </p:cNvCxnSpPr>
          <p:nvPr/>
        </p:nvCxnSpPr>
        <p:spPr>
          <a:xfrm>
            <a:off x="13071973" y="4759452"/>
            <a:ext cx="752632" cy="961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0" name="直接箭头连接符 199">
            <a:extLst>
              <a:ext uri="{FF2B5EF4-FFF2-40B4-BE49-F238E27FC236}">
                <a16:creationId xmlns:a16="http://schemas.microsoft.com/office/drawing/2014/main" id="{2A41A9CE-0F3A-57F0-2958-8032085DE97A}"/>
              </a:ext>
            </a:extLst>
          </p:cNvPr>
          <p:cNvCxnSpPr>
            <a:cxnSpLocks/>
            <a:stCxn id="193" idx="3"/>
            <a:endCxn id="183" idx="2"/>
          </p:cNvCxnSpPr>
          <p:nvPr/>
        </p:nvCxnSpPr>
        <p:spPr>
          <a:xfrm flipV="1">
            <a:off x="13071973" y="4510989"/>
            <a:ext cx="2480428" cy="248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1" name="直接箭头连接符 200">
            <a:extLst>
              <a:ext uri="{FF2B5EF4-FFF2-40B4-BE49-F238E27FC236}">
                <a16:creationId xmlns:a16="http://schemas.microsoft.com/office/drawing/2014/main" id="{6364C9BA-97C6-14DB-868D-9BFC2FBDD2CA}"/>
              </a:ext>
            </a:extLst>
          </p:cNvPr>
          <p:cNvCxnSpPr>
            <a:cxnSpLocks/>
            <a:stCxn id="50" idx="3"/>
            <a:endCxn id="230" idx="1"/>
          </p:cNvCxnSpPr>
          <p:nvPr/>
        </p:nvCxnSpPr>
        <p:spPr>
          <a:xfrm flipV="1">
            <a:off x="4072193" y="7410408"/>
            <a:ext cx="2787074" cy="1519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0" name="矩形: 圆角 209">
            <a:extLst>
              <a:ext uri="{FF2B5EF4-FFF2-40B4-BE49-F238E27FC236}">
                <a16:creationId xmlns:a16="http://schemas.microsoft.com/office/drawing/2014/main" id="{23625D22-8A48-8E6B-84EA-2EF92AA75020}"/>
              </a:ext>
            </a:extLst>
          </p:cNvPr>
          <p:cNvSpPr/>
          <p:nvPr/>
        </p:nvSpPr>
        <p:spPr>
          <a:xfrm>
            <a:off x="6552621" y="3810152"/>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join2</a:t>
            </a:r>
            <a:endParaRPr lang="zh-CN" altLang="en-US" dirty="0">
              <a:solidFill>
                <a:schemeClr val="tx1"/>
              </a:solidFill>
            </a:endParaRPr>
          </a:p>
        </p:txBody>
      </p:sp>
      <p:cxnSp>
        <p:nvCxnSpPr>
          <p:cNvPr id="227" name="直接箭头连接符 226">
            <a:extLst>
              <a:ext uri="{FF2B5EF4-FFF2-40B4-BE49-F238E27FC236}">
                <a16:creationId xmlns:a16="http://schemas.microsoft.com/office/drawing/2014/main" id="{739458A1-9A82-08B6-2296-152FE0F5D69A}"/>
              </a:ext>
            </a:extLst>
          </p:cNvPr>
          <p:cNvCxnSpPr>
            <a:cxnSpLocks/>
            <a:stCxn id="210" idx="2"/>
            <a:endCxn id="174" idx="0"/>
          </p:cNvCxnSpPr>
          <p:nvPr/>
        </p:nvCxnSpPr>
        <p:spPr>
          <a:xfrm flipH="1">
            <a:off x="6478706" y="4241748"/>
            <a:ext cx="530536" cy="475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0" name="矩形: 圆角 229">
            <a:extLst>
              <a:ext uri="{FF2B5EF4-FFF2-40B4-BE49-F238E27FC236}">
                <a16:creationId xmlns:a16="http://schemas.microsoft.com/office/drawing/2014/main" id="{96EE19E7-0BFD-4A2B-3B8B-F11EDE606606}"/>
              </a:ext>
            </a:extLst>
          </p:cNvPr>
          <p:cNvSpPr/>
          <p:nvPr/>
        </p:nvSpPr>
        <p:spPr>
          <a:xfrm>
            <a:off x="6859267" y="7194610"/>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join2</a:t>
            </a:r>
            <a:endParaRPr lang="zh-CN" altLang="en-US" dirty="0">
              <a:solidFill>
                <a:schemeClr val="tx1"/>
              </a:solidFill>
            </a:endParaRPr>
          </a:p>
        </p:txBody>
      </p:sp>
      <p:cxnSp>
        <p:nvCxnSpPr>
          <p:cNvPr id="239" name="直接箭头连接符 238">
            <a:extLst>
              <a:ext uri="{FF2B5EF4-FFF2-40B4-BE49-F238E27FC236}">
                <a16:creationId xmlns:a16="http://schemas.microsoft.com/office/drawing/2014/main" id="{FB6DAC60-082C-CC72-DD27-8F976F5B4DB9}"/>
              </a:ext>
            </a:extLst>
          </p:cNvPr>
          <p:cNvCxnSpPr>
            <a:cxnSpLocks/>
            <a:stCxn id="230" idx="2"/>
            <a:endCxn id="39" idx="0"/>
          </p:cNvCxnSpPr>
          <p:nvPr/>
        </p:nvCxnSpPr>
        <p:spPr>
          <a:xfrm>
            <a:off x="7315888" y="7626206"/>
            <a:ext cx="198274" cy="278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2" name="矩形: 圆角 251">
            <a:extLst>
              <a:ext uri="{FF2B5EF4-FFF2-40B4-BE49-F238E27FC236}">
                <a16:creationId xmlns:a16="http://schemas.microsoft.com/office/drawing/2014/main" id="{1C372520-44D0-B635-F032-3C091EC23F13}"/>
              </a:ext>
            </a:extLst>
          </p:cNvPr>
          <p:cNvSpPr/>
          <p:nvPr/>
        </p:nvSpPr>
        <p:spPr>
          <a:xfrm>
            <a:off x="4165797" y="10484462"/>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mv4</a:t>
            </a:r>
            <a:endParaRPr lang="zh-CN" altLang="en-US" dirty="0">
              <a:solidFill>
                <a:schemeClr val="tx1"/>
              </a:solidFill>
            </a:endParaRPr>
          </a:p>
        </p:txBody>
      </p:sp>
      <p:cxnSp>
        <p:nvCxnSpPr>
          <p:cNvPr id="253" name="直接箭头连接符 252">
            <a:extLst>
              <a:ext uri="{FF2B5EF4-FFF2-40B4-BE49-F238E27FC236}">
                <a16:creationId xmlns:a16="http://schemas.microsoft.com/office/drawing/2014/main" id="{FE68709A-8857-0639-D5BA-1C551A862DD9}"/>
              </a:ext>
            </a:extLst>
          </p:cNvPr>
          <p:cNvCxnSpPr>
            <a:cxnSpLocks/>
            <a:stCxn id="48" idx="3"/>
            <a:endCxn id="252" idx="1"/>
          </p:cNvCxnSpPr>
          <p:nvPr/>
        </p:nvCxnSpPr>
        <p:spPr>
          <a:xfrm>
            <a:off x="1019419" y="9504940"/>
            <a:ext cx="3146378" cy="1195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1" name="直接箭头连接符 320">
            <a:extLst>
              <a:ext uri="{FF2B5EF4-FFF2-40B4-BE49-F238E27FC236}">
                <a16:creationId xmlns:a16="http://schemas.microsoft.com/office/drawing/2014/main" id="{53B8960D-7E4F-D927-6CDD-7BB73A458753}"/>
              </a:ext>
            </a:extLst>
          </p:cNvPr>
          <p:cNvCxnSpPr>
            <a:cxnSpLocks/>
            <a:stCxn id="32" idx="3"/>
            <a:endCxn id="252" idx="1"/>
          </p:cNvCxnSpPr>
          <p:nvPr/>
        </p:nvCxnSpPr>
        <p:spPr>
          <a:xfrm>
            <a:off x="1048043" y="8713874"/>
            <a:ext cx="3117754" cy="1986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4" name="直接箭头连接符 323">
            <a:extLst>
              <a:ext uri="{FF2B5EF4-FFF2-40B4-BE49-F238E27FC236}">
                <a16:creationId xmlns:a16="http://schemas.microsoft.com/office/drawing/2014/main" id="{E54E6C9F-F36B-2B70-BE8E-D70AEBDB409C}"/>
              </a:ext>
            </a:extLst>
          </p:cNvPr>
          <p:cNvCxnSpPr>
            <a:cxnSpLocks/>
            <a:stCxn id="31" idx="3"/>
            <a:endCxn id="252" idx="1"/>
          </p:cNvCxnSpPr>
          <p:nvPr/>
        </p:nvCxnSpPr>
        <p:spPr>
          <a:xfrm>
            <a:off x="1091860" y="7823473"/>
            <a:ext cx="3073937" cy="2876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8" name="直接箭头连接符 327">
            <a:extLst>
              <a:ext uri="{FF2B5EF4-FFF2-40B4-BE49-F238E27FC236}">
                <a16:creationId xmlns:a16="http://schemas.microsoft.com/office/drawing/2014/main" id="{4E71D54F-49FE-F3DE-0031-26AC07F3E30F}"/>
              </a:ext>
            </a:extLst>
          </p:cNvPr>
          <p:cNvCxnSpPr>
            <a:cxnSpLocks/>
            <a:stCxn id="37" idx="2"/>
            <a:endCxn id="252" idx="1"/>
          </p:cNvCxnSpPr>
          <p:nvPr/>
        </p:nvCxnSpPr>
        <p:spPr>
          <a:xfrm>
            <a:off x="2331082" y="7666608"/>
            <a:ext cx="1834715" cy="3033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9" name="直接箭头连接符 338">
            <a:extLst>
              <a:ext uri="{FF2B5EF4-FFF2-40B4-BE49-F238E27FC236}">
                <a16:creationId xmlns:a16="http://schemas.microsoft.com/office/drawing/2014/main" id="{45C4FC4F-AEAB-0173-08BD-B7ACEB2706CC}"/>
              </a:ext>
            </a:extLst>
          </p:cNvPr>
          <p:cNvCxnSpPr>
            <a:cxnSpLocks/>
            <a:stCxn id="63" idx="2"/>
            <a:endCxn id="252" idx="0"/>
          </p:cNvCxnSpPr>
          <p:nvPr/>
        </p:nvCxnSpPr>
        <p:spPr>
          <a:xfrm flipH="1">
            <a:off x="4622418" y="9548869"/>
            <a:ext cx="659028" cy="9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2" name="直接箭头连接符 341">
            <a:extLst>
              <a:ext uri="{FF2B5EF4-FFF2-40B4-BE49-F238E27FC236}">
                <a16:creationId xmlns:a16="http://schemas.microsoft.com/office/drawing/2014/main" id="{B3B7FFD2-0F57-0F64-FAF4-5397F35B13BA}"/>
              </a:ext>
            </a:extLst>
          </p:cNvPr>
          <p:cNvCxnSpPr>
            <a:cxnSpLocks/>
            <a:stCxn id="33" idx="2"/>
            <a:endCxn id="252" idx="0"/>
          </p:cNvCxnSpPr>
          <p:nvPr/>
        </p:nvCxnSpPr>
        <p:spPr>
          <a:xfrm>
            <a:off x="4154762" y="8290561"/>
            <a:ext cx="467656" cy="2193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4" name="矩形: 圆角 373">
            <a:extLst>
              <a:ext uri="{FF2B5EF4-FFF2-40B4-BE49-F238E27FC236}">
                <a16:creationId xmlns:a16="http://schemas.microsoft.com/office/drawing/2014/main" id="{6546A77F-FA73-1C87-A1EB-1365AC35DDEF}"/>
              </a:ext>
            </a:extLst>
          </p:cNvPr>
          <p:cNvSpPr/>
          <p:nvPr/>
        </p:nvSpPr>
        <p:spPr>
          <a:xfrm>
            <a:off x="12401665" y="6695597"/>
            <a:ext cx="913242"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mv4</a:t>
            </a:r>
            <a:endParaRPr lang="zh-CN" altLang="en-US" dirty="0">
              <a:solidFill>
                <a:schemeClr val="tx1"/>
              </a:solidFill>
            </a:endParaRPr>
          </a:p>
        </p:txBody>
      </p:sp>
      <p:cxnSp>
        <p:nvCxnSpPr>
          <p:cNvPr id="376" name="直接箭头连接符 375">
            <a:extLst>
              <a:ext uri="{FF2B5EF4-FFF2-40B4-BE49-F238E27FC236}">
                <a16:creationId xmlns:a16="http://schemas.microsoft.com/office/drawing/2014/main" id="{81225322-3CA0-1A67-EF8B-34972EDA0D93}"/>
              </a:ext>
            </a:extLst>
          </p:cNvPr>
          <p:cNvCxnSpPr>
            <a:cxnSpLocks/>
            <a:stCxn id="197" idx="2"/>
            <a:endCxn id="374" idx="0"/>
          </p:cNvCxnSpPr>
          <p:nvPr/>
        </p:nvCxnSpPr>
        <p:spPr>
          <a:xfrm flipH="1">
            <a:off x="12858286" y="5936581"/>
            <a:ext cx="1422940" cy="759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0" name="直接箭头连接符 379">
            <a:extLst>
              <a:ext uri="{FF2B5EF4-FFF2-40B4-BE49-F238E27FC236}">
                <a16:creationId xmlns:a16="http://schemas.microsoft.com/office/drawing/2014/main" id="{FD4C6F84-B97D-0024-725D-407E788AB3DC}"/>
              </a:ext>
            </a:extLst>
          </p:cNvPr>
          <p:cNvCxnSpPr>
            <a:cxnSpLocks/>
            <a:stCxn id="181" idx="2"/>
            <a:endCxn id="374" idx="1"/>
          </p:cNvCxnSpPr>
          <p:nvPr/>
        </p:nvCxnSpPr>
        <p:spPr>
          <a:xfrm>
            <a:off x="11330862" y="4054320"/>
            <a:ext cx="1070803" cy="2857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4" name="文本框 383">
            <a:extLst>
              <a:ext uri="{FF2B5EF4-FFF2-40B4-BE49-F238E27FC236}">
                <a16:creationId xmlns:a16="http://schemas.microsoft.com/office/drawing/2014/main" id="{EA0712A3-0A05-30A1-BDF3-F02C32AFA39F}"/>
              </a:ext>
            </a:extLst>
          </p:cNvPr>
          <p:cNvSpPr txBox="1"/>
          <p:nvPr/>
        </p:nvSpPr>
        <p:spPr>
          <a:xfrm>
            <a:off x="284952" y="6198284"/>
            <a:ext cx="5099848" cy="646331"/>
          </a:xfrm>
          <a:prstGeom prst="rect">
            <a:avLst/>
          </a:prstGeom>
          <a:noFill/>
        </p:spPr>
        <p:txBody>
          <a:bodyPr wrap="square">
            <a:spAutoFit/>
          </a:bodyPr>
          <a:lstStyle/>
          <a:p>
            <a:r>
              <a:rPr lang="en-US" altLang="zh-CN" b="1" dirty="0"/>
              <a:t>Mv4     select * from t1 join t2 join t3 join t4 where t1_c1 &gt; 0; </a:t>
            </a:r>
            <a:endParaRPr lang="zh-CN" altLang="en-US" b="1" dirty="0"/>
          </a:p>
        </p:txBody>
      </p:sp>
      <p:sp>
        <p:nvSpPr>
          <p:cNvPr id="388" name="文本框 387">
            <a:extLst>
              <a:ext uri="{FF2B5EF4-FFF2-40B4-BE49-F238E27FC236}">
                <a16:creationId xmlns:a16="http://schemas.microsoft.com/office/drawing/2014/main" id="{6EFBCF68-8B40-41FB-31D4-7265B27BBDBC}"/>
              </a:ext>
            </a:extLst>
          </p:cNvPr>
          <p:cNvSpPr txBox="1"/>
          <p:nvPr/>
        </p:nvSpPr>
        <p:spPr>
          <a:xfrm>
            <a:off x="9004749" y="7046478"/>
            <a:ext cx="8348643" cy="2585323"/>
          </a:xfrm>
          <a:prstGeom prst="rect">
            <a:avLst/>
          </a:prstGeom>
          <a:noFill/>
        </p:spPr>
        <p:txBody>
          <a:bodyPr wrap="square">
            <a:spAutoFit/>
          </a:bodyPr>
          <a:lstStyle/>
          <a:p>
            <a:r>
              <a:rPr lang="zh-CN" altLang="en-US" b="1" dirty="0"/>
              <a:t>如何避免选择</a:t>
            </a:r>
            <a:r>
              <a:rPr lang="en-US" altLang="zh-CN" dirty="0"/>
              <a:t>Join(t1,t2,t3)</a:t>
            </a:r>
            <a:r>
              <a:rPr lang="zh-CN" altLang="en-US" b="1" dirty="0"/>
              <a:t>，事实上，选了</a:t>
            </a:r>
            <a:r>
              <a:rPr lang="en-US" altLang="zh-CN" dirty="0"/>
              <a:t>Join(t1,t2,t3)</a:t>
            </a:r>
            <a:r>
              <a:rPr lang="zh-CN" altLang="en-US" dirty="0"/>
              <a:t>就不应该选择</a:t>
            </a:r>
            <a:r>
              <a:rPr lang="en-US" altLang="zh-CN" dirty="0" err="1"/>
              <a:t>groupjoinkey</a:t>
            </a:r>
            <a:r>
              <a:rPr lang="zh-CN" altLang="en-US" dirty="0"/>
              <a:t>。但是在判断</a:t>
            </a:r>
            <a:r>
              <a:rPr lang="en-US" altLang="zh-CN" dirty="0"/>
              <a:t>Join(t1,t2,t3)</a:t>
            </a:r>
            <a:r>
              <a:rPr lang="zh-CN" altLang="en-US" dirty="0"/>
              <a:t>之前，先选择了</a:t>
            </a:r>
            <a:r>
              <a:rPr lang="en-US" altLang="zh-CN" dirty="0"/>
              <a:t>Join(t2,t3)【</a:t>
            </a:r>
            <a:r>
              <a:rPr lang="zh-CN" altLang="en-US" dirty="0"/>
              <a:t>权重大，共享机会大</a:t>
            </a:r>
            <a:r>
              <a:rPr lang="en-US" altLang="zh-CN" dirty="0"/>
              <a:t>】</a:t>
            </a:r>
            <a:r>
              <a:rPr lang="zh-CN" altLang="en-US" dirty="0"/>
              <a:t>，然后进行出边选择时，应该选择权重小的节点</a:t>
            </a:r>
            <a:r>
              <a:rPr lang="en-US" altLang="zh-CN" dirty="0"/>
              <a:t>【</a:t>
            </a:r>
            <a:r>
              <a:rPr lang="zh-CN" altLang="en-US" dirty="0"/>
              <a:t>权重小，才能真正利用当前权重大的共享机会，否则，也就是说，某个权重大的节点的下游节点应该尽可能多</a:t>
            </a:r>
            <a:r>
              <a:rPr lang="en-US" altLang="zh-CN" dirty="0"/>
              <a:t>】</a:t>
            </a:r>
            <a:r>
              <a:rPr lang="zh-CN" altLang="en-US" dirty="0"/>
              <a:t>。</a:t>
            </a:r>
            <a:endParaRPr lang="en-US" altLang="zh-CN" dirty="0"/>
          </a:p>
          <a:p>
            <a:r>
              <a:rPr lang="zh-CN" altLang="en-US" dirty="0"/>
              <a:t>选择出边组合时，出边组合覆盖目标物化视图等于当前节点覆盖目标物化视图。且出边组合边数尽可能少</a:t>
            </a:r>
            <a:r>
              <a:rPr lang="en-US" altLang="zh-CN" dirty="0"/>
              <a:t>()</a:t>
            </a:r>
          </a:p>
          <a:p>
            <a:r>
              <a:rPr lang="zh-CN" altLang="en-US" dirty="0"/>
              <a:t>所以可以选择 （</a:t>
            </a:r>
            <a:r>
              <a:rPr lang="en-US" altLang="zh-CN" dirty="0"/>
              <a:t>join1,mv3</a:t>
            </a:r>
            <a:r>
              <a:rPr lang="zh-CN" altLang="en-US" dirty="0"/>
              <a:t>）</a:t>
            </a:r>
            <a:r>
              <a:rPr lang="en-US" altLang="zh-CN" dirty="0"/>
              <a:t>or (join2,mv3).</a:t>
            </a:r>
            <a:r>
              <a:rPr lang="zh-CN" altLang="en-US" dirty="0"/>
              <a:t>前者总权重为</a:t>
            </a:r>
            <a:r>
              <a:rPr lang="en-US" altLang="zh-CN" dirty="0"/>
              <a:t>4</a:t>
            </a:r>
            <a:r>
              <a:rPr lang="zh-CN" altLang="en-US" dirty="0"/>
              <a:t>，后者总权重为</a:t>
            </a:r>
            <a:r>
              <a:rPr lang="en-US" altLang="zh-CN" dirty="0"/>
              <a:t>3</a:t>
            </a:r>
            <a:r>
              <a:rPr lang="zh-CN" altLang="en-US" dirty="0"/>
              <a:t>。</a:t>
            </a:r>
            <a:endParaRPr lang="en-US" altLang="zh-CN" dirty="0"/>
          </a:p>
          <a:p>
            <a:endParaRPr lang="en-US" altLang="zh-CN" dirty="0"/>
          </a:p>
          <a:p>
            <a:r>
              <a:rPr lang="zh-CN" altLang="en-US"/>
              <a:t>算了，到底怎么设计合理算法。</a:t>
            </a:r>
            <a:endParaRPr lang="zh-CN" altLang="en-US" dirty="0"/>
          </a:p>
        </p:txBody>
      </p:sp>
      <p:sp>
        <p:nvSpPr>
          <p:cNvPr id="390" name="文本框 389">
            <a:extLst>
              <a:ext uri="{FF2B5EF4-FFF2-40B4-BE49-F238E27FC236}">
                <a16:creationId xmlns:a16="http://schemas.microsoft.com/office/drawing/2014/main" id="{163AE757-E99E-ADE1-390C-DB2AB055E3CB}"/>
              </a:ext>
            </a:extLst>
          </p:cNvPr>
          <p:cNvSpPr txBox="1"/>
          <p:nvPr/>
        </p:nvSpPr>
        <p:spPr>
          <a:xfrm>
            <a:off x="9265023" y="2209273"/>
            <a:ext cx="3981565" cy="369332"/>
          </a:xfrm>
          <a:prstGeom prst="rect">
            <a:avLst/>
          </a:prstGeom>
          <a:noFill/>
        </p:spPr>
        <p:txBody>
          <a:bodyPr wrap="square">
            <a:spAutoFit/>
          </a:bodyPr>
          <a:lstStyle/>
          <a:p>
            <a:r>
              <a:rPr lang="zh-CN" altLang="en-US" b="1" dirty="0"/>
              <a:t>结果</a:t>
            </a:r>
          </a:p>
        </p:txBody>
      </p:sp>
    </p:spTree>
    <p:extLst>
      <p:ext uri="{BB962C8B-B14F-4D97-AF65-F5344CB8AC3E}">
        <p14:creationId xmlns:p14="http://schemas.microsoft.com/office/powerpoint/2010/main" val="1391629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25617-435A-0200-DC29-B53A9DFCCACC}"/>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86C8D08B-432D-8609-99AA-5C82721E8EC0}"/>
              </a:ext>
            </a:extLst>
          </p:cNvPr>
          <p:cNvSpPr txBox="1"/>
          <p:nvPr/>
        </p:nvSpPr>
        <p:spPr>
          <a:xfrm>
            <a:off x="124720" y="256185"/>
            <a:ext cx="1545848" cy="369332"/>
          </a:xfrm>
          <a:prstGeom prst="rect">
            <a:avLst/>
          </a:prstGeom>
          <a:noFill/>
        </p:spPr>
        <p:txBody>
          <a:bodyPr wrap="square">
            <a:spAutoFit/>
          </a:bodyPr>
          <a:lstStyle/>
          <a:p>
            <a:r>
              <a:rPr lang="en-US" altLang="zh-CN" b="1" dirty="0"/>
              <a:t>mv1</a:t>
            </a:r>
            <a:endParaRPr lang="zh-CN" altLang="en-US" b="1" dirty="0"/>
          </a:p>
        </p:txBody>
      </p:sp>
      <p:grpSp>
        <p:nvGrpSpPr>
          <p:cNvPr id="715" name="组合 714">
            <a:extLst>
              <a:ext uri="{FF2B5EF4-FFF2-40B4-BE49-F238E27FC236}">
                <a16:creationId xmlns:a16="http://schemas.microsoft.com/office/drawing/2014/main" id="{59257846-E919-6177-535B-11331FCECBEF}"/>
              </a:ext>
            </a:extLst>
          </p:cNvPr>
          <p:cNvGrpSpPr/>
          <p:nvPr/>
        </p:nvGrpSpPr>
        <p:grpSpPr>
          <a:xfrm>
            <a:off x="120695" y="1003590"/>
            <a:ext cx="2573199" cy="1163045"/>
            <a:chOff x="171022" y="715236"/>
            <a:chExt cx="2573199" cy="1163045"/>
          </a:xfrm>
        </p:grpSpPr>
        <p:sp>
          <p:nvSpPr>
            <p:cNvPr id="6" name="矩形: 圆角 5">
              <a:extLst>
                <a:ext uri="{FF2B5EF4-FFF2-40B4-BE49-F238E27FC236}">
                  <a16:creationId xmlns:a16="http://schemas.microsoft.com/office/drawing/2014/main" id="{F813B2C4-6025-12F3-2CBE-0B9E41F3B566}"/>
                </a:ext>
              </a:extLst>
            </p:cNvPr>
            <p:cNvSpPr/>
            <p:nvPr/>
          </p:nvSpPr>
          <p:spPr>
            <a:xfrm>
              <a:off x="171022" y="715236"/>
              <a:ext cx="432000" cy="286034"/>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7" name="矩形: 圆角 6">
              <a:extLst>
                <a:ext uri="{FF2B5EF4-FFF2-40B4-BE49-F238E27FC236}">
                  <a16:creationId xmlns:a16="http://schemas.microsoft.com/office/drawing/2014/main" id="{0860CB5D-A8C7-479A-5EC7-13DBF8697CEA}"/>
                </a:ext>
              </a:extLst>
            </p:cNvPr>
            <p:cNvSpPr/>
            <p:nvPr/>
          </p:nvSpPr>
          <p:spPr>
            <a:xfrm>
              <a:off x="171022" y="1159908"/>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8" name="矩形: 圆角 7">
              <a:extLst>
                <a:ext uri="{FF2B5EF4-FFF2-40B4-BE49-F238E27FC236}">
                  <a16:creationId xmlns:a16="http://schemas.microsoft.com/office/drawing/2014/main" id="{D235191C-73C1-8CF5-322F-CA6E4E1E6DB2}"/>
                </a:ext>
              </a:extLst>
            </p:cNvPr>
            <p:cNvSpPr/>
            <p:nvPr/>
          </p:nvSpPr>
          <p:spPr>
            <a:xfrm>
              <a:off x="171022" y="1590281"/>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sp>
          <p:nvSpPr>
            <p:cNvPr id="12" name="矩形: 圆角 11">
              <a:extLst>
                <a:ext uri="{FF2B5EF4-FFF2-40B4-BE49-F238E27FC236}">
                  <a16:creationId xmlns:a16="http://schemas.microsoft.com/office/drawing/2014/main" id="{85557CFA-0870-398F-484A-1AA0B7D0E245}"/>
                </a:ext>
              </a:extLst>
            </p:cNvPr>
            <p:cNvSpPr/>
            <p:nvPr/>
          </p:nvSpPr>
          <p:spPr>
            <a:xfrm>
              <a:off x="1244641" y="1145422"/>
              <a:ext cx="648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J123</a:t>
              </a:r>
              <a:endParaRPr lang="zh-CN" altLang="en-US" dirty="0">
                <a:solidFill>
                  <a:schemeClr val="tx1"/>
                </a:solidFill>
              </a:endParaRPr>
            </a:p>
          </p:txBody>
        </p:sp>
        <p:cxnSp>
          <p:nvCxnSpPr>
            <p:cNvPr id="19" name="直接箭头连接符 18">
              <a:extLst>
                <a:ext uri="{FF2B5EF4-FFF2-40B4-BE49-F238E27FC236}">
                  <a16:creationId xmlns:a16="http://schemas.microsoft.com/office/drawing/2014/main" id="{210D966D-51B7-4C63-44AF-056369E4A250}"/>
                </a:ext>
              </a:extLst>
            </p:cNvPr>
            <p:cNvCxnSpPr>
              <a:cxnSpLocks/>
              <a:stCxn id="7" idx="3"/>
              <a:endCxn id="12" idx="1"/>
            </p:cNvCxnSpPr>
            <p:nvPr/>
          </p:nvCxnSpPr>
          <p:spPr>
            <a:xfrm flipV="1">
              <a:off x="603022" y="1289422"/>
              <a:ext cx="641619" cy="14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19C4E087-4260-5E97-C00A-024DCF0A81A3}"/>
                </a:ext>
              </a:extLst>
            </p:cNvPr>
            <p:cNvCxnSpPr>
              <a:cxnSpLocks/>
              <a:stCxn id="6" idx="3"/>
              <a:endCxn id="2" idx="1"/>
            </p:cNvCxnSpPr>
            <p:nvPr/>
          </p:nvCxnSpPr>
          <p:spPr>
            <a:xfrm>
              <a:off x="603022" y="858253"/>
              <a:ext cx="104809" cy="175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99A344A6-67D7-5855-5018-94E0E15660E5}"/>
                </a:ext>
              </a:extLst>
            </p:cNvPr>
            <p:cNvCxnSpPr>
              <a:cxnSpLocks/>
              <a:stCxn id="8" idx="3"/>
              <a:endCxn id="12" idx="1"/>
            </p:cNvCxnSpPr>
            <p:nvPr/>
          </p:nvCxnSpPr>
          <p:spPr>
            <a:xfrm flipV="1">
              <a:off x="603022" y="1289422"/>
              <a:ext cx="641619" cy="444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矩形: 圆角 1">
              <a:extLst>
                <a:ext uri="{FF2B5EF4-FFF2-40B4-BE49-F238E27FC236}">
                  <a16:creationId xmlns:a16="http://schemas.microsoft.com/office/drawing/2014/main" id="{1A7700B8-8F9F-CB4F-74B9-0FB0E1F6E73A}"/>
                </a:ext>
              </a:extLst>
            </p:cNvPr>
            <p:cNvSpPr/>
            <p:nvPr/>
          </p:nvSpPr>
          <p:spPr>
            <a:xfrm>
              <a:off x="707831" y="889654"/>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cxnSp>
          <p:nvCxnSpPr>
            <p:cNvPr id="10" name="直接箭头连接符 9">
              <a:extLst>
                <a:ext uri="{FF2B5EF4-FFF2-40B4-BE49-F238E27FC236}">
                  <a16:creationId xmlns:a16="http://schemas.microsoft.com/office/drawing/2014/main" id="{1FE7A539-5040-CF13-501E-C3BFE4B9AC88}"/>
                </a:ext>
              </a:extLst>
            </p:cNvPr>
            <p:cNvCxnSpPr>
              <a:cxnSpLocks/>
              <a:stCxn id="2" idx="3"/>
              <a:endCxn id="12" idx="1"/>
            </p:cNvCxnSpPr>
            <p:nvPr/>
          </p:nvCxnSpPr>
          <p:spPr>
            <a:xfrm>
              <a:off x="1139831" y="1033654"/>
              <a:ext cx="104810" cy="255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矩形: 圆角 52">
              <a:extLst>
                <a:ext uri="{FF2B5EF4-FFF2-40B4-BE49-F238E27FC236}">
                  <a16:creationId xmlns:a16="http://schemas.microsoft.com/office/drawing/2014/main" id="{28964403-BD9A-4464-6143-ACB3A5180072}"/>
                </a:ext>
              </a:extLst>
            </p:cNvPr>
            <p:cNvSpPr/>
            <p:nvPr/>
          </p:nvSpPr>
          <p:spPr>
            <a:xfrm>
              <a:off x="2132221" y="1145422"/>
              <a:ext cx="61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cxnSp>
          <p:nvCxnSpPr>
            <p:cNvPr id="54" name="直接箭头连接符 53">
              <a:extLst>
                <a:ext uri="{FF2B5EF4-FFF2-40B4-BE49-F238E27FC236}">
                  <a16:creationId xmlns:a16="http://schemas.microsoft.com/office/drawing/2014/main" id="{C429C248-1F57-0B73-74D8-DFB3E960918B}"/>
                </a:ext>
              </a:extLst>
            </p:cNvPr>
            <p:cNvCxnSpPr>
              <a:cxnSpLocks/>
              <a:stCxn id="12" idx="3"/>
              <a:endCxn id="53" idx="1"/>
            </p:cNvCxnSpPr>
            <p:nvPr/>
          </p:nvCxnSpPr>
          <p:spPr>
            <a:xfrm>
              <a:off x="1892641" y="1289422"/>
              <a:ext cx="2395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90" name="文本框 389">
            <a:extLst>
              <a:ext uri="{FF2B5EF4-FFF2-40B4-BE49-F238E27FC236}">
                <a16:creationId xmlns:a16="http://schemas.microsoft.com/office/drawing/2014/main" id="{C30EBD45-B0AD-E6E3-C56C-2A19CB045159}"/>
              </a:ext>
            </a:extLst>
          </p:cNvPr>
          <p:cNvSpPr txBox="1"/>
          <p:nvPr/>
        </p:nvSpPr>
        <p:spPr>
          <a:xfrm>
            <a:off x="988416" y="5087135"/>
            <a:ext cx="1403660" cy="369332"/>
          </a:xfrm>
          <a:prstGeom prst="rect">
            <a:avLst/>
          </a:prstGeom>
          <a:noFill/>
        </p:spPr>
        <p:txBody>
          <a:bodyPr wrap="square">
            <a:spAutoFit/>
          </a:bodyPr>
          <a:lstStyle/>
          <a:p>
            <a:r>
              <a:rPr lang="zh-CN" altLang="en-US" b="1" dirty="0"/>
              <a:t>先选择</a:t>
            </a:r>
            <a:r>
              <a:rPr lang="en-US" altLang="zh-CN" b="1" dirty="0"/>
              <a:t>J123</a:t>
            </a:r>
            <a:endParaRPr lang="zh-CN" altLang="en-US" b="1" dirty="0"/>
          </a:p>
        </p:txBody>
      </p:sp>
      <p:sp>
        <p:nvSpPr>
          <p:cNvPr id="140" name="文本框 139">
            <a:extLst>
              <a:ext uri="{FF2B5EF4-FFF2-40B4-BE49-F238E27FC236}">
                <a16:creationId xmlns:a16="http://schemas.microsoft.com/office/drawing/2014/main" id="{828EB07D-3E20-450B-7B65-DEDEF0F37488}"/>
              </a:ext>
            </a:extLst>
          </p:cNvPr>
          <p:cNvSpPr txBox="1"/>
          <p:nvPr/>
        </p:nvSpPr>
        <p:spPr>
          <a:xfrm>
            <a:off x="3431040" y="256185"/>
            <a:ext cx="1545848" cy="369332"/>
          </a:xfrm>
          <a:prstGeom prst="rect">
            <a:avLst/>
          </a:prstGeom>
          <a:noFill/>
        </p:spPr>
        <p:txBody>
          <a:bodyPr wrap="square">
            <a:spAutoFit/>
          </a:bodyPr>
          <a:lstStyle/>
          <a:p>
            <a:r>
              <a:rPr lang="en-US" altLang="zh-CN" b="1" dirty="0"/>
              <a:t>mv1 mv2</a:t>
            </a:r>
            <a:endParaRPr lang="zh-CN" altLang="en-US" b="1" dirty="0"/>
          </a:p>
        </p:txBody>
      </p:sp>
      <p:grpSp>
        <p:nvGrpSpPr>
          <p:cNvPr id="714" name="组合 713">
            <a:extLst>
              <a:ext uri="{FF2B5EF4-FFF2-40B4-BE49-F238E27FC236}">
                <a16:creationId xmlns:a16="http://schemas.microsoft.com/office/drawing/2014/main" id="{E6EC445A-76BC-8120-FEC0-9826D5634A83}"/>
              </a:ext>
            </a:extLst>
          </p:cNvPr>
          <p:cNvGrpSpPr/>
          <p:nvPr/>
        </p:nvGrpSpPr>
        <p:grpSpPr>
          <a:xfrm>
            <a:off x="3311320" y="850937"/>
            <a:ext cx="2907347" cy="1468350"/>
            <a:chOff x="3185953" y="855970"/>
            <a:chExt cx="2907347" cy="1468350"/>
          </a:xfrm>
        </p:grpSpPr>
        <p:sp>
          <p:nvSpPr>
            <p:cNvPr id="128" name="矩形: 圆角 127">
              <a:extLst>
                <a:ext uri="{FF2B5EF4-FFF2-40B4-BE49-F238E27FC236}">
                  <a16:creationId xmlns:a16="http://schemas.microsoft.com/office/drawing/2014/main" id="{274CAC18-C73C-1BEF-E874-3864D7D02C66}"/>
                </a:ext>
              </a:extLst>
            </p:cNvPr>
            <p:cNvSpPr/>
            <p:nvPr/>
          </p:nvSpPr>
          <p:spPr>
            <a:xfrm>
              <a:off x="3185953" y="1161275"/>
              <a:ext cx="432000" cy="286034"/>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130" name="矩形: 圆角 129">
              <a:extLst>
                <a:ext uri="{FF2B5EF4-FFF2-40B4-BE49-F238E27FC236}">
                  <a16:creationId xmlns:a16="http://schemas.microsoft.com/office/drawing/2014/main" id="{64525E70-DFA2-E88F-F866-474F6472EF19}"/>
                </a:ext>
              </a:extLst>
            </p:cNvPr>
            <p:cNvSpPr/>
            <p:nvPr/>
          </p:nvSpPr>
          <p:spPr>
            <a:xfrm>
              <a:off x="3185953" y="1605947"/>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131" name="矩形: 圆角 130">
              <a:extLst>
                <a:ext uri="{FF2B5EF4-FFF2-40B4-BE49-F238E27FC236}">
                  <a16:creationId xmlns:a16="http://schemas.microsoft.com/office/drawing/2014/main" id="{EE13503F-981D-812D-B6A6-A95913926B6F}"/>
                </a:ext>
              </a:extLst>
            </p:cNvPr>
            <p:cNvSpPr/>
            <p:nvPr/>
          </p:nvSpPr>
          <p:spPr>
            <a:xfrm>
              <a:off x="3185953" y="2036320"/>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sp>
          <p:nvSpPr>
            <p:cNvPr id="133" name="矩形: 圆角 132">
              <a:extLst>
                <a:ext uri="{FF2B5EF4-FFF2-40B4-BE49-F238E27FC236}">
                  <a16:creationId xmlns:a16="http://schemas.microsoft.com/office/drawing/2014/main" id="{C76A8B90-4605-025A-8711-C55EB2A6A13E}"/>
                </a:ext>
              </a:extLst>
            </p:cNvPr>
            <p:cNvSpPr/>
            <p:nvPr/>
          </p:nvSpPr>
          <p:spPr>
            <a:xfrm>
              <a:off x="4259572" y="1591461"/>
              <a:ext cx="648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J123</a:t>
              </a:r>
              <a:endParaRPr lang="zh-CN" altLang="en-US" dirty="0">
                <a:solidFill>
                  <a:schemeClr val="tx1"/>
                </a:solidFill>
              </a:endParaRPr>
            </a:p>
          </p:txBody>
        </p:sp>
        <p:cxnSp>
          <p:nvCxnSpPr>
            <p:cNvPr id="135" name="直接箭头连接符 134">
              <a:extLst>
                <a:ext uri="{FF2B5EF4-FFF2-40B4-BE49-F238E27FC236}">
                  <a16:creationId xmlns:a16="http://schemas.microsoft.com/office/drawing/2014/main" id="{97D358FB-3773-CDE3-8508-CE4BB358D860}"/>
                </a:ext>
              </a:extLst>
            </p:cNvPr>
            <p:cNvCxnSpPr>
              <a:cxnSpLocks/>
              <a:stCxn id="130" idx="3"/>
              <a:endCxn id="133" idx="1"/>
            </p:cNvCxnSpPr>
            <p:nvPr/>
          </p:nvCxnSpPr>
          <p:spPr>
            <a:xfrm flipV="1">
              <a:off x="3617953" y="1735461"/>
              <a:ext cx="641619" cy="14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 name="直接箭头连接符 135">
              <a:extLst>
                <a:ext uri="{FF2B5EF4-FFF2-40B4-BE49-F238E27FC236}">
                  <a16:creationId xmlns:a16="http://schemas.microsoft.com/office/drawing/2014/main" id="{02660620-CBC1-6423-2BB8-8AEF78741A02}"/>
                </a:ext>
              </a:extLst>
            </p:cNvPr>
            <p:cNvCxnSpPr>
              <a:cxnSpLocks/>
              <a:stCxn id="128" idx="3"/>
              <a:endCxn id="138" idx="1"/>
            </p:cNvCxnSpPr>
            <p:nvPr/>
          </p:nvCxnSpPr>
          <p:spPr>
            <a:xfrm>
              <a:off x="3617953" y="1304292"/>
              <a:ext cx="104809" cy="175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92F12896-5386-E94D-4051-E956A3DD1D6D}"/>
                </a:ext>
              </a:extLst>
            </p:cNvPr>
            <p:cNvCxnSpPr>
              <a:cxnSpLocks/>
              <a:stCxn id="131" idx="3"/>
              <a:endCxn id="133" idx="1"/>
            </p:cNvCxnSpPr>
            <p:nvPr/>
          </p:nvCxnSpPr>
          <p:spPr>
            <a:xfrm flipV="1">
              <a:off x="3617953" y="1735461"/>
              <a:ext cx="641619" cy="444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矩形: 圆角 137">
              <a:extLst>
                <a:ext uri="{FF2B5EF4-FFF2-40B4-BE49-F238E27FC236}">
                  <a16:creationId xmlns:a16="http://schemas.microsoft.com/office/drawing/2014/main" id="{6B2F0D56-EC84-ADC8-246E-BB8B2C6E8C46}"/>
                </a:ext>
              </a:extLst>
            </p:cNvPr>
            <p:cNvSpPr/>
            <p:nvPr/>
          </p:nvSpPr>
          <p:spPr>
            <a:xfrm>
              <a:off x="3722762" y="1335693"/>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cxnSp>
          <p:nvCxnSpPr>
            <p:cNvPr id="139" name="直接箭头连接符 138">
              <a:extLst>
                <a:ext uri="{FF2B5EF4-FFF2-40B4-BE49-F238E27FC236}">
                  <a16:creationId xmlns:a16="http://schemas.microsoft.com/office/drawing/2014/main" id="{F9E35DB7-B395-0B50-45E1-A33DCE93527B}"/>
                </a:ext>
              </a:extLst>
            </p:cNvPr>
            <p:cNvCxnSpPr>
              <a:cxnSpLocks/>
              <a:stCxn id="138" idx="3"/>
              <a:endCxn id="133" idx="1"/>
            </p:cNvCxnSpPr>
            <p:nvPr/>
          </p:nvCxnSpPr>
          <p:spPr>
            <a:xfrm>
              <a:off x="4154762" y="1479693"/>
              <a:ext cx="104810" cy="255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1" name="矩形: 圆角 140">
              <a:extLst>
                <a:ext uri="{FF2B5EF4-FFF2-40B4-BE49-F238E27FC236}">
                  <a16:creationId xmlns:a16="http://schemas.microsoft.com/office/drawing/2014/main" id="{7CC8E47A-2C64-79C8-3182-738B97FBF455}"/>
                </a:ext>
              </a:extLst>
            </p:cNvPr>
            <p:cNvSpPr/>
            <p:nvPr/>
          </p:nvSpPr>
          <p:spPr>
            <a:xfrm>
              <a:off x="5214098" y="1891507"/>
              <a:ext cx="61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cxnSp>
          <p:nvCxnSpPr>
            <p:cNvPr id="142" name="直接箭头连接符 141">
              <a:extLst>
                <a:ext uri="{FF2B5EF4-FFF2-40B4-BE49-F238E27FC236}">
                  <a16:creationId xmlns:a16="http://schemas.microsoft.com/office/drawing/2014/main" id="{70FB932C-D6AC-7BBD-C22D-B645F38FF608}"/>
                </a:ext>
              </a:extLst>
            </p:cNvPr>
            <p:cNvCxnSpPr>
              <a:cxnSpLocks/>
              <a:stCxn id="133" idx="3"/>
              <a:endCxn id="141" idx="1"/>
            </p:cNvCxnSpPr>
            <p:nvPr/>
          </p:nvCxnSpPr>
          <p:spPr>
            <a:xfrm>
              <a:off x="4907572" y="1735461"/>
              <a:ext cx="306526" cy="3000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3" name="矩形: 圆角 142">
              <a:extLst>
                <a:ext uri="{FF2B5EF4-FFF2-40B4-BE49-F238E27FC236}">
                  <a16:creationId xmlns:a16="http://schemas.microsoft.com/office/drawing/2014/main" id="{77F45D8A-8D7D-3F8C-D117-D0B60D541F77}"/>
                </a:ext>
              </a:extLst>
            </p:cNvPr>
            <p:cNvSpPr/>
            <p:nvPr/>
          </p:nvSpPr>
          <p:spPr>
            <a:xfrm>
              <a:off x="4570364" y="1264953"/>
              <a:ext cx="43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Sf</a:t>
              </a:r>
              <a:endParaRPr lang="zh-CN" altLang="en-US" dirty="0">
                <a:solidFill>
                  <a:schemeClr val="tx1"/>
                </a:solidFill>
              </a:endParaRPr>
            </a:p>
          </p:txBody>
        </p:sp>
        <p:sp>
          <p:nvSpPr>
            <p:cNvPr id="144" name="矩形: 圆角 143">
              <a:extLst>
                <a:ext uri="{FF2B5EF4-FFF2-40B4-BE49-F238E27FC236}">
                  <a16:creationId xmlns:a16="http://schemas.microsoft.com/office/drawing/2014/main" id="{F9D18C2F-1D41-8418-92CE-E66126AC189E}"/>
                </a:ext>
              </a:extLst>
            </p:cNvPr>
            <p:cNvSpPr/>
            <p:nvPr/>
          </p:nvSpPr>
          <p:spPr>
            <a:xfrm>
              <a:off x="4645486" y="855970"/>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mv2</a:t>
              </a:r>
              <a:endParaRPr lang="zh-CN" altLang="en-US" dirty="0">
                <a:solidFill>
                  <a:schemeClr val="tx1"/>
                </a:solidFill>
              </a:endParaRPr>
            </a:p>
          </p:txBody>
        </p:sp>
        <p:cxnSp>
          <p:nvCxnSpPr>
            <p:cNvPr id="145" name="直接箭头连接符 144">
              <a:extLst>
                <a:ext uri="{FF2B5EF4-FFF2-40B4-BE49-F238E27FC236}">
                  <a16:creationId xmlns:a16="http://schemas.microsoft.com/office/drawing/2014/main" id="{EC384DC9-A4F7-279A-0E7D-249DF88C0673}"/>
                </a:ext>
              </a:extLst>
            </p:cNvPr>
            <p:cNvCxnSpPr>
              <a:cxnSpLocks/>
              <a:stCxn id="138" idx="3"/>
              <a:endCxn id="144" idx="1"/>
            </p:cNvCxnSpPr>
            <p:nvPr/>
          </p:nvCxnSpPr>
          <p:spPr>
            <a:xfrm flipV="1">
              <a:off x="4154762" y="999970"/>
              <a:ext cx="490724" cy="47972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48" name="直接箭头连接符 147">
              <a:extLst>
                <a:ext uri="{FF2B5EF4-FFF2-40B4-BE49-F238E27FC236}">
                  <a16:creationId xmlns:a16="http://schemas.microsoft.com/office/drawing/2014/main" id="{0E590581-4F64-DF06-27AB-3E70AAFDAF83}"/>
                </a:ext>
              </a:extLst>
            </p:cNvPr>
            <p:cNvCxnSpPr>
              <a:cxnSpLocks/>
              <a:stCxn id="138" idx="3"/>
              <a:endCxn id="143" idx="1"/>
            </p:cNvCxnSpPr>
            <p:nvPr/>
          </p:nvCxnSpPr>
          <p:spPr>
            <a:xfrm flipV="1">
              <a:off x="4154762" y="1408953"/>
              <a:ext cx="415602" cy="7074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1" name="直接箭头连接符 150">
              <a:extLst>
                <a:ext uri="{FF2B5EF4-FFF2-40B4-BE49-F238E27FC236}">
                  <a16:creationId xmlns:a16="http://schemas.microsoft.com/office/drawing/2014/main" id="{59610FB4-4588-B03C-2E08-46664BF4198E}"/>
                </a:ext>
              </a:extLst>
            </p:cNvPr>
            <p:cNvCxnSpPr>
              <a:cxnSpLocks/>
              <a:stCxn id="143" idx="0"/>
              <a:endCxn id="144" idx="2"/>
            </p:cNvCxnSpPr>
            <p:nvPr/>
          </p:nvCxnSpPr>
          <p:spPr>
            <a:xfrm flipV="1">
              <a:off x="4786364" y="1143970"/>
              <a:ext cx="165122" cy="12098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77" name="矩形: 圆角 176">
              <a:extLst>
                <a:ext uri="{FF2B5EF4-FFF2-40B4-BE49-F238E27FC236}">
                  <a16:creationId xmlns:a16="http://schemas.microsoft.com/office/drawing/2014/main" id="{6A5A123B-F549-13D5-2F6F-9F516DB18676}"/>
                </a:ext>
              </a:extLst>
            </p:cNvPr>
            <p:cNvSpPr/>
            <p:nvPr/>
          </p:nvSpPr>
          <p:spPr>
            <a:xfrm>
              <a:off x="5373300" y="1408953"/>
              <a:ext cx="720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JSf23</a:t>
              </a:r>
              <a:endParaRPr lang="zh-CN" altLang="en-US" dirty="0">
                <a:solidFill>
                  <a:schemeClr val="tx1"/>
                </a:solidFill>
              </a:endParaRPr>
            </a:p>
          </p:txBody>
        </p:sp>
        <p:cxnSp>
          <p:nvCxnSpPr>
            <p:cNvPr id="178" name="直接箭头连接符 177">
              <a:extLst>
                <a:ext uri="{FF2B5EF4-FFF2-40B4-BE49-F238E27FC236}">
                  <a16:creationId xmlns:a16="http://schemas.microsoft.com/office/drawing/2014/main" id="{DEE87973-F53B-8474-0E20-513C79A93AD1}"/>
                </a:ext>
              </a:extLst>
            </p:cNvPr>
            <p:cNvCxnSpPr>
              <a:cxnSpLocks/>
              <a:stCxn id="143" idx="3"/>
              <a:endCxn id="177" idx="1"/>
            </p:cNvCxnSpPr>
            <p:nvPr/>
          </p:nvCxnSpPr>
          <p:spPr>
            <a:xfrm>
              <a:off x="5002364" y="1408953"/>
              <a:ext cx="370936" cy="1440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86" name="直接箭头连接符 185">
              <a:extLst>
                <a:ext uri="{FF2B5EF4-FFF2-40B4-BE49-F238E27FC236}">
                  <a16:creationId xmlns:a16="http://schemas.microsoft.com/office/drawing/2014/main" id="{FC225DAD-86FB-7763-5B37-FAE37001B04A}"/>
                </a:ext>
              </a:extLst>
            </p:cNvPr>
            <p:cNvCxnSpPr>
              <a:cxnSpLocks/>
              <a:stCxn id="177" idx="2"/>
              <a:endCxn id="141" idx="0"/>
            </p:cNvCxnSpPr>
            <p:nvPr/>
          </p:nvCxnSpPr>
          <p:spPr>
            <a:xfrm flipH="1">
              <a:off x="5520098" y="1696953"/>
              <a:ext cx="213202" cy="19455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03" name="直接箭头连接符 202">
              <a:extLst>
                <a:ext uri="{FF2B5EF4-FFF2-40B4-BE49-F238E27FC236}">
                  <a16:creationId xmlns:a16="http://schemas.microsoft.com/office/drawing/2014/main" id="{A325C6D4-660D-465C-F43A-6A3825608485}"/>
                </a:ext>
              </a:extLst>
            </p:cNvPr>
            <p:cNvCxnSpPr>
              <a:cxnSpLocks/>
              <a:stCxn id="131" idx="3"/>
              <a:endCxn id="177" idx="1"/>
            </p:cNvCxnSpPr>
            <p:nvPr/>
          </p:nvCxnSpPr>
          <p:spPr>
            <a:xfrm flipV="1">
              <a:off x="3617953" y="1552953"/>
              <a:ext cx="1755347" cy="62736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2" name="直接箭头连接符 221">
              <a:extLst>
                <a:ext uri="{FF2B5EF4-FFF2-40B4-BE49-F238E27FC236}">
                  <a16:creationId xmlns:a16="http://schemas.microsoft.com/office/drawing/2014/main" id="{B45913E7-0F1D-4FFF-41F9-4308F70A361D}"/>
                </a:ext>
              </a:extLst>
            </p:cNvPr>
            <p:cNvCxnSpPr>
              <a:cxnSpLocks/>
              <a:stCxn id="130" idx="3"/>
              <a:endCxn id="177" idx="1"/>
            </p:cNvCxnSpPr>
            <p:nvPr/>
          </p:nvCxnSpPr>
          <p:spPr>
            <a:xfrm flipV="1">
              <a:off x="3617953" y="1552953"/>
              <a:ext cx="1755347" cy="19699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grpSp>
      <p:sp>
        <p:nvSpPr>
          <p:cNvPr id="242" name="文本框 241">
            <a:extLst>
              <a:ext uri="{FF2B5EF4-FFF2-40B4-BE49-F238E27FC236}">
                <a16:creationId xmlns:a16="http://schemas.microsoft.com/office/drawing/2014/main" id="{8941157C-DD02-BE19-9676-1D329DCBA3B6}"/>
              </a:ext>
            </a:extLst>
          </p:cNvPr>
          <p:cNvSpPr txBox="1"/>
          <p:nvPr/>
        </p:nvSpPr>
        <p:spPr>
          <a:xfrm>
            <a:off x="6990938" y="256185"/>
            <a:ext cx="2160380" cy="369332"/>
          </a:xfrm>
          <a:prstGeom prst="rect">
            <a:avLst/>
          </a:prstGeom>
          <a:noFill/>
        </p:spPr>
        <p:txBody>
          <a:bodyPr wrap="square">
            <a:spAutoFit/>
          </a:bodyPr>
          <a:lstStyle/>
          <a:p>
            <a:r>
              <a:rPr lang="en-US" altLang="zh-CN" b="1" dirty="0"/>
              <a:t>mv1 mv2 mv3 mv4</a:t>
            </a:r>
            <a:endParaRPr lang="zh-CN" altLang="en-US" b="1" dirty="0"/>
          </a:p>
        </p:txBody>
      </p:sp>
      <p:grpSp>
        <p:nvGrpSpPr>
          <p:cNvPr id="713" name="组合 712">
            <a:extLst>
              <a:ext uri="{FF2B5EF4-FFF2-40B4-BE49-F238E27FC236}">
                <a16:creationId xmlns:a16="http://schemas.microsoft.com/office/drawing/2014/main" id="{24502271-50DF-F73D-425B-9E28DC857BF1}"/>
              </a:ext>
            </a:extLst>
          </p:cNvPr>
          <p:cNvGrpSpPr/>
          <p:nvPr/>
        </p:nvGrpSpPr>
        <p:grpSpPr>
          <a:xfrm>
            <a:off x="6836093" y="587253"/>
            <a:ext cx="3140251" cy="1995718"/>
            <a:chOff x="6836093" y="587253"/>
            <a:chExt cx="3140251" cy="1995718"/>
          </a:xfrm>
        </p:grpSpPr>
        <p:sp>
          <p:nvSpPr>
            <p:cNvPr id="323" name="矩形: 圆角 322">
              <a:extLst>
                <a:ext uri="{FF2B5EF4-FFF2-40B4-BE49-F238E27FC236}">
                  <a16:creationId xmlns:a16="http://schemas.microsoft.com/office/drawing/2014/main" id="{9A2EF27C-76C5-6F2B-3836-A41A83C0F0C2}"/>
                </a:ext>
              </a:extLst>
            </p:cNvPr>
            <p:cNvSpPr/>
            <p:nvPr/>
          </p:nvSpPr>
          <p:spPr>
            <a:xfrm>
              <a:off x="7970783" y="1746607"/>
              <a:ext cx="540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J23</a:t>
              </a:r>
              <a:endParaRPr lang="zh-CN" altLang="en-US" dirty="0">
                <a:solidFill>
                  <a:schemeClr val="tx1"/>
                </a:solidFill>
              </a:endParaRPr>
            </a:p>
          </p:txBody>
        </p:sp>
        <p:sp>
          <p:nvSpPr>
            <p:cNvPr id="232" name="矩形: 圆角 231">
              <a:extLst>
                <a:ext uri="{FF2B5EF4-FFF2-40B4-BE49-F238E27FC236}">
                  <a16:creationId xmlns:a16="http://schemas.microsoft.com/office/drawing/2014/main" id="{39E0E67B-90C3-7D70-A8DF-224C940C8F54}"/>
                </a:ext>
              </a:extLst>
            </p:cNvPr>
            <p:cNvSpPr/>
            <p:nvPr/>
          </p:nvSpPr>
          <p:spPr>
            <a:xfrm>
              <a:off x="6836093" y="881079"/>
              <a:ext cx="432000" cy="286034"/>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233" name="矩形: 圆角 232">
              <a:extLst>
                <a:ext uri="{FF2B5EF4-FFF2-40B4-BE49-F238E27FC236}">
                  <a16:creationId xmlns:a16="http://schemas.microsoft.com/office/drawing/2014/main" id="{9C354EF4-46CB-001F-C70A-58A3125C3F1D}"/>
                </a:ext>
              </a:extLst>
            </p:cNvPr>
            <p:cNvSpPr/>
            <p:nvPr/>
          </p:nvSpPr>
          <p:spPr>
            <a:xfrm>
              <a:off x="6836093" y="1325751"/>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234" name="矩形: 圆角 233">
              <a:extLst>
                <a:ext uri="{FF2B5EF4-FFF2-40B4-BE49-F238E27FC236}">
                  <a16:creationId xmlns:a16="http://schemas.microsoft.com/office/drawing/2014/main" id="{45541D2B-EEE8-024B-F518-6169DFE4D524}"/>
                </a:ext>
              </a:extLst>
            </p:cNvPr>
            <p:cNvSpPr/>
            <p:nvPr/>
          </p:nvSpPr>
          <p:spPr>
            <a:xfrm>
              <a:off x="6836093" y="1756124"/>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sp>
          <p:nvSpPr>
            <p:cNvPr id="235" name="矩形: 圆角 234">
              <a:extLst>
                <a:ext uri="{FF2B5EF4-FFF2-40B4-BE49-F238E27FC236}">
                  <a16:creationId xmlns:a16="http://schemas.microsoft.com/office/drawing/2014/main" id="{2C914B9B-F2E9-3313-CA72-AF4AFD9EB993}"/>
                </a:ext>
              </a:extLst>
            </p:cNvPr>
            <p:cNvSpPr/>
            <p:nvPr/>
          </p:nvSpPr>
          <p:spPr>
            <a:xfrm>
              <a:off x="7909712" y="1311265"/>
              <a:ext cx="648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J123</a:t>
              </a:r>
              <a:endParaRPr lang="zh-CN" altLang="en-US" dirty="0">
                <a:solidFill>
                  <a:schemeClr val="tx1"/>
                </a:solidFill>
              </a:endParaRPr>
            </a:p>
          </p:txBody>
        </p:sp>
        <p:cxnSp>
          <p:nvCxnSpPr>
            <p:cNvPr id="236" name="直接箭头连接符 235">
              <a:extLst>
                <a:ext uri="{FF2B5EF4-FFF2-40B4-BE49-F238E27FC236}">
                  <a16:creationId xmlns:a16="http://schemas.microsoft.com/office/drawing/2014/main" id="{9FA86C6E-397E-9451-7F48-A5090803888F}"/>
                </a:ext>
              </a:extLst>
            </p:cNvPr>
            <p:cNvCxnSpPr>
              <a:cxnSpLocks/>
              <a:stCxn id="233" idx="3"/>
              <a:endCxn id="235" idx="1"/>
            </p:cNvCxnSpPr>
            <p:nvPr/>
          </p:nvCxnSpPr>
          <p:spPr>
            <a:xfrm flipV="1">
              <a:off x="7268093" y="1455265"/>
              <a:ext cx="641619" cy="14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7" name="直接箭头连接符 236">
              <a:extLst>
                <a:ext uri="{FF2B5EF4-FFF2-40B4-BE49-F238E27FC236}">
                  <a16:creationId xmlns:a16="http://schemas.microsoft.com/office/drawing/2014/main" id="{3F6A885B-AA5E-748F-318A-B8F0CAE478E8}"/>
                </a:ext>
              </a:extLst>
            </p:cNvPr>
            <p:cNvCxnSpPr>
              <a:cxnSpLocks/>
              <a:stCxn id="232" idx="3"/>
              <a:endCxn id="240" idx="1"/>
            </p:cNvCxnSpPr>
            <p:nvPr/>
          </p:nvCxnSpPr>
          <p:spPr>
            <a:xfrm>
              <a:off x="7268093" y="1024096"/>
              <a:ext cx="104809" cy="175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8" name="直接箭头连接符 237">
              <a:extLst>
                <a:ext uri="{FF2B5EF4-FFF2-40B4-BE49-F238E27FC236}">
                  <a16:creationId xmlns:a16="http://schemas.microsoft.com/office/drawing/2014/main" id="{0C4C0786-A8DC-D996-7A2D-79A98AFFF80A}"/>
                </a:ext>
              </a:extLst>
            </p:cNvPr>
            <p:cNvCxnSpPr>
              <a:cxnSpLocks/>
              <a:stCxn id="234" idx="3"/>
              <a:endCxn id="235" idx="1"/>
            </p:cNvCxnSpPr>
            <p:nvPr/>
          </p:nvCxnSpPr>
          <p:spPr>
            <a:xfrm flipV="1">
              <a:off x="7268093" y="1455265"/>
              <a:ext cx="641619" cy="444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0" name="矩形: 圆角 239">
              <a:extLst>
                <a:ext uri="{FF2B5EF4-FFF2-40B4-BE49-F238E27FC236}">
                  <a16:creationId xmlns:a16="http://schemas.microsoft.com/office/drawing/2014/main" id="{62F93E26-F72E-96E3-32BA-BEA605BCA974}"/>
                </a:ext>
              </a:extLst>
            </p:cNvPr>
            <p:cNvSpPr/>
            <p:nvPr/>
          </p:nvSpPr>
          <p:spPr>
            <a:xfrm>
              <a:off x="7372902" y="1055497"/>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cxnSp>
          <p:nvCxnSpPr>
            <p:cNvPr id="241" name="直接箭头连接符 240">
              <a:extLst>
                <a:ext uri="{FF2B5EF4-FFF2-40B4-BE49-F238E27FC236}">
                  <a16:creationId xmlns:a16="http://schemas.microsoft.com/office/drawing/2014/main" id="{20C757B5-5F71-45DD-346B-55ADBBDCE87B}"/>
                </a:ext>
              </a:extLst>
            </p:cNvPr>
            <p:cNvCxnSpPr>
              <a:cxnSpLocks/>
              <a:stCxn id="240" idx="3"/>
              <a:endCxn id="235" idx="1"/>
            </p:cNvCxnSpPr>
            <p:nvPr/>
          </p:nvCxnSpPr>
          <p:spPr>
            <a:xfrm>
              <a:off x="7804902" y="1199497"/>
              <a:ext cx="104810" cy="255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3" name="矩形: 圆角 242">
              <a:extLst>
                <a:ext uri="{FF2B5EF4-FFF2-40B4-BE49-F238E27FC236}">
                  <a16:creationId xmlns:a16="http://schemas.microsoft.com/office/drawing/2014/main" id="{8E0BFEC5-C341-F399-09D1-D1912110B1FA}"/>
                </a:ext>
              </a:extLst>
            </p:cNvPr>
            <p:cNvSpPr/>
            <p:nvPr/>
          </p:nvSpPr>
          <p:spPr>
            <a:xfrm>
              <a:off x="9058344" y="1486033"/>
              <a:ext cx="61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cxnSp>
          <p:nvCxnSpPr>
            <p:cNvPr id="244" name="直接箭头连接符 243">
              <a:extLst>
                <a:ext uri="{FF2B5EF4-FFF2-40B4-BE49-F238E27FC236}">
                  <a16:creationId xmlns:a16="http://schemas.microsoft.com/office/drawing/2014/main" id="{BD94FA3C-EC12-84FD-150D-A8608DFADB87}"/>
                </a:ext>
              </a:extLst>
            </p:cNvPr>
            <p:cNvCxnSpPr>
              <a:cxnSpLocks/>
              <a:stCxn id="235" idx="3"/>
              <a:endCxn id="243" idx="1"/>
            </p:cNvCxnSpPr>
            <p:nvPr/>
          </p:nvCxnSpPr>
          <p:spPr>
            <a:xfrm>
              <a:off x="8557712" y="1455265"/>
              <a:ext cx="500632" cy="174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5" name="矩形: 圆角 244">
              <a:extLst>
                <a:ext uri="{FF2B5EF4-FFF2-40B4-BE49-F238E27FC236}">
                  <a16:creationId xmlns:a16="http://schemas.microsoft.com/office/drawing/2014/main" id="{A60D8952-9739-5DD4-A591-782BA47F653B}"/>
                </a:ext>
              </a:extLst>
            </p:cNvPr>
            <p:cNvSpPr/>
            <p:nvPr/>
          </p:nvSpPr>
          <p:spPr>
            <a:xfrm>
              <a:off x="8220504" y="984757"/>
              <a:ext cx="432000" cy="288000"/>
            </a:xfrm>
            <a:prstGeom prst="roundRect">
              <a:avLst/>
            </a:prstGeom>
            <a:solidFill>
              <a:srgbClr val="FEE6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Sf</a:t>
              </a:r>
              <a:endParaRPr lang="zh-CN" altLang="en-US" dirty="0">
                <a:solidFill>
                  <a:schemeClr val="tx1"/>
                </a:solidFill>
              </a:endParaRPr>
            </a:p>
          </p:txBody>
        </p:sp>
        <p:sp>
          <p:nvSpPr>
            <p:cNvPr id="246" name="矩形: 圆角 245">
              <a:extLst>
                <a:ext uri="{FF2B5EF4-FFF2-40B4-BE49-F238E27FC236}">
                  <a16:creationId xmlns:a16="http://schemas.microsoft.com/office/drawing/2014/main" id="{35918A20-C615-2423-89AB-143071CA05D0}"/>
                </a:ext>
              </a:extLst>
            </p:cNvPr>
            <p:cNvSpPr/>
            <p:nvPr/>
          </p:nvSpPr>
          <p:spPr>
            <a:xfrm>
              <a:off x="8325563" y="587253"/>
              <a:ext cx="612000" cy="288000"/>
            </a:xfrm>
            <a:prstGeom prst="roundRect">
              <a:avLst/>
            </a:prstGeom>
            <a:solidFill>
              <a:srgbClr val="FEE6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mv2</a:t>
              </a:r>
              <a:endParaRPr lang="zh-CN" altLang="en-US" dirty="0">
                <a:solidFill>
                  <a:schemeClr val="tx1"/>
                </a:solidFill>
              </a:endParaRPr>
            </a:p>
          </p:txBody>
        </p:sp>
        <p:cxnSp>
          <p:nvCxnSpPr>
            <p:cNvPr id="247" name="直接箭头连接符 246">
              <a:extLst>
                <a:ext uri="{FF2B5EF4-FFF2-40B4-BE49-F238E27FC236}">
                  <a16:creationId xmlns:a16="http://schemas.microsoft.com/office/drawing/2014/main" id="{0693EA76-6B5A-52AD-3392-E064C4018E8D}"/>
                </a:ext>
              </a:extLst>
            </p:cNvPr>
            <p:cNvCxnSpPr>
              <a:cxnSpLocks/>
              <a:stCxn id="240" idx="3"/>
              <a:endCxn id="246" idx="1"/>
            </p:cNvCxnSpPr>
            <p:nvPr/>
          </p:nvCxnSpPr>
          <p:spPr>
            <a:xfrm flipV="1">
              <a:off x="7804902" y="731253"/>
              <a:ext cx="520661" cy="468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8" name="直接箭头连接符 247">
              <a:extLst>
                <a:ext uri="{FF2B5EF4-FFF2-40B4-BE49-F238E27FC236}">
                  <a16:creationId xmlns:a16="http://schemas.microsoft.com/office/drawing/2014/main" id="{DE247C0D-9525-2D86-586B-14C46500725E}"/>
                </a:ext>
              </a:extLst>
            </p:cNvPr>
            <p:cNvCxnSpPr>
              <a:cxnSpLocks/>
              <a:stCxn id="240" idx="3"/>
              <a:endCxn id="245" idx="1"/>
            </p:cNvCxnSpPr>
            <p:nvPr/>
          </p:nvCxnSpPr>
          <p:spPr>
            <a:xfrm flipV="1">
              <a:off x="7804902" y="1128757"/>
              <a:ext cx="415602" cy="70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9" name="直接箭头连接符 248">
              <a:extLst>
                <a:ext uri="{FF2B5EF4-FFF2-40B4-BE49-F238E27FC236}">
                  <a16:creationId xmlns:a16="http://schemas.microsoft.com/office/drawing/2014/main" id="{3B5C2E0F-E857-3A55-50C2-22A930CDE3BB}"/>
                </a:ext>
              </a:extLst>
            </p:cNvPr>
            <p:cNvCxnSpPr>
              <a:cxnSpLocks/>
              <a:stCxn id="245" idx="0"/>
              <a:endCxn id="246" idx="2"/>
            </p:cNvCxnSpPr>
            <p:nvPr/>
          </p:nvCxnSpPr>
          <p:spPr>
            <a:xfrm flipV="1">
              <a:off x="8436504" y="875253"/>
              <a:ext cx="195059" cy="109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0" name="矩形: 圆角 249">
              <a:extLst>
                <a:ext uri="{FF2B5EF4-FFF2-40B4-BE49-F238E27FC236}">
                  <a16:creationId xmlns:a16="http://schemas.microsoft.com/office/drawing/2014/main" id="{74B326BB-2BA7-9E67-ACC1-2346009B2EBB}"/>
                </a:ext>
              </a:extLst>
            </p:cNvPr>
            <p:cNvSpPr/>
            <p:nvPr/>
          </p:nvSpPr>
          <p:spPr>
            <a:xfrm>
              <a:off x="9064589" y="1059765"/>
              <a:ext cx="720000" cy="288000"/>
            </a:xfrm>
            <a:prstGeom prst="roundRect">
              <a:avLst/>
            </a:prstGeom>
            <a:solidFill>
              <a:srgbClr val="FEE6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JSf23</a:t>
              </a:r>
              <a:endParaRPr lang="zh-CN" altLang="en-US" dirty="0">
                <a:solidFill>
                  <a:schemeClr val="tx1"/>
                </a:solidFill>
              </a:endParaRPr>
            </a:p>
          </p:txBody>
        </p:sp>
        <p:cxnSp>
          <p:nvCxnSpPr>
            <p:cNvPr id="251" name="直接箭头连接符 250">
              <a:extLst>
                <a:ext uri="{FF2B5EF4-FFF2-40B4-BE49-F238E27FC236}">
                  <a16:creationId xmlns:a16="http://schemas.microsoft.com/office/drawing/2014/main" id="{6244A903-9122-5DBF-4ACD-59DE477F7BE0}"/>
                </a:ext>
              </a:extLst>
            </p:cNvPr>
            <p:cNvCxnSpPr>
              <a:cxnSpLocks/>
              <a:stCxn id="245" idx="3"/>
              <a:endCxn id="250" idx="1"/>
            </p:cNvCxnSpPr>
            <p:nvPr/>
          </p:nvCxnSpPr>
          <p:spPr>
            <a:xfrm>
              <a:off x="8652504" y="1128757"/>
              <a:ext cx="412085" cy="75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4" name="直接箭头连接符 253">
              <a:extLst>
                <a:ext uri="{FF2B5EF4-FFF2-40B4-BE49-F238E27FC236}">
                  <a16:creationId xmlns:a16="http://schemas.microsoft.com/office/drawing/2014/main" id="{90942AC0-FE07-4578-EADB-71A36E2874DA}"/>
                </a:ext>
              </a:extLst>
            </p:cNvPr>
            <p:cNvCxnSpPr>
              <a:cxnSpLocks/>
              <a:stCxn id="250" idx="2"/>
              <a:endCxn id="243" idx="0"/>
            </p:cNvCxnSpPr>
            <p:nvPr/>
          </p:nvCxnSpPr>
          <p:spPr>
            <a:xfrm flipH="1">
              <a:off x="9364344" y="1347765"/>
              <a:ext cx="60245" cy="138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5" name="直接箭头连接符 254">
              <a:extLst>
                <a:ext uri="{FF2B5EF4-FFF2-40B4-BE49-F238E27FC236}">
                  <a16:creationId xmlns:a16="http://schemas.microsoft.com/office/drawing/2014/main" id="{6C720F1E-D353-CBA9-23E9-447CF8CA52C4}"/>
                </a:ext>
              </a:extLst>
            </p:cNvPr>
            <p:cNvCxnSpPr>
              <a:cxnSpLocks/>
              <a:stCxn id="234" idx="3"/>
              <a:endCxn id="250" idx="1"/>
            </p:cNvCxnSpPr>
            <p:nvPr/>
          </p:nvCxnSpPr>
          <p:spPr>
            <a:xfrm flipV="1">
              <a:off x="7268093" y="1203765"/>
              <a:ext cx="1796496" cy="696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2" name="直接箭头连接符 321">
              <a:extLst>
                <a:ext uri="{FF2B5EF4-FFF2-40B4-BE49-F238E27FC236}">
                  <a16:creationId xmlns:a16="http://schemas.microsoft.com/office/drawing/2014/main" id="{AFA4B745-6497-A6E2-8345-524D2CCEB20E}"/>
                </a:ext>
              </a:extLst>
            </p:cNvPr>
            <p:cNvCxnSpPr>
              <a:cxnSpLocks/>
              <a:stCxn id="233" idx="3"/>
              <a:endCxn id="250" idx="1"/>
            </p:cNvCxnSpPr>
            <p:nvPr/>
          </p:nvCxnSpPr>
          <p:spPr>
            <a:xfrm flipV="1">
              <a:off x="7268093" y="1203765"/>
              <a:ext cx="1796496" cy="2659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5" name="直接箭头连接符 324">
              <a:extLst>
                <a:ext uri="{FF2B5EF4-FFF2-40B4-BE49-F238E27FC236}">
                  <a16:creationId xmlns:a16="http://schemas.microsoft.com/office/drawing/2014/main" id="{D1116673-AABF-A01F-7966-B55B72E3BA37}"/>
                </a:ext>
              </a:extLst>
            </p:cNvPr>
            <p:cNvCxnSpPr>
              <a:cxnSpLocks/>
              <a:stCxn id="234" idx="3"/>
              <a:endCxn id="323" idx="1"/>
            </p:cNvCxnSpPr>
            <p:nvPr/>
          </p:nvCxnSpPr>
          <p:spPr>
            <a:xfrm flipV="1">
              <a:off x="7268093" y="1890607"/>
              <a:ext cx="702690" cy="951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30" name="直接箭头连接符 329">
              <a:extLst>
                <a:ext uri="{FF2B5EF4-FFF2-40B4-BE49-F238E27FC236}">
                  <a16:creationId xmlns:a16="http://schemas.microsoft.com/office/drawing/2014/main" id="{2E2DDE1A-B5CD-E1B0-67C5-F2AF50335CBB}"/>
                </a:ext>
              </a:extLst>
            </p:cNvPr>
            <p:cNvCxnSpPr>
              <a:cxnSpLocks/>
              <a:stCxn id="233" idx="3"/>
              <a:endCxn id="323" idx="1"/>
            </p:cNvCxnSpPr>
            <p:nvPr/>
          </p:nvCxnSpPr>
          <p:spPr>
            <a:xfrm>
              <a:off x="7268093" y="1469751"/>
              <a:ext cx="702690" cy="42085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33" name="直接箭头连接符 332">
              <a:extLst>
                <a:ext uri="{FF2B5EF4-FFF2-40B4-BE49-F238E27FC236}">
                  <a16:creationId xmlns:a16="http://schemas.microsoft.com/office/drawing/2014/main" id="{52A0A67C-C034-F4AF-2953-07522858CC9C}"/>
                </a:ext>
              </a:extLst>
            </p:cNvPr>
            <p:cNvCxnSpPr>
              <a:cxnSpLocks/>
              <a:stCxn id="323" idx="3"/>
              <a:endCxn id="250" idx="1"/>
            </p:cNvCxnSpPr>
            <p:nvPr/>
          </p:nvCxnSpPr>
          <p:spPr>
            <a:xfrm flipV="1">
              <a:off x="8510783" y="1203765"/>
              <a:ext cx="553806" cy="68684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36" name="直接箭头连接符 335">
              <a:extLst>
                <a:ext uri="{FF2B5EF4-FFF2-40B4-BE49-F238E27FC236}">
                  <a16:creationId xmlns:a16="http://schemas.microsoft.com/office/drawing/2014/main" id="{18A8600C-2DF9-C935-4AB6-2CF3B1F46F9B}"/>
                </a:ext>
              </a:extLst>
            </p:cNvPr>
            <p:cNvCxnSpPr>
              <a:cxnSpLocks/>
              <a:stCxn id="323" idx="0"/>
              <a:endCxn id="235" idx="2"/>
            </p:cNvCxnSpPr>
            <p:nvPr/>
          </p:nvCxnSpPr>
          <p:spPr>
            <a:xfrm flipH="1" flipV="1">
              <a:off x="8233712" y="1599265"/>
              <a:ext cx="7071" cy="14734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40" name="矩形: 圆角 339">
              <a:extLst>
                <a:ext uri="{FF2B5EF4-FFF2-40B4-BE49-F238E27FC236}">
                  <a16:creationId xmlns:a16="http://schemas.microsoft.com/office/drawing/2014/main" id="{80CDCD0B-D1CC-0F19-06EA-5DB2DB54A42D}"/>
                </a:ext>
              </a:extLst>
            </p:cNvPr>
            <p:cNvSpPr/>
            <p:nvPr/>
          </p:nvSpPr>
          <p:spPr>
            <a:xfrm>
              <a:off x="9364344" y="1949216"/>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mv3</a:t>
              </a:r>
              <a:endParaRPr lang="zh-CN" altLang="en-US" dirty="0">
                <a:solidFill>
                  <a:schemeClr val="tx1"/>
                </a:solidFill>
              </a:endParaRPr>
            </a:p>
          </p:txBody>
        </p:sp>
        <p:cxnSp>
          <p:nvCxnSpPr>
            <p:cNvPr id="341" name="直接箭头连接符 340">
              <a:extLst>
                <a:ext uri="{FF2B5EF4-FFF2-40B4-BE49-F238E27FC236}">
                  <a16:creationId xmlns:a16="http://schemas.microsoft.com/office/drawing/2014/main" id="{6BB603D1-1FAB-8EAE-0797-E3AAF2EA0A21}"/>
                </a:ext>
              </a:extLst>
            </p:cNvPr>
            <p:cNvCxnSpPr>
              <a:cxnSpLocks/>
              <a:stCxn id="323" idx="3"/>
              <a:endCxn id="340" idx="1"/>
            </p:cNvCxnSpPr>
            <p:nvPr/>
          </p:nvCxnSpPr>
          <p:spPr>
            <a:xfrm>
              <a:off x="8510783" y="1890607"/>
              <a:ext cx="853561" cy="20260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45" name="矩形: 圆角 344">
              <a:extLst>
                <a:ext uri="{FF2B5EF4-FFF2-40B4-BE49-F238E27FC236}">
                  <a16:creationId xmlns:a16="http://schemas.microsoft.com/office/drawing/2014/main" id="{0C60ABE8-090B-AEB9-59C6-2CD5D99DA39C}"/>
                </a:ext>
              </a:extLst>
            </p:cNvPr>
            <p:cNvSpPr/>
            <p:nvPr/>
          </p:nvSpPr>
          <p:spPr>
            <a:xfrm>
              <a:off x="6836093" y="2222971"/>
              <a:ext cx="43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t4</a:t>
              </a:r>
              <a:endParaRPr lang="zh-CN" altLang="en-US" dirty="0">
                <a:solidFill>
                  <a:schemeClr val="tx1"/>
                </a:solidFill>
              </a:endParaRPr>
            </a:p>
          </p:txBody>
        </p:sp>
        <p:cxnSp>
          <p:nvCxnSpPr>
            <p:cNvPr id="346" name="直接箭头连接符 345">
              <a:extLst>
                <a:ext uri="{FF2B5EF4-FFF2-40B4-BE49-F238E27FC236}">
                  <a16:creationId xmlns:a16="http://schemas.microsoft.com/office/drawing/2014/main" id="{C65F92BE-853E-2266-9264-D42E32953929}"/>
                </a:ext>
              </a:extLst>
            </p:cNvPr>
            <p:cNvCxnSpPr>
              <a:cxnSpLocks/>
              <a:stCxn id="345" idx="3"/>
              <a:endCxn id="340" idx="1"/>
            </p:cNvCxnSpPr>
            <p:nvPr/>
          </p:nvCxnSpPr>
          <p:spPr>
            <a:xfrm flipV="1">
              <a:off x="7268093" y="2093216"/>
              <a:ext cx="2096251" cy="27375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49" name="直接箭头连接符 348">
              <a:extLst>
                <a:ext uri="{FF2B5EF4-FFF2-40B4-BE49-F238E27FC236}">
                  <a16:creationId xmlns:a16="http://schemas.microsoft.com/office/drawing/2014/main" id="{60DA74CB-C113-B099-F3C5-D7392A8D86FB}"/>
                </a:ext>
              </a:extLst>
            </p:cNvPr>
            <p:cNvCxnSpPr>
              <a:cxnSpLocks/>
              <a:stCxn id="234" idx="3"/>
              <a:endCxn id="340" idx="1"/>
            </p:cNvCxnSpPr>
            <p:nvPr/>
          </p:nvCxnSpPr>
          <p:spPr>
            <a:xfrm>
              <a:off x="7268093" y="1900124"/>
              <a:ext cx="2096251" cy="193092"/>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352" name="直接箭头连接符 351">
              <a:extLst>
                <a:ext uri="{FF2B5EF4-FFF2-40B4-BE49-F238E27FC236}">
                  <a16:creationId xmlns:a16="http://schemas.microsoft.com/office/drawing/2014/main" id="{E18975AF-FDAA-FA6E-6C09-6ECC028ACE79}"/>
                </a:ext>
              </a:extLst>
            </p:cNvPr>
            <p:cNvCxnSpPr>
              <a:cxnSpLocks/>
              <a:stCxn id="233" idx="3"/>
              <a:endCxn id="340" idx="1"/>
            </p:cNvCxnSpPr>
            <p:nvPr/>
          </p:nvCxnSpPr>
          <p:spPr>
            <a:xfrm>
              <a:off x="7268093" y="1469751"/>
              <a:ext cx="2096251" cy="623465"/>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359" name="矩形: 圆角 358">
              <a:extLst>
                <a:ext uri="{FF2B5EF4-FFF2-40B4-BE49-F238E27FC236}">
                  <a16:creationId xmlns:a16="http://schemas.microsoft.com/office/drawing/2014/main" id="{A8DBEB27-A159-37A2-8510-09F96B0E0367}"/>
                </a:ext>
              </a:extLst>
            </p:cNvPr>
            <p:cNvSpPr/>
            <p:nvPr/>
          </p:nvSpPr>
          <p:spPr>
            <a:xfrm>
              <a:off x="8510783" y="2294971"/>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mv4</a:t>
              </a:r>
              <a:endParaRPr lang="zh-CN" altLang="en-US" dirty="0">
                <a:solidFill>
                  <a:schemeClr val="tx1"/>
                </a:solidFill>
              </a:endParaRPr>
            </a:p>
          </p:txBody>
        </p:sp>
        <p:cxnSp>
          <p:nvCxnSpPr>
            <p:cNvPr id="360" name="直接箭头连接符 359">
              <a:extLst>
                <a:ext uri="{FF2B5EF4-FFF2-40B4-BE49-F238E27FC236}">
                  <a16:creationId xmlns:a16="http://schemas.microsoft.com/office/drawing/2014/main" id="{A7605527-64E4-FFAF-07A2-4834C61AA540}"/>
                </a:ext>
              </a:extLst>
            </p:cNvPr>
            <p:cNvCxnSpPr>
              <a:cxnSpLocks/>
              <a:stCxn id="340" idx="2"/>
              <a:endCxn id="359" idx="3"/>
            </p:cNvCxnSpPr>
            <p:nvPr/>
          </p:nvCxnSpPr>
          <p:spPr>
            <a:xfrm flipH="1">
              <a:off x="9122783" y="2237216"/>
              <a:ext cx="547561" cy="20175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63" name="直接箭头连接符 362">
              <a:extLst>
                <a:ext uri="{FF2B5EF4-FFF2-40B4-BE49-F238E27FC236}">
                  <a16:creationId xmlns:a16="http://schemas.microsoft.com/office/drawing/2014/main" id="{D83A5FCD-C9CA-8774-D6A6-EA7543973A13}"/>
                </a:ext>
              </a:extLst>
            </p:cNvPr>
            <p:cNvCxnSpPr>
              <a:cxnSpLocks/>
              <a:stCxn id="240" idx="2"/>
              <a:endCxn id="359" idx="0"/>
            </p:cNvCxnSpPr>
            <p:nvPr/>
          </p:nvCxnSpPr>
          <p:spPr>
            <a:xfrm>
              <a:off x="7588902" y="1343497"/>
              <a:ext cx="1227881" cy="95147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66" name="直接箭头连接符 365">
              <a:extLst>
                <a:ext uri="{FF2B5EF4-FFF2-40B4-BE49-F238E27FC236}">
                  <a16:creationId xmlns:a16="http://schemas.microsoft.com/office/drawing/2014/main" id="{AE715BFB-1656-5174-9E5B-2743C5BBA308}"/>
                </a:ext>
              </a:extLst>
            </p:cNvPr>
            <p:cNvCxnSpPr>
              <a:cxnSpLocks/>
              <a:stCxn id="235" idx="2"/>
              <a:endCxn id="359" idx="0"/>
            </p:cNvCxnSpPr>
            <p:nvPr/>
          </p:nvCxnSpPr>
          <p:spPr>
            <a:xfrm>
              <a:off x="8233712" y="1599265"/>
              <a:ext cx="583071" cy="6957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3" name="直接箭头连接符 372">
              <a:extLst>
                <a:ext uri="{FF2B5EF4-FFF2-40B4-BE49-F238E27FC236}">
                  <a16:creationId xmlns:a16="http://schemas.microsoft.com/office/drawing/2014/main" id="{F36798EB-4084-2696-F6CF-E078088E968A}"/>
                </a:ext>
              </a:extLst>
            </p:cNvPr>
            <p:cNvCxnSpPr>
              <a:cxnSpLocks/>
              <a:stCxn id="234" idx="3"/>
              <a:endCxn id="359" idx="1"/>
            </p:cNvCxnSpPr>
            <p:nvPr/>
          </p:nvCxnSpPr>
          <p:spPr>
            <a:xfrm>
              <a:off x="7268093" y="1900124"/>
              <a:ext cx="1242690" cy="538847"/>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81" name="直接箭头连接符 380">
              <a:extLst>
                <a:ext uri="{FF2B5EF4-FFF2-40B4-BE49-F238E27FC236}">
                  <a16:creationId xmlns:a16="http://schemas.microsoft.com/office/drawing/2014/main" id="{EC97F91B-9036-0CC4-3DBF-D2F679EBD741}"/>
                </a:ext>
              </a:extLst>
            </p:cNvPr>
            <p:cNvCxnSpPr>
              <a:cxnSpLocks/>
              <a:stCxn id="233" idx="3"/>
              <a:endCxn id="359" idx="1"/>
            </p:cNvCxnSpPr>
            <p:nvPr/>
          </p:nvCxnSpPr>
          <p:spPr>
            <a:xfrm>
              <a:off x="7268093" y="1469751"/>
              <a:ext cx="1242690" cy="96922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87" name="直接箭头连接符 386">
              <a:extLst>
                <a:ext uri="{FF2B5EF4-FFF2-40B4-BE49-F238E27FC236}">
                  <a16:creationId xmlns:a16="http://schemas.microsoft.com/office/drawing/2014/main" id="{DFE54989-F3D0-DF7C-E151-91A166A75CF0}"/>
                </a:ext>
              </a:extLst>
            </p:cNvPr>
            <p:cNvCxnSpPr>
              <a:cxnSpLocks/>
              <a:stCxn id="323" idx="2"/>
              <a:endCxn id="359" idx="1"/>
            </p:cNvCxnSpPr>
            <p:nvPr/>
          </p:nvCxnSpPr>
          <p:spPr>
            <a:xfrm>
              <a:off x="8240783" y="2034607"/>
              <a:ext cx="270000" cy="4043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6" name="直接箭头连接符 455">
              <a:extLst>
                <a:ext uri="{FF2B5EF4-FFF2-40B4-BE49-F238E27FC236}">
                  <a16:creationId xmlns:a16="http://schemas.microsoft.com/office/drawing/2014/main" id="{85A1A296-4390-1010-034B-0C9191E47085}"/>
                </a:ext>
              </a:extLst>
            </p:cNvPr>
            <p:cNvCxnSpPr>
              <a:cxnSpLocks/>
              <a:stCxn id="345" idx="3"/>
              <a:endCxn id="359" idx="1"/>
            </p:cNvCxnSpPr>
            <p:nvPr/>
          </p:nvCxnSpPr>
          <p:spPr>
            <a:xfrm>
              <a:off x="7268093" y="2366971"/>
              <a:ext cx="1242690" cy="720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grpSp>
        <p:nvGrpSpPr>
          <p:cNvPr id="815" name="组合 814">
            <a:extLst>
              <a:ext uri="{FF2B5EF4-FFF2-40B4-BE49-F238E27FC236}">
                <a16:creationId xmlns:a16="http://schemas.microsoft.com/office/drawing/2014/main" id="{E8376D78-C151-5B93-13A4-B0E975B486FA}"/>
              </a:ext>
            </a:extLst>
          </p:cNvPr>
          <p:cNvGrpSpPr/>
          <p:nvPr/>
        </p:nvGrpSpPr>
        <p:grpSpPr>
          <a:xfrm>
            <a:off x="3449429" y="5386273"/>
            <a:ext cx="3203779" cy="1427543"/>
            <a:chOff x="5857125" y="5520354"/>
            <a:chExt cx="3203779" cy="1427543"/>
          </a:xfrm>
        </p:grpSpPr>
        <p:sp>
          <p:nvSpPr>
            <p:cNvPr id="529" name="矩形: 圆角 528">
              <a:extLst>
                <a:ext uri="{FF2B5EF4-FFF2-40B4-BE49-F238E27FC236}">
                  <a16:creationId xmlns:a16="http://schemas.microsoft.com/office/drawing/2014/main" id="{13E4FAAD-22CE-21BC-C471-6095D7207D43}"/>
                </a:ext>
              </a:extLst>
            </p:cNvPr>
            <p:cNvSpPr/>
            <p:nvPr/>
          </p:nvSpPr>
          <p:spPr>
            <a:xfrm>
              <a:off x="6415123" y="6195524"/>
              <a:ext cx="540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J23</a:t>
              </a:r>
              <a:endParaRPr lang="zh-CN" altLang="en-US" dirty="0">
                <a:solidFill>
                  <a:schemeClr val="tx1"/>
                </a:solidFill>
              </a:endParaRPr>
            </a:p>
          </p:txBody>
        </p:sp>
        <p:sp>
          <p:nvSpPr>
            <p:cNvPr id="530" name="矩形: 圆角 529">
              <a:extLst>
                <a:ext uri="{FF2B5EF4-FFF2-40B4-BE49-F238E27FC236}">
                  <a16:creationId xmlns:a16="http://schemas.microsoft.com/office/drawing/2014/main" id="{B674A3FC-53D5-9942-5663-DBACC2AE3A5E}"/>
                </a:ext>
              </a:extLst>
            </p:cNvPr>
            <p:cNvSpPr/>
            <p:nvPr/>
          </p:nvSpPr>
          <p:spPr>
            <a:xfrm>
              <a:off x="5857125" y="5520354"/>
              <a:ext cx="432000" cy="286034"/>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531" name="矩形: 圆角 530">
              <a:extLst>
                <a:ext uri="{FF2B5EF4-FFF2-40B4-BE49-F238E27FC236}">
                  <a16:creationId xmlns:a16="http://schemas.microsoft.com/office/drawing/2014/main" id="{9E087558-F913-5CFA-D942-42545EBDE158}"/>
                </a:ext>
              </a:extLst>
            </p:cNvPr>
            <p:cNvSpPr/>
            <p:nvPr/>
          </p:nvSpPr>
          <p:spPr>
            <a:xfrm>
              <a:off x="5857125" y="5892439"/>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532" name="矩形: 圆角 531">
              <a:extLst>
                <a:ext uri="{FF2B5EF4-FFF2-40B4-BE49-F238E27FC236}">
                  <a16:creationId xmlns:a16="http://schemas.microsoft.com/office/drawing/2014/main" id="{FF6D3219-FA7B-8D18-A239-99D1E2F6EA03}"/>
                </a:ext>
              </a:extLst>
            </p:cNvPr>
            <p:cNvSpPr/>
            <p:nvPr/>
          </p:nvSpPr>
          <p:spPr>
            <a:xfrm>
              <a:off x="5857125" y="6266490"/>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cxnSp>
          <p:nvCxnSpPr>
            <p:cNvPr id="535" name="直接箭头连接符 534">
              <a:extLst>
                <a:ext uri="{FF2B5EF4-FFF2-40B4-BE49-F238E27FC236}">
                  <a16:creationId xmlns:a16="http://schemas.microsoft.com/office/drawing/2014/main" id="{9E23F070-3BC6-3D9A-94EF-FB32DFB6DBB0}"/>
                </a:ext>
              </a:extLst>
            </p:cNvPr>
            <p:cNvCxnSpPr>
              <a:cxnSpLocks/>
              <a:stCxn id="530" idx="3"/>
              <a:endCxn id="537" idx="1"/>
            </p:cNvCxnSpPr>
            <p:nvPr/>
          </p:nvCxnSpPr>
          <p:spPr>
            <a:xfrm>
              <a:off x="6289125" y="5663371"/>
              <a:ext cx="142356" cy="65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7" name="矩形: 圆角 536">
              <a:extLst>
                <a:ext uri="{FF2B5EF4-FFF2-40B4-BE49-F238E27FC236}">
                  <a16:creationId xmlns:a16="http://schemas.microsoft.com/office/drawing/2014/main" id="{DB4DC5DC-38A6-F204-2194-09D9861E2815}"/>
                </a:ext>
              </a:extLst>
            </p:cNvPr>
            <p:cNvSpPr/>
            <p:nvPr/>
          </p:nvSpPr>
          <p:spPr>
            <a:xfrm>
              <a:off x="6431481" y="5585084"/>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sp>
          <p:nvSpPr>
            <p:cNvPr id="539" name="矩形: 圆角 538">
              <a:extLst>
                <a:ext uri="{FF2B5EF4-FFF2-40B4-BE49-F238E27FC236}">
                  <a16:creationId xmlns:a16="http://schemas.microsoft.com/office/drawing/2014/main" id="{CF281975-23D3-D9E6-19B0-6E5B938D704E}"/>
                </a:ext>
              </a:extLst>
            </p:cNvPr>
            <p:cNvSpPr/>
            <p:nvPr/>
          </p:nvSpPr>
          <p:spPr>
            <a:xfrm>
              <a:off x="8448904" y="5933162"/>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sp>
          <p:nvSpPr>
            <p:cNvPr id="541" name="矩形: 圆角 540">
              <a:extLst>
                <a:ext uri="{FF2B5EF4-FFF2-40B4-BE49-F238E27FC236}">
                  <a16:creationId xmlns:a16="http://schemas.microsoft.com/office/drawing/2014/main" id="{82E88D13-1383-D290-254D-2B7DABE77675}"/>
                </a:ext>
              </a:extLst>
            </p:cNvPr>
            <p:cNvSpPr/>
            <p:nvPr/>
          </p:nvSpPr>
          <p:spPr>
            <a:xfrm>
              <a:off x="6985047" y="5753175"/>
              <a:ext cx="43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Sf</a:t>
              </a:r>
              <a:endParaRPr lang="zh-CN" altLang="en-US" dirty="0">
                <a:solidFill>
                  <a:schemeClr val="tx1"/>
                </a:solidFill>
              </a:endParaRPr>
            </a:p>
          </p:txBody>
        </p:sp>
        <p:sp>
          <p:nvSpPr>
            <p:cNvPr id="542" name="矩形: 圆角 541">
              <a:extLst>
                <a:ext uri="{FF2B5EF4-FFF2-40B4-BE49-F238E27FC236}">
                  <a16:creationId xmlns:a16="http://schemas.microsoft.com/office/drawing/2014/main" id="{6AF27439-A64D-48E5-C0EE-6DE75F2F021E}"/>
                </a:ext>
              </a:extLst>
            </p:cNvPr>
            <p:cNvSpPr/>
            <p:nvPr/>
          </p:nvSpPr>
          <p:spPr>
            <a:xfrm>
              <a:off x="7605661" y="5543277"/>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mv2</a:t>
              </a:r>
              <a:endParaRPr lang="zh-CN" altLang="en-US" dirty="0">
                <a:solidFill>
                  <a:schemeClr val="tx1"/>
                </a:solidFill>
              </a:endParaRPr>
            </a:p>
          </p:txBody>
        </p:sp>
        <p:cxnSp>
          <p:nvCxnSpPr>
            <p:cNvPr id="544" name="直接箭头连接符 543">
              <a:extLst>
                <a:ext uri="{FF2B5EF4-FFF2-40B4-BE49-F238E27FC236}">
                  <a16:creationId xmlns:a16="http://schemas.microsoft.com/office/drawing/2014/main" id="{B48B91C9-7567-73FE-1274-BFB6BBC8FF2F}"/>
                </a:ext>
              </a:extLst>
            </p:cNvPr>
            <p:cNvCxnSpPr>
              <a:cxnSpLocks/>
              <a:stCxn id="537" idx="3"/>
              <a:endCxn id="541" idx="1"/>
            </p:cNvCxnSpPr>
            <p:nvPr/>
          </p:nvCxnSpPr>
          <p:spPr>
            <a:xfrm>
              <a:off x="6863481" y="5729084"/>
              <a:ext cx="121566" cy="168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5" name="直接箭头连接符 544">
              <a:extLst>
                <a:ext uri="{FF2B5EF4-FFF2-40B4-BE49-F238E27FC236}">
                  <a16:creationId xmlns:a16="http://schemas.microsoft.com/office/drawing/2014/main" id="{805A24EA-FF7B-0D5C-793C-F39FDA56F39F}"/>
                </a:ext>
              </a:extLst>
            </p:cNvPr>
            <p:cNvCxnSpPr>
              <a:cxnSpLocks/>
              <a:stCxn id="541" idx="3"/>
              <a:endCxn id="542" idx="1"/>
            </p:cNvCxnSpPr>
            <p:nvPr/>
          </p:nvCxnSpPr>
          <p:spPr>
            <a:xfrm flipV="1">
              <a:off x="7417047" y="5687277"/>
              <a:ext cx="188614" cy="20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6" name="矩形: 圆角 545">
              <a:extLst>
                <a:ext uri="{FF2B5EF4-FFF2-40B4-BE49-F238E27FC236}">
                  <a16:creationId xmlns:a16="http://schemas.microsoft.com/office/drawing/2014/main" id="{A235C66B-55F9-EA6E-5945-A77682C8C960}"/>
                </a:ext>
              </a:extLst>
            </p:cNvPr>
            <p:cNvSpPr/>
            <p:nvPr/>
          </p:nvSpPr>
          <p:spPr>
            <a:xfrm>
              <a:off x="7571346" y="5930340"/>
              <a:ext cx="720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JSf23</a:t>
              </a:r>
              <a:endParaRPr lang="zh-CN" altLang="en-US" dirty="0">
                <a:solidFill>
                  <a:schemeClr val="tx1"/>
                </a:solidFill>
              </a:endParaRPr>
            </a:p>
          </p:txBody>
        </p:sp>
        <p:cxnSp>
          <p:nvCxnSpPr>
            <p:cNvPr id="547" name="直接箭头连接符 546">
              <a:extLst>
                <a:ext uri="{FF2B5EF4-FFF2-40B4-BE49-F238E27FC236}">
                  <a16:creationId xmlns:a16="http://schemas.microsoft.com/office/drawing/2014/main" id="{1E001454-A5DA-D6EC-2682-C0F528592F11}"/>
                </a:ext>
              </a:extLst>
            </p:cNvPr>
            <p:cNvCxnSpPr>
              <a:cxnSpLocks/>
              <a:stCxn id="541" idx="3"/>
              <a:endCxn id="546" idx="1"/>
            </p:cNvCxnSpPr>
            <p:nvPr/>
          </p:nvCxnSpPr>
          <p:spPr>
            <a:xfrm>
              <a:off x="7417047" y="5897175"/>
              <a:ext cx="154299" cy="177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8" name="直接箭头连接符 547">
              <a:extLst>
                <a:ext uri="{FF2B5EF4-FFF2-40B4-BE49-F238E27FC236}">
                  <a16:creationId xmlns:a16="http://schemas.microsoft.com/office/drawing/2014/main" id="{22B2DC9F-006B-71D8-D1A1-1D981C13CE89}"/>
                </a:ext>
              </a:extLst>
            </p:cNvPr>
            <p:cNvCxnSpPr>
              <a:cxnSpLocks/>
              <a:stCxn id="546" idx="3"/>
              <a:endCxn id="539" idx="1"/>
            </p:cNvCxnSpPr>
            <p:nvPr/>
          </p:nvCxnSpPr>
          <p:spPr>
            <a:xfrm>
              <a:off x="8291346" y="6074340"/>
              <a:ext cx="157558" cy="2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1" name="直接箭头连接符 550">
              <a:extLst>
                <a:ext uri="{FF2B5EF4-FFF2-40B4-BE49-F238E27FC236}">
                  <a16:creationId xmlns:a16="http://schemas.microsoft.com/office/drawing/2014/main" id="{F816A7DC-39C9-3A91-98BD-BB89A292CF61}"/>
                </a:ext>
              </a:extLst>
            </p:cNvPr>
            <p:cNvCxnSpPr>
              <a:cxnSpLocks/>
              <a:stCxn id="532" idx="3"/>
              <a:endCxn id="529" idx="1"/>
            </p:cNvCxnSpPr>
            <p:nvPr/>
          </p:nvCxnSpPr>
          <p:spPr>
            <a:xfrm flipV="1">
              <a:off x="6289125" y="6339524"/>
              <a:ext cx="125998" cy="70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2" name="直接箭头连接符 551">
              <a:extLst>
                <a:ext uri="{FF2B5EF4-FFF2-40B4-BE49-F238E27FC236}">
                  <a16:creationId xmlns:a16="http://schemas.microsoft.com/office/drawing/2014/main" id="{44F9A5F8-331F-1AAE-D632-49259CBE6ADE}"/>
                </a:ext>
              </a:extLst>
            </p:cNvPr>
            <p:cNvCxnSpPr>
              <a:cxnSpLocks/>
              <a:stCxn id="531" idx="3"/>
              <a:endCxn id="529" idx="1"/>
            </p:cNvCxnSpPr>
            <p:nvPr/>
          </p:nvCxnSpPr>
          <p:spPr>
            <a:xfrm>
              <a:off x="6289125" y="6036439"/>
              <a:ext cx="125998" cy="303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3" name="直接箭头连接符 552">
              <a:extLst>
                <a:ext uri="{FF2B5EF4-FFF2-40B4-BE49-F238E27FC236}">
                  <a16:creationId xmlns:a16="http://schemas.microsoft.com/office/drawing/2014/main" id="{D1EE2E8B-1622-CEBB-A90E-18CF623ECA74}"/>
                </a:ext>
              </a:extLst>
            </p:cNvPr>
            <p:cNvCxnSpPr>
              <a:cxnSpLocks/>
              <a:stCxn id="529" idx="3"/>
              <a:endCxn id="546" idx="1"/>
            </p:cNvCxnSpPr>
            <p:nvPr/>
          </p:nvCxnSpPr>
          <p:spPr>
            <a:xfrm flipV="1">
              <a:off x="6955123" y="6074340"/>
              <a:ext cx="616223" cy="265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5" name="矩形: 圆角 554">
              <a:extLst>
                <a:ext uri="{FF2B5EF4-FFF2-40B4-BE49-F238E27FC236}">
                  <a16:creationId xmlns:a16="http://schemas.microsoft.com/office/drawing/2014/main" id="{2BB5EFC0-651A-6938-B764-775C06A02CAB}"/>
                </a:ext>
              </a:extLst>
            </p:cNvPr>
            <p:cNvSpPr/>
            <p:nvPr/>
          </p:nvSpPr>
          <p:spPr>
            <a:xfrm>
              <a:off x="7889226" y="6294197"/>
              <a:ext cx="612000" cy="288000"/>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mv3</a:t>
              </a:r>
              <a:endParaRPr lang="zh-CN" altLang="en-US" dirty="0">
                <a:solidFill>
                  <a:schemeClr val="tx1"/>
                </a:solidFill>
              </a:endParaRPr>
            </a:p>
          </p:txBody>
        </p:sp>
        <p:cxnSp>
          <p:nvCxnSpPr>
            <p:cNvPr id="556" name="直接箭头连接符 555">
              <a:extLst>
                <a:ext uri="{FF2B5EF4-FFF2-40B4-BE49-F238E27FC236}">
                  <a16:creationId xmlns:a16="http://schemas.microsoft.com/office/drawing/2014/main" id="{AAFA01DC-E21B-48DD-C9EF-F772C4B5725A}"/>
                </a:ext>
              </a:extLst>
            </p:cNvPr>
            <p:cNvCxnSpPr>
              <a:cxnSpLocks/>
              <a:stCxn id="529" idx="3"/>
              <a:endCxn id="555" idx="1"/>
            </p:cNvCxnSpPr>
            <p:nvPr/>
          </p:nvCxnSpPr>
          <p:spPr>
            <a:xfrm>
              <a:off x="6955123" y="6339524"/>
              <a:ext cx="934103" cy="98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7" name="矩形: 圆角 556">
              <a:extLst>
                <a:ext uri="{FF2B5EF4-FFF2-40B4-BE49-F238E27FC236}">
                  <a16:creationId xmlns:a16="http://schemas.microsoft.com/office/drawing/2014/main" id="{275CF2D4-FB87-75C8-4E14-E7BB71F48CDE}"/>
                </a:ext>
              </a:extLst>
            </p:cNvPr>
            <p:cNvSpPr/>
            <p:nvPr/>
          </p:nvSpPr>
          <p:spPr>
            <a:xfrm>
              <a:off x="5857125" y="6640542"/>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t4</a:t>
              </a:r>
              <a:endParaRPr lang="zh-CN" altLang="en-US" dirty="0">
                <a:solidFill>
                  <a:schemeClr val="tx1"/>
                </a:solidFill>
              </a:endParaRPr>
            </a:p>
          </p:txBody>
        </p:sp>
        <p:cxnSp>
          <p:nvCxnSpPr>
            <p:cNvPr id="558" name="直接箭头连接符 557">
              <a:extLst>
                <a:ext uri="{FF2B5EF4-FFF2-40B4-BE49-F238E27FC236}">
                  <a16:creationId xmlns:a16="http://schemas.microsoft.com/office/drawing/2014/main" id="{D69895E3-4017-0282-B51D-FB20226E9F02}"/>
                </a:ext>
              </a:extLst>
            </p:cNvPr>
            <p:cNvCxnSpPr>
              <a:cxnSpLocks/>
              <a:stCxn id="557" idx="3"/>
              <a:endCxn id="555" idx="1"/>
            </p:cNvCxnSpPr>
            <p:nvPr/>
          </p:nvCxnSpPr>
          <p:spPr>
            <a:xfrm flipV="1">
              <a:off x="6289125" y="6438197"/>
              <a:ext cx="1600101" cy="346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1" name="矩形: 圆角 560">
              <a:extLst>
                <a:ext uri="{FF2B5EF4-FFF2-40B4-BE49-F238E27FC236}">
                  <a16:creationId xmlns:a16="http://schemas.microsoft.com/office/drawing/2014/main" id="{5AEBC5CB-9486-F67E-E3E4-35466AD83E02}"/>
                </a:ext>
              </a:extLst>
            </p:cNvPr>
            <p:cNvSpPr/>
            <p:nvPr/>
          </p:nvSpPr>
          <p:spPr>
            <a:xfrm>
              <a:off x="7213459" y="6659897"/>
              <a:ext cx="612000" cy="288000"/>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mv4</a:t>
              </a:r>
              <a:endParaRPr lang="zh-CN" altLang="en-US" dirty="0">
                <a:solidFill>
                  <a:schemeClr val="tx1"/>
                </a:solidFill>
              </a:endParaRPr>
            </a:p>
          </p:txBody>
        </p:sp>
        <p:cxnSp>
          <p:nvCxnSpPr>
            <p:cNvPr id="562" name="直接箭头连接符 561">
              <a:extLst>
                <a:ext uri="{FF2B5EF4-FFF2-40B4-BE49-F238E27FC236}">
                  <a16:creationId xmlns:a16="http://schemas.microsoft.com/office/drawing/2014/main" id="{83F36FE4-543B-E436-0E7B-9BE0108119E8}"/>
                </a:ext>
              </a:extLst>
            </p:cNvPr>
            <p:cNvCxnSpPr>
              <a:cxnSpLocks/>
              <a:stCxn id="555" idx="2"/>
              <a:endCxn id="561" idx="3"/>
            </p:cNvCxnSpPr>
            <p:nvPr/>
          </p:nvCxnSpPr>
          <p:spPr>
            <a:xfrm flipH="1">
              <a:off x="7825459" y="6582197"/>
              <a:ext cx="369767" cy="221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3" name="直接箭头连接符 562">
              <a:extLst>
                <a:ext uri="{FF2B5EF4-FFF2-40B4-BE49-F238E27FC236}">
                  <a16:creationId xmlns:a16="http://schemas.microsoft.com/office/drawing/2014/main" id="{45CACD58-A639-E4A7-3111-CDA90B9DD4C1}"/>
                </a:ext>
              </a:extLst>
            </p:cNvPr>
            <p:cNvCxnSpPr>
              <a:cxnSpLocks/>
              <a:stCxn id="537" idx="2"/>
              <a:endCxn id="561" idx="0"/>
            </p:cNvCxnSpPr>
            <p:nvPr/>
          </p:nvCxnSpPr>
          <p:spPr>
            <a:xfrm>
              <a:off x="6647481" y="5873084"/>
              <a:ext cx="871978" cy="786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814" name="组合 813">
            <a:extLst>
              <a:ext uri="{FF2B5EF4-FFF2-40B4-BE49-F238E27FC236}">
                <a16:creationId xmlns:a16="http://schemas.microsoft.com/office/drawing/2014/main" id="{3ABE5EC2-206A-E378-205C-79DBDDAD59FA}"/>
              </a:ext>
            </a:extLst>
          </p:cNvPr>
          <p:cNvGrpSpPr/>
          <p:nvPr/>
        </p:nvGrpSpPr>
        <p:grpSpPr>
          <a:xfrm>
            <a:off x="415733" y="5386273"/>
            <a:ext cx="2684486" cy="1416519"/>
            <a:chOff x="466940" y="5416197"/>
            <a:chExt cx="2684486" cy="1416519"/>
          </a:xfrm>
        </p:grpSpPr>
        <p:sp>
          <p:nvSpPr>
            <p:cNvPr id="470" name="矩形: 圆角 469">
              <a:extLst>
                <a:ext uri="{FF2B5EF4-FFF2-40B4-BE49-F238E27FC236}">
                  <a16:creationId xmlns:a16="http://schemas.microsoft.com/office/drawing/2014/main" id="{149CDB53-83F7-5531-640A-5FEFEC2EE307}"/>
                </a:ext>
              </a:extLst>
            </p:cNvPr>
            <p:cNvSpPr/>
            <p:nvPr/>
          </p:nvSpPr>
          <p:spPr>
            <a:xfrm>
              <a:off x="466940" y="5416197"/>
              <a:ext cx="432000" cy="286034"/>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471" name="矩形: 圆角 470">
              <a:extLst>
                <a:ext uri="{FF2B5EF4-FFF2-40B4-BE49-F238E27FC236}">
                  <a16:creationId xmlns:a16="http://schemas.microsoft.com/office/drawing/2014/main" id="{5B8AD96D-7A0D-0D07-E8AA-1F0FA8B0B2AC}"/>
                </a:ext>
              </a:extLst>
            </p:cNvPr>
            <p:cNvSpPr/>
            <p:nvPr/>
          </p:nvSpPr>
          <p:spPr>
            <a:xfrm>
              <a:off x="466940" y="5791059"/>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472" name="矩形: 圆角 471">
              <a:extLst>
                <a:ext uri="{FF2B5EF4-FFF2-40B4-BE49-F238E27FC236}">
                  <a16:creationId xmlns:a16="http://schemas.microsoft.com/office/drawing/2014/main" id="{CCA8C5CC-A8F5-5975-9142-63882BCC3893}"/>
                </a:ext>
              </a:extLst>
            </p:cNvPr>
            <p:cNvSpPr/>
            <p:nvPr/>
          </p:nvSpPr>
          <p:spPr>
            <a:xfrm>
              <a:off x="466940" y="6167887"/>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sp>
          <p:nvSpPr>
            <p:cNvPr id="473" name="矩形: 圆角 472">
              <a:extLst>
                <a:ext uri="{FF2B5EF4-FFF2-40B4-BE49-F238E27FC236}">
                  <a16:creationId xmlns:a16="http://schemas.microsoft.com/office/drawing/2014/main" id="{D45B664F-586F-B690-7B18-E1568BB1CABF}"/>
                </a:ext>
              </a:extLst>
            </p:cNvPr>
            <p:cNvSpPr/>
            <p:nvPr/>
          </p:nvSpPr>
          <p:spPr>
            <a:xfrm>
              <a:off x="1742681" y="5818103"/>
              <a:ext cx="648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J123</a:t>
              </a:r>
              <a:endParaRPr lang="zh-CN" altLang="en-US" dirty="0">
                <a:solidFill>
                  <a:schemeClr val="tx1"/>
                </a:solidFill>
              </a:endParaRPr>
            </a:p>
          </p:txBody>
        </p:sp>
        <p:cxnSp>
          <p:nvCxnSpPr>
            <p:cNvPr id="474" name="直接箭头连接符 473">
              <a:extLst>
                <a:ext uri="{FF2B5EF4-FFF2-40B4-BE49-F238E27FC236}">
                  <a16:creationId xmlns:a16="http://schemas.microsoft.com/office/drawing/2014/main" id="{441EC2D4-A962-3F88-70C4-99AF0C546248}"/>
                </a:ext>
              </a:extLst>
            </p:cNvPr>
            <p:cNvCxnSpPr>
              <a:cxnSpLocks/>
              <a:stCxn id="471" idx="3"/>
              <a:endCxn id="606" idx="1"/>
            </p:cNvCxnSpPr>
            <p:nvPr/>
          </p:nvCxnSpPr>
          <p:spPr>
            <a:xfrm>
              <a:off x="898940" y="5935059"/>
              <a:ext cx="116820" cy="347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5" name="直接箭头连接符 474">
              <a:extLst>
                <a:ext uri="{FF2B5EF4-FFF2-40B4-BE49-F238E27FC236}">
                  <a16:creationId xmlns:a16="http://schemas.microsoft.com/office/drawing/2014/main" id="{2C236BC2-F0B9-E96A-1C21-4AC4DCC682BC}"/>
                </a:ext>
              </a:extLst>
            </p:cNvPr>
            <p:cNvCxnSpPr>
              <a:cxnSpLocks/>
              <a:stCxn id="470" idx="3"/>
              <a:endCxn id="477" idx="1"/>
            </p:cNvCxnSpPr>
            <p:nvPr/>
          </p:nvCxnSpPr>
          <p:spPr>
            <a:xfrm>
              <a:off x="898940" y="5559214"/>
              <a:ext cx="123552" cy="160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6" name="直接箭头连接符 475">
              <a:extLst>
                <a:ext uri="{FF2B5EF4-FFF2-40B4-BE49-F238E27FC236}">
                  <a16:creationId xmlns:a16="http://schemas.microsoft.com/office/drawing/2014/main" id="{233D7179-CD69-B8E7-0B9E-47C7F4A926B6}"/>
                </a:ext>
              </a:extLst>
            </p:cNvPr>
            <p:cNvCxnSpPr>
              <a:cxnSpLocks/>
              <a:stCxn id="472" idx="3"/>
              <a:endCxn id="606" idx="1"/>
            </p:cNvCxnSpPr>
            <p:nvPr/>
          </p:nvCxnSpPr>
          <p:spPr>
            <a:xfrm flipV="1">
              <a:off x="898940" y="6282361"/>
              <a:ext cx="116820" cy="29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7" name="矩形: 圆角 476">
              <a:extLst>
                <a:ext uri="{FF2B5EF4-FFF2-40B4-BE49-F238E27FC236}">
                  <a16:creationId xmlns:a16="http://schemas.microsoft.com/office/drawing/2014/main" id="{492389CE-38DD-11DD-3B21-39D05B34C587}"/>
                </a:ext>
              </a:extLst>
            </p:cNvPr>
            <p:cNvSpPr/>
            <p:nvPr/>
          </p:nvSpPr>
          <p:spPr>
            <a:xfrm>
              <a:off x="1022492" y="5575775"/>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cxnSp>
          <p:nvCxnSpPr>
            <p:cNvPr id="478" name="直接箭头连接符 477">
              <a:extLst>
                <a:ext uri="{FF2B5EF4-FFF2-40B4-BE49-F238E27FC236}">
                  <a16:creationId xmlns:a16="http://schemas.microsoft.com/office/drawing/2014/main" id="{13A602E3-914C-185C-0B48-1A98649C335F}"/>
                </a:ext>
              </a:extLst>
            </p:cNvPr>
            <p:cNvCxnSpPr>
              <a:cxnSpLocks/>
              <a:stCxn id="477" idx="3"/>
              <a:endCxn id="473" idx="1"/>
            </p:cNvCxnSpPr>
            <p:nvPr/>
          </p:nvCxnSpPr>
          <p:spPr>
            <a:xfrm>
              <a:off x="1454492" y="5719775"/>
              <a:ext cx="288189" cy="242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9" name="矩形: 圆角 478">
              <a:extLst>
                <a:ext uri="{FF2B5EF4-FFF2-40B4-BE49-F238E27FC236}">
                  <a16:creationId xmlns:a16="http://schemas.microsoft.com/office/drawing/2014/main" id="{3D368C5F-92F6-D78A-9B23-51A820E91527}"/>
                </a:ext>
              </a:extLst>
            </p:cNvPr>
            <p:cNvSpPr/>
            <p:nvPr/>
          </p:nvSpPr>
          <p:spPr>
            <a:xfrm>
              <a:off x="2539426" y="5818103"/>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cxnSp>
          <p:nvCxnSpPr>
            <p:cNvPr id="480" name="直接箭头连接符 479">
              <a:extLst>
                <a:ext uri="{FF2B5EF4-FFF2-40B4-BE49-F238E27FC236}">
                  <a16:creationId xmlns:a16="http://schemas.microsoft.com/office/drawing/2014/main" id="{72902BA4-7614-D731-791D-E935EAD6F9E4}"/>
                </a:ext>
              </a:extLst>
            </p:cNvPr>
            <p:cNvCxnSpPr>
              <a:cxnSpLocks/>
              <a:stCxn id="473" idx="3"/>
              <a:endCxn id="479" idx="1"/>
            </p:cNvCxnSpPr>
            <p:nvPr/>
          </p:nvCxnSpPr>
          <p:spPr>
            <a:xfrm>
              <a:off x="2390681" y="5962103"/>
              <a:ext cx="1487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2" name="矩形: 圆角 481">
              <a:extLst>
                <a:ext uri="{FF2B5EF4-FFF2-40B4-BE49-F238E27FC236}">
                  <a16:creationId xmlns:a16="http://schemas.microsoft.com/office/drawing/2014/main" id="{42649017-29D1-7080-0EE2-C5C73B411407}"/>
                </a:ext>
              </a:extLst>
            </p:cNvPr>
            <p:cNvSpPr/>
            <p:nvPr/>
          </p:nvSpPr>
          <p:spPr>
            <a:xfrm>
              <a:off x="1697560" y="5431775"/>
              <a:ext cx="612000" cy="288000"/>
            </a:xfrm>
            <a:prstGeom prst="roundRect">
              <a:avLst/>
            </a:prstGeom>
            <a:solidFill>
              <a:srgbClr val="FEE6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mv2</a:t>
              </a:r>
              <a:endParaRPr lang="zh-CN" altLang="en-US" dirty="0">
                <a:solidFill>
                  <a:schemeClr val="tx1"/>
                </a:solidFill>
              </a:endParaRPr>
            </a:p>
          </p:txBody>
        </p:sp>
        <p:cxnSp>
          <p:nvCxnSpPr>
            <p:cNvPr id="483" name="直接箭头连接符 482">
              <a:extLst>
                <a:ext uri="{FF2B5EF4-FFF2-40B4-BE49-F238E27FC236}">
                  <a16:creationId xmlns:a16="http://schemas.microsoft.com/office/drawing/2014/main" id="{721DB8A3-93C1-BCA8-B432-012012476BEE}"/>
                </a:ext>
              </a:extLst>
            </p:cNvPr>
            <p:cNvCxnSpPr>
              <a:cxnSpLocks/>
              <a:stCxn id="477" idx="3"/>
              <a:endCxn id="482" idx="1"/>
            </p:cNvCxnSpPr>
            <p:nvPr/>
          </p:nvCxnSpPr>
          <p:spPr>
            <a:xfrm flipV="1">
              <a:off x="1454492" y="5575775"/>
              <a:ext cx="243068" cy="14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矩形: 圆角 494">
              <a:extLst>
                <a:ext uri="{FF2B5EF4-FFF2-40B4-BE49-F238E27FC236}">
                  <a16:creationId xmlns:a16="http://schemas.microsoft.com/office/drawing/2014/main" id="{98DEB40F-B9AE-07E3-C349-E250CE94D334}"/>
                </a:ext>
              </a:extLst>
            </p:cNvPr>
            <p:cNvSpPr/>
            <p:nvPr/>
          </p:nvSpPr>
          <p:spPr>
            <a:xfrm>
              <a:off x="2435966" y="6187435"/>
              <a:ext cx="61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mv3</a:t>
              </a:r>
              <a:endParaRPr lang="zh-CN" altLang="en-US" dirty="0">
                <a:solidFill>
                  <a:schemeClr val="tx1"/>
                </a:solidFill>
              </a:endParaRPr>
            </a:p>
          </p:txBody>
        </p:sp>
        <p:sp>
          <p:nvSpPr>
            <p:cNvPr id="497" name="矩形: 圆角 496">
              <a:extLst>
                <a:ext uri="{FF2B5EF4-FFF2-40B4-BE49-F238E27FC236}">
                  <a16:creationId xmlns:a16="http://schemas.microsoft.com/office/drawing/2014/main" id="{8059E0A2-EC41-0F0A-E6CC-0CEA0F9912A1}"/>
                </a:ext>
              </a:extLst>
            </p:cNvPr>
            <p:cNvSpPr/>
            <p:nvPr/>
          </p:nvSpPr>
          <p:spPr>
            <a:xfrm>
              <a:off x="466940" y="6544716"/>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t4</a:t>
              </a:r>
              <a:endParaRPr lang="zh-CN" altLang="en-US" dirty="0">
                <a:solidFill>
                  <a:schemeClr val="tx1"/>
                </a:solidFill>
              </a:endParaRPr>
            </a:p>
          </p:txBody>
        </p:sp>
        <p:cxnSp>
          <p:nvCxnSpPr>
            <p:cNvPr id="498" name="直接箭头连接符 497">
              <a:extLst>
                <a:ext uri="{FF2B5EF4-FFF2-40B4-BE49-F238E27FC236}">
                  <a16:creationId xmlns:a16="http://schemas.microsoft.com/office/drawing/2014/main" id="{67F4B325-A681-DC3C-08E8-7FB764407E29}"/>
                </a:ext>
              </a:extLst>
            </p:cNvPr>
            <p:cNvCxnSpPr>
              <a:cxnSpLocks/>
              <a:stCxn id="497" idx="3"/>
              <a:endCxn id="495" idx="1"/>
            </p:cNvCxnSpPr>
            <p:nvPr/>
          </p:nvCxnSpPr>
          <p:spPr>
            <a:xfrm flipV="1">
              <a:off x="898940" y="6331435"/>
              <a:ext cx="1537026" cy="3572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9" name="直接箭头连接符 498">
              <a:extLst>
                <a:ext uri="{FF2B5EF4-FFF2-40B4-BE49-F238E27FC236}">
                  <a16:creationId xmlns:a16="http://schemas.microsoft.com/office/drawing/2014/main" id="{F9184A23-5CAF-E93B-E23B-F0F6DCC437D9}"/>
                </a:ext>
              </a:extLst>
            </p:cNvPr>
            <p:cNvCxnSpPr>
              <a:cxnSpLocks/>
              <a:stCxn id="606" idx="3"/>
              <a:endCxn id="495" idx="1"/>
            </p:cNvCxnSpPr>
            <p:nvPr/>
          </p:nvCxnSpPr>
          <p:spPr>
            <a:xfrm>
              <a:off x="1555760" y="6282361"/>
              <a:ext cx="880206" cy="490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1" name="矩形: 圆角 500">
              <a:extLst>
                <a:ext uri="{FF2B5EF4-FFF2-40B4-BE49-F238E27FC236}">
                  <a16:creationId xmlns:a16="http://schemas.microsoft.com/office/drawing/2014/main" id="{225BB398-4A92-03F1-D95D-EB7D733C3D26}"/>
                </a:ext>
              </a:extLst>
            </p:cNvPr>
            <p:cNvSpPr/>
            <p:nvPr/>
          </p:nvSpPr>
          <p:spPr>
            <a:xfrm>
              <a:off x="1778026" y="6538967"/>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mv4</a:t>
              </a:r>
              <a:endParaRPr lang="zh-CN" altLang="en-US" dirty="0">
                <a:solidFill>
                  <a:schemeClr val="tx1"/>
                </a:solidFill>
              </a:endParaRPr>
            </a:p>
          </p:txBody>
        </p:sp>
        <p:cxnSp>
          <p:nvCxnSpPr>
            <p:cNvPr id="503" name="直接箭头连接符 502">
              <a:extLst>
                <a:ext uri="{FF2B5EF4-FFF2-40B4-BE49-F238E27FC236}">
                  <a16:creationId xmlns:a16="http://schemas.microsoft.com/office/drawing/2014/main" id="{04DB2E96-AF24-BCD8-B846-85E26CB28DEE}"/>
                </a:ext>
              </a:extLst>
            </p:cNvPr>
            <p:cNvCxnSpPr>
              <a:cxnSpLocks/>
              <a:stCxn id="477" idx="2"/>
              <a:endCxn id="501" idx="0"/>
            </p:cNvCxnSpPr>
            <p:nvPr/>
          </p:nvCxnSpPr>
          <p:spPr>
            <a:xfrm>
              <a:off x="1238492" y="5863775"/>
              <a:ext cx="845534" cy="675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4" name="直接箭头连接符 503">
              <a:extLst>
                <a:ext uri="{FF2B5EF4-FFF2-40B4-BE49-F238E27FC236}">
                  <a16:creationId xmlns:a16="http://schemas.microsoft.com/office/drawing/2014/main" id="{D65C32B5-BB16-C53A-8404-62CF572CCDAF}"/>
                </a:ext>
              </a:extLst>
            </p:cNvPr>
            <p:cNvCxnSpPr>
              <a:cxnSpLocks/>
              <a:stCxn id="473" idx="2"/>
              <a:endCxn id="501" idx="0"/>
            </p:cNvCxnSpPr>
            <p:nvPr/>
          </p:nvCxnSpPr>
          <p:spPr>
            <a:xfrm>
              <a:off x="2066681" y="6106103"/>
              <a:ext cx="17345" cy="432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6" name="矩形: 圆角 605">
              <a:extLst>
                <a:ext uri="{FF2B5EF4-FFF2-40B4-BE49-F238E27FC236}">
                  <a16:creationId xmlns:a16="http://schemas.microsoft.com/office/drawing/2014/main" id="{1977C279-9C8F-D663-E893-BFBB8702698F}"/>
                </a:ext>
              </a:extLst>
            </p:cNvPr>
            <p:cNvSpPr/>
            <p:nvPr/>
          </p:nvSpPr>
          <p:spPr>
            <a:xfrm>
              <a:off x="1015760" y="6138361"/>
              <a:ext cx="540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J23</a:t>
              </a:r>
              <a:endParaRPr lang="zh-CN" altLang="en-US" dirty="0">
                <a:solidFill>
                  <a:schemeClr val="tx1"/>
                </a:solidFill>
              </a:endParaRPr>
            </a:p>
          </p:txBody>
        </p:sp>
        <p:cxnSp>
          <p:nvCxnSpPr>
            <p:cNvPr id="610" name="直接箭头连接符 609">
              <a:extLst>
                <a:ext uri="{FF2B5EF4-FFF2-40B4-BE49-F238E27FC236}">
                  <a16:creationId xmlns:a16="http://schemas.microsoft.com/office/drawing/2014/main" id="{245D0A6D-88C6-D3E0-5DA2-8F0D51137841}"/>
                </a:ext>
              </a:extLst>
            </p:cNvPr>
            <p:cNvCxnSpPr>
              <a:cxnSpLocks/>
              <a:stCxn id="606" idx="3"/>
              <a:endCxn id="473" idx="1"/>
            </p:cNvCxnSpPr>
            <p:nvPr/>
          </p:nvCxnSpPr>
          <p:spPr>
            <a:xfrm flipV="1">
              <a:off x="1555760" y="5962103"/>
              <a:ext cx="186921" cy="320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43" name="文本框 642">
            <a:extLst>
              <a:ext uri="{FF2B5EF4-FFF2-40B4-BE49-F238E27FC236}">
                <a16:creationId xmlns:a16="http://schemas.microsoft.com/office/drawing/2014/main" id="{E5849EB6-F5D4-622C-6939-8FF08690AF08}"/>
              </a:ext>
            </a:extLst>
          </p:cNvPr>
          <p:cNvSpPr txBox="1"/>
          <p:nvPr/>
        </p:nvSpPr>
        <p:spPr>
          <a:xfrm>
            <a:off x="4285143" y="5087135"/>
            <a:ext cx="1559705" cy="369332"/>
          </a:xfrm>
          <a:prstGeom prst="rect">
            <a:avLst/>
          </a:prstGeom>
          <a:noFill/>
        </p:spPr>
        <p:txBody>
          <a:bodyPr wrap="square">
            <a:spAutoFit/>
          </a:bodyPr>
          <a:lstStyle/>
          <a:p>
            <a:r>
              <a:rPr lang="zh-CN" altLang="en-US" b="1" dirty="0"/>
              <a:t>先选择</a:t>
            </a:r>
            <a:r>
              <a:rPr lang="en-US" altLang="zh-CN" b="1" dirty="0"/>
              <a:t>Sf</a:t>
            </a:r>
            <a:endParaRPr lang="zh-CN" altLang="en-US" b="1" dirty="0"/>
          </a:p>
        </p:txBody>
      </p:sp>
      <p:sp>
        <p:nvSpPr>
          <p:cNvPr id="716" name="箭头: 右 715">
            <a:extLst>
              <a:ext uri="{FF2B5EF4-FFF2-40B4-BE49-F238E27FC236}">
                <a16:creationId xmlns:a16="http://schemas.microsoft.com/office/drawing/2014/main" id="{F11F9334-2D84-D682-58C3-D85BFCA4C35C}"/>
              </a:ext>
            </a:extLst>
          </p:cNvPr>
          <p:cNvSpPr/>
          <p:nvPr/>
        </p:nvSpPr>
        <p:spPr>
          <a:xfrm>
            <a:off x="2877717" y="1471727"/>
            <a:ext cx="249780" cy="2267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7" name="箭头: 右 716">
            <a:extLst>
              <a:ext uri="{FF2B5EF4-FFF2-40B4-BE49-F238E27FC236}">
                <a16:creationId xmlns:a16="http://schemas.microsoft.com/office/drawing/2014/main" id="{D5DF7582-9529-C89F-91CA-9BDF3D32B843}"/>
              </a:ext>
            </a:extLst>
          </p:cNvPr>
          <p:cNvSpPr/>
          <p:nvPr/>
        </p:nvSpPr>
        <p:spPr>
          <a:xfrm>
            <a:off x="6402490" y="1471727"/>
            <a:ext cx="249780" cy="2267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6" name="文本框 815">
            <a:extLst>
              <a:ext uri="{FF2B5EF4-FFF2-40B4-BE49-F238E27FC236}">
                <a16:creationId xmlns:a16="http://schemas.microsoft.com/office/drawing/2014/main" id="{B982CEF1-0E83-4963-A411-D5F6166A1202}"/>
              </a:ext>
            </a:extLst>
          </p:cNvPr>
          <p:cNvSpPr txBox="1"/>
          <p:nvPr/>
        </p:nvSpPr>
        <p:spPr>
          <a:xfrm>
            <a:off x="3054085" y="5810125"/>
            <a:ext cx="485592" cy="369332"/>
          </a:xfrm>
          <a:prstGeom prst="rect">
            <a:avLst/>
          </a:prstGeom>
          <a:noFill/>
        </p:spPr>
        <p:txBody>
          <a:bodyPr wrap="square">
            <a:spAutoFit/>
          </a:bodyPr>
          <a:lstStyle/>
          <a:p>
            <a:r>
              <a:rPr lang="en-US" altLang="zh-CN" b="1" dirty="0"/>
              <a:t>VS</a:t>
            </a:r>
            <a:endParaRPr lang="zh-CN" altLang="en-US" b="1" dirty="0"/>
          </a:p>
        </p:txBody>
      </p:sp>
      <p:sp>
        <p:nvSpPr>
          <p:cNvPr id="3" name="文本框 2">
            <a:extLst>
              <a:ext uri="{FF2B5EF4-FFF2-40B4-BE49-F238E27FC236}">
                <a16:creationId xmlns:a16="http://schemas.microsoft.com/office/drawing/2014/main" id="{0CD89BC3-86C3-994C-8F81-1C02E0BE9C44}"/>
              </a:ext>
            </a:extLst>
          </p:cNvPr>
          <p:cNvSpPr txBox="1"/>
          <p:nvPr/>
        </p:nvSpPr>
        <p:spPr>
          <a:xfrm>
            <a:off x="8769282" y="4172735"/>
            <a:ext cx="1403660" cy="369332"/>
          </a:xfrm>
          <a:prstGeom prst="rect">
            <a:avLst/>
          </a:prstGeom>
          <a:noFill/>
        </p:spPr>
        <p:txBody>
          <a:bodyPr wrap="square">
            <a:spAutoFit/>
          </a:bodyPr>
          <a:lstStyle/>
          <a:p>
            <a:r>
              <a:rPr lang="zh-CN" altLang="en-US" b="1" dirty="0"/>
              <a:t>先选择</a:t>
            </a:r>
            <a:r>
              <a:rPr lang="en-US" altLang="zh-CN" b="1" dirty="0"/>
              <a:t>J123</a:t>
            </a:r>
            <a:endParaRPr lang="zh-CN" altLang="en-US" b="1" dirty="0"/>
          </a:p>
        </p:txBody>
      </p:sp>
      <p:grpSp>
        <p:nvGrpSpPr>
          <p:cNvPr id="4" name="组合 3">
            <a:extLst>
              <a:ext uri="{FF2B5EF4-FFF2-40B4-BE49-F238E27FC236}">
                <a16:creationId xmlns:a16="http://schemas.microsoft.com/office/drawing/2014/main" id="{39894870-7F20-4188-82C8-6CC0D7DAC294}"/>
              </a:ext>
            </a:extLst>
          </p:cNvPr>
          <p:cNvGrpSpPr/>
          <p:nvPr/>
        </p:nvGrpSpPr>
        <p:grpSpPr>
          <a:xfrm>
            <a:off x="8012963" y="6601815"/>
            <a:ext cx="3203779" cy="1427543"/>
            <a:chOff x="5857125" y="5520354"/>
            <a:chExt cx="3203779" cy="1427543"/>
          </a:xfrm>
        </p:grpSpPr>
        <p:sp>
          <p:nvSpPr>
            <p:cNvPr id="5" name="矩形: 圆角 4">
              <a:extLst>
                <a:ext uri="{FF2B5EF4-FFF2-40B4-BE49-F238E27FC236}">
                  <a16:creationId xmlns:a16="http://schemas.microsoft.com/office/drawing/2014/main" id="{42F13AA9-DCB8-C0D5-DD60-D367A955F080}"/>
                </a:ext>
              </a:extLst>
            </p:cNvPr>
            <p:cNvSpPr/>
            <p:nvPr/>
          </p:nvSpPr>
          <p:spPr>
            <a:xfrm>
              <a:off x="6415123" y="6195524"/>
              <a:ext cx="540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J23</a:t>
              </a:r>
              <a:endParaRPr lang="zh-CN" altLang="en-US" dirty="0">
                <a:solidFill>
                  <a:schemeClr val="tx1"/>
                </a:solidFill>
              </a:endParaRPr>
            </a:p>
          </p:txBody>
        </p:sp>
        <p:sp>
          <p:nvSpPr>
            <p:cNvPr id="9" name="矩形: 圆角 8">
              <a:extLst>
                <a:ext uri="{FF2B5EF4-FFF2-40B4-BE49-F238E27FC236}">
                  <a16:creationId xmlns:a16="http://schemas.microsoft.com/office/drawing/2014/main" id="{2593A6C8-16C1-D2D8-54A6-A380982DBE1E}"/>
                </a:ext>
              </a:extLst>
            </p:cNvPr>
            <p:cNvSpPr/>
            <p:nvPr/>
          </p:nvSpPr>
          <p:spPr>
            <a:xfrm>
              <a:off x="5857125" y="5520354"/>
              <a:ext cx="432000" cy="286034"/>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11" name="矩形: 圆角 10">
              <a:extLst>
                <a:ext uri="{FF2B5EF4-FFF2-40B4-BE49-F238E27FC236}">
                  <a16:creationId xmlns:a16="http://schemas.microsoft.com/office/drawing/2014/main" id="{C552D307-68C9-C6E5-02F7-F5981009EC88}"/>
                </a:ext>
              </a:extLst>
            </p:cNvPr>
            <p:cNvSpPr/>
            <p:nvPr/>
          </p:nvSpPr>
          <p:spPr>
            <a:xfrm>
              <a:off x="5857125" y="5892439"/>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13" name="矩形: 圆角 12">
              <a:extLst>
                <a:ext uri="{FF2B5EF4-FFF2-40B4-BE49-F238E27FC236}">
                  <a16:creationId xmlns:a16="http://schemas.microsoft.com/office/drawing/2014/main" id="{B4F196D5-8FC9-481B-C3AB-761B981941A5}"/>
                </a:ext>
              </a:extLst>
            </p:cNvPr>
            <p:cNvSpPr/>
            <p:nvPr/>
          </p:nvSpPr>
          <p:spPr>
            <a:xfrm>
              <a:off x="5857125" y="6266490"/>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cxnSp>
          <p:nvCxnSpPr>
            <p:cNvPr id="14" name="直接箭头连接符 13">
              <a:extLst>
                <a:ext uri="{FF2B5EF4-FFF2-40B4-BE49-F238E27FC236}">
                  <a16:creationId xmlns:a16="http://schemas.microsoft.com/office/drawing/2014/main" id="{B874FCDD-20FC-B5A0-1C5A-BDE1B2DE1103}"/>
                </a:ext>
              </a:extLst>
            </p:cNvPr>
            <p:cNvCxnSpPr>
              <a:cxnSpLocks/>
              <a:stCxn id="9" idx="3"/>
              <a:endCxn id="15" idx="1"/>
            </p:cNvCxnSpPr>
            <p:nvPr/>
          </p:nvCxnSpPr>
          <p:spPr>
            <a:xfrm>
              <a:off x="6289125" y="5663371"/>
              <a:ext cx="142356" cy="65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矩形: 圆角 14">
              <a:extLst>
                <a:ext uri="{FF2B5EF4-FFF2-40B4-BE49-F238E27FC236}">
                  <a16:creationId xmlns:a16="http://schemas.microsoft.com/office/drawing/2014/main" id="{44A0A44A-3A32-FBC2-20EE-7F02F14218AA}"/>
                </a:ext>
              </a:extLst>
            </p:cNvPr>
            <p:cNvSpPr/>
            <p:nvPr/>
          </p:nvSpPr>
          <p:spPr>
            <a:xfrm>
              <a:off x="6431481" y="5585084"/>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sp>
          <p:nvSpPr>
            <p:cNvPr id="16" name="矩形: 圆角 15">
              <a:extLst>
                <a:ext uri="{FF2B5EF4-FFF2-40B4-BE49-F238E27FC236}">
                  <a16:creationId xmlns:a16="http://schemas.microsoft.com/office/drawing/2014/main" id="{B048C3A1-848A-8345-5180-AEB195668878}"/>
                </a:ext>
              </a:extLst>
            </p:cNvPr>
            <p:cNvSpPr/>
            <p:nvPr/>
          </p:nvSpPr>
          <p:spPr>
            <a:xfrm>
              <a:off x="8448904" y="5933162"/>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sp>
          <p:nvSpPr>
            <p:cNvPr id="17" name="矩形: 圆角 16">
              <a:extLst>
                <a:ext uri="{FF2B5EF4-FFF2-40B4-BE49-F238E27FC236}">
                  <a16:creationId xmlns:a16="http://schemas.microsoft.com/office/drawing/2014/main" id="{EA389519-08E7-9A6E-ACDC-1C7FA52E4B99}"/>
                </a:ext>
              </a:extLst>
            </p:cNvPr>
            <p:cNvSpPr/>
            <p:nvPr/>
          </p:nvSpPr>
          <p:spPr>
            <a:xfrm>
              <a:off x="6985047" y="5753175"/>
              <a:ext cx="43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Sf</a:t>
              </a:r>
              <a:endParaRPr lang="zh-CN" altLang="en-US" dirty="0">
                <a:solidFill>
                  <a:schemeClr val="tx1"/>
                </a:solidFill>
              </a:endParaRPr>
            </a:p>
          </p:txBody>
        </p:sp>
        <p:sp>
          <p:nvSpPr>
            <p:cNvPr id="18" name="矩形: 圆角 17">
              <a:extLst>
                <a:ext uri="{FF2B5EF4-FFF2-40B4-BE49-F238E27FC236}">
                  <a16:creationId xmlns:a16="http://schemas.microsoft.com/office/drawing/2014/main" id="{53A73E6E-60B3-5F30-202E-1ADDBC8F0590}"/>
                </a:ext>
              </a:extLst>
            </p:cNvPr>
            <p:cNvSpPr/>
            <p:nvPr/>
          </p:nvSpPr>
          <p:spPr>
            <a:xfrm>
              <a:off x="7605661" y="5543277"/>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mv2</a:t>
              </a:r>
              <a:endParaRPr lang="zh-CN" altLang="en-US" dirty="0">
                <a:solidFill>
                  <a:schemeClr val="tx1"/>
                </a:solidFill>
              </a:endParaRPr>
            </a:p>
          </p:txBody>
        </p:sp>
        <p:cxnSp>
          <p:nvCxnSpPr>
            <p:cNvPr id="20" name="直接箭头连接符 19">
              <a:extLst>
                <a:ext uri="{FF2B5EF4-FFF2-40B4-BE49-F238E27FC236}">
                  <a16:creationId xmlns:a16="http://schemas.microsoft.com/office/drawing/2014/main" id="{AC3A7844-7250-7C29-8A0E-0E2AD12A1130}"/>
                </a:ext>
              </a:extLst>
            </p:cNvPr>
            <p:cNvCxnSpPr>
              <a:cxnSpLocks/>
              <a:stCxn id="15" idx="3"/>
              <a:endCxn id="17" idx="1"/>
            </p:cNvCxnSpPr>
            <p:nvPr/>
          </p:nvCxnSpPr>
          <p:spPr>
            <a:xfrm>
              <a:off x="6863481" y="5729084"/>
              <a:ext cx="121566" cy="168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91B95072-32B9-20F5-9A74-7F74FD37E35D}"/>
                </a:ext>
              </a:extLst>
            </p:cNvPr>
            <p:cNvCxnSpPr>
              <a:cxnSpLocks/>
              <a:stCxn id="17" idx="3"/>
              <a:endCxn id="18" idx="1"/>
            </p:cNvCxnSpPr>
            <p:nvPr/>
          </p:nvCxnSpPr>
          <p:spPr>
            <a:xfrm flipV="1">
              <a:off x="7417047" y="5687277"/>
              <a:ext cx="188614" cy="20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圆角 21">
              <a:extLst>
                <a:ext uri="{FF2B5EF4-FFF2-40B4-BE49-F238E27FC236}">
                  <a16:creationId xmlns:a16="http://schemas.microsoft.com/office/drawing/2014/main" id="{61C59AC9-A88B-A5C8-A0C7-5623D9C3984E}"/>
                </a:ext>
              </a:extLst>
            </p:cNvPr>
            <p:cNvSpPr/>
            <p:nvPr/>
          </p:nvSpPr>
          <p:spPr>
            <a:xfrm>
              <a:off x="7571346" y="5930340"/>
              <a:ext cx="720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JSf23</a:t>
              </a:r>
              <a:endParaRPr lang="zh-CN" altLang="en-US" dirty="0">
                <a:solidFill>
                  <a:schemeClr val="tx1"/>
                </a:solidFill>
              </a:endParaRPr>
            </a:p>
          </p:txBody>
        </p:sp>
        <p:cxnSp>
          <p:nvCxnSpPr>
            <p:cNvPr id="24" name="直接箭头连接符 23">
              <a:extLst>
                <a:ext uri="{FF2B5EF4-FFF2-40B4-BE49-F238E27FC236}">
                  <a16:creationId xmlns:a16="http://schemas.microsoft.com/office/drawing/2014/main" id="{DE450E01-36EE-8ABD-19F9-6AD4563038FE}"/>
                </a:ext>
              </a:extLst>
            </p:cNvPr>
            <p:cNvCxnSpPr>
              <a:cxnSpLocks/>
              <a:stCxn id="17" idx="3"/>
              <a:endCxn id="22" idx="1"/>
            </p:cNvCxnSpPr>
            <p:nvPr/>
          </p:nvCxnSpPr>
          <p:spPr>
            <a:xfrm>
              <a:off x="7417047" y="5897175"/>
              <a:ext cx="154299" cy="177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60D43E73-658E-889D-D0DF-F401EF3247A4}"/>
                </a:ext>
              </a:extLst>
            </p:cNvPr>
            <p:cNvCxnSpPr>
              <a:cxnSpLocks/>
              <a:stCxn id="22" idx="3"/>
              <a:endCxn id="16" idx="1"/>
            </p:cNvCxnSpPr>
            <p:nvPr/>
          </p:nvCxnSpPr>
          <p:spPr>
            <a:xfrm>
              <a:off x="8291346" y="6074340"/>
              <a:ext cx="157558" cy="2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4D80DCC6-3977-D4F1-6B7A-25328E0DC577}"/>
                </a:ext>
              </a:extLst>
            </p:cNvPr>
            <p:cNvCxnSpPr>
              <a:cxnSpLocks/>
              <a:stCxn id="13" idx="3"/>
              <a:endCxn id="5" idx="1"/>
            </p:cNvCxnSpPr>
            <p:nvPr/>
          </p:nvCxnSpPr>
          <p:spPr>
            <a:xfrm flipV="1">
              <a:off x="6289125" y="6339524"/>
              <a:ext cx="125998" cy="70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B237A880-F7C1-B453-7A37-7B660CB5912D}"/>
                </a:ext>
              </a:extLst>
            </p:cNvPr>
            <p:cNvCxnSpPr>
              <a:cxnSpLocks/>
              <a:stCxn id="11" idx="3"/>
              <a:endCxn id="5" idx="1"/>
            </p:cNvCxnSpPr>
            <p:nvPr/>
          </p:nvCxnSpPr>
          <p:spPr>
            <a:xfrm>
              <a:off x="6289125" y="6036439"/>
              <a:ext cx="125998" cy="303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B1D15972-4BED-C3DF-4B60-A2964057BA8C}"/>
                </a:ext>
              </a:extLst>
            </p:cNvPr>
            <p:cNvCxnSpPr>
              <a:cxnSpLocks/>
              <a:stCxn id="5" idx="3"/>
              <a:endCxn id="22" idx="1"/>
            </p:cNvCxnSpPr>
            <p:nvPr/>
          </p:nvCxnSpPr>
          <p:spPr>
            <a:xfrm flipV="1">
              <a:off x="6955123" y="6074340"/>
              <a:ext cx="616223" cy="265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矩形: 圆角 30">
              <a:extLst>
                <a:ext uri="{FF2B5EF4-FFF2-40B4-BE49-F238E27FC236}">
                  <a16:creationId xmlns:a16="http://schemas.microsoft.com/office/drawing/2014/main" id="{91CD46FB-01C7-3746-C82F-3317446E71AA}"/>
                </a:ext>
              </a:extLst>
            </p:cNvPr>
            <p:cNvSpPr/>
            <p:nvPr/>
          </p:nvSpPr>
          <p:spPr>
            <a:xfrm>
              <a:off x="7889226" y="6294197"/>
              <a:ext cx="612000" cy="288000"/>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mv3</a:t>
              </a:r>
              <a:endParaRPr lang="zh-CN" altLang="en-US" dirty="0">
                <a:solidFill>
                  <a:schemeClr val="tx1"/>
                </a:solidFill>
              </a:endParaRPr>
            </a:p>
          </p:txBody>
        </p:sp>
        <p:cxnSp>
          <p:nvCxnSpPr>
            <p:cNvPr id="32" name="直接箭头连接符 31">
              <a:extLst>
                <a:ext uri="{FF2B5EF4-FFF2-40B4-BE49-F238E27FC236}">
                  <a16:creationId xmlns:a16="http://schemas.microsoft.com/office/drawing/2014/main" id="{6A9C1B9A-E138-EB78-DEBB-734FD6989065}"/>
                </a:ext>
              </a:extLst>
            </p:cNvPr>
            <p:cNvCxnSpPr>
              <a:cxnSpLocks/>
              <a:stCxn id="5" idx="3"/>
              <a:endCxn id="31" idx="1"/>
            </p:cNvCxnSpPr>
            <p:nvPr/>
          </p:nvCxnSpPr>
          <p:spPr>
            <a:xfrm>
              <a:off x="6955123" y="6339524"/>
              <a:ext cx="934103" cy="98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矩形: 圆角 32">
              <a:extLst>
                <a:ext uri="{FF2B5EF4-FFF2-40B4-BE49-F238E27FC236}">
                  <a16:creationId xmlns:a16="http://schemas.microsoft.com/office/drawing/2014/main" id="{ACB1CD50-6AEA-DC6B-56A0-AC5B8D3337F7}"/>
                </a:ext>
              </a:extLst>
            </p:cNvPr>
            <p:cNvSpPr/>
            <p:nvPr/>
          </p:nvSpPr>
          <p:spPr>
            <a:xfrm>
              <a:off x="5857125" y="6640542"/>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t4</a:t>
              </a:r>
              <a:endParaRPr lang="zh-CN" altLang="en-US" dirty="0">
                <a:solidFill>
                  <a:schemeClr val="tx1"/>
                </a:solidFill>
              </a:endParaRPr>
            </a:p>
          </p:txBody>
        </p:sp>
        <p:cxnSp>
          <p:nvCxnSpPr>
            <p:cNvPr id="34" name="直接箭头连接符 33">
              <a:extLst>
                <a:ext uri="{FF2B5EF4-FFF2-40B4-BE49-F238E27FC236}">
                  <a16:creationId xmlns:a16="http://schemas.microsoft.com/office/drawing/2014/main" id="{3A172204-D1BC-6AB0-2395-B6CA1802508E}"/>
                </a:ext>
              </a:extLst>
            </p:cNvPr>
            <p:cNvCxnSpPr>
              <a:cxnSpLocks/>
              <a:stCxn id="33" idx="3"/>
              <a:endCxn id="31" idx="1"/>
            </p:cNvCxnSpPr>
            <p:nvPr/>
          </p:nvCxnSpPr>
          <p:spPr>
            <a:xfrm flipV="1">
              <a:off x="6289125" y="6438197"/>
              <a:ext cx="1600101" cy="346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矩形: 圆角 34">
              <a:extLst>
                <a:ext uri="{FF2B5EF4-FFF2-40B4-BE49-F238E27FC236}">
                  <a16:creationId xmlns:a16="http://schemas.microsoft.com/office/drawing/2014/main" id="{87BF280F-1261-4CED-D2B6-98C12292FD5D}"/>
                </a:ext>
              </a:extLst>
            </p:cNvPr>
            <p:cNvSpPr/>
            <p:nvPr/>
          </p:nvSpPr>
          <p:spPr>
            <a:xfrm>
              <a:off x="7213459" y="6659897"/>
              <a:ext cx="612000" cy="288000"/>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mv4</a:t>
              </a:r>
              <a:endParaRPr lang="zh-CN" altLang="en-US" dirty="0">
                <a:solidFill>
                  <a:schemeClr val="tx1"/>
                </a:solidFill>
              </a:endParaRPr>
            </a:p>
          </p:txBody>
        </p:sp>
        <p:cxnSp>
          <p:nvCxnSpPr>
            <p:cNvPr id="36" name="直接箭头连接符 35">
              <a:extLst>
                <a:ext uri="{FF2B5EF4-FFF2-40B4-BE49-F238E27FC236}">
                  <a16:creationId xmlns:a16="http://schemas.microsoft.com/office/drawing/2014/main" id="{8753349E-024D-A6B0-D4A9-E66039DC612B}"/>
                </a:ext>
              </a:extLst>
            </p:cNvPr>
            <p:cNvCxnSpPr>
              <a:cxnSpLocks/>
              <a:stCxn id="31" idx="2"/>
              <a:endCxn id="35" idx="3"/>
            </p:cNvCxnSpPr>
            <p:nvPr/>
          </p:nvCxnSpPr>
          <p:spPr>
            <a:xfrm flipH="1">
              <a:off x="7825459" y="6582197"/>
              <a:ext cx="369767" cy="221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E0DAECD0-785D-DF2A-201F-14F1C72D7602}"/>
                </a:ext>
              </a:extLst>
            </p:cNvPr>
            <p:cNvCxnSpPr>
              <a:cxnSpLocks/>
              <a:stCxn id="15" idx="2"/>
              <a:endCxn id="35" idx="0"/>
            </p:cNvCxnSpPr>
            <p:nvPr/>
          </p:nvCxnSpPr>
          <p:spPr>
            <a:xfrm>
              <a:off x="6647481" y="5873084"/>
              <a:ext cx="871978" cy="786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9B913466-30B9-B305-C536-ED73F58C9D3A}"/>
              </a:ext>
            </a:extLst>
          </p:cNvPr>
          <p:cNvGrpSpPr/>
          <p:nvPr/>
        </p:nvGrpSpPr>
        <p:grpSpPr>
          <a:xfrm>
            <a:off x="8010333" y="4471873"/>
            <a:ext cx="2684486" cy="1416519"/>
            <a:chOff x="466940" y="5416197"/>
            <a:chExt cx="2684486" cy="1416519"/>
          </a:xfrm>
        </p:grpSpPr>
        <p:sp>
          <p:nvSpPr>
            <p:cNvPr id="39" name="矩形: 圆角 38">
              <a:extLst>
                <a:ext uri="{FF2B5EF4-FFF2-40B4-BE49-F238E27FC236}">
                  <a16:creationId xmlns:a16="http://schemas.microsoft.com/office/drawing/2014/main" id="{6EAC2372-B656-CB90-14BB-22847528C5C1}"/>
                </a:ext>
              </a:extLst>
            </p:cNvPr>
            <p:cNvSpPr/>
            <p:nvPr/>
          </p:nvSpPr>
          <p:spPr>
            <a:xfrm>
              <a:off x="466940" y="5416197"/>
              <a:ext cx="432000" cy="286034"/>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t1</a:t>
              </a:r>
              <a:endParaRPr lang="zh-CN" altLang="en-US" dirty="0">
                <a:solidFill>
                  <a:schemeClr val="tx1"/>
                </a:solidFill>
              </a:endParaRPr>
            </a:p>
          </p:txBody>
        </p:sp>
        <p:sp>
          <p:nvSpPr>
            <p:cNvPr id="40" name="矩形: 圆角 39">
              <a:extLst>
                <a:ext uri="{FF2B5EF4-FFF2-40B4-BE49-F238E27FC236}">
                  <a16:creationId xmlns:a16="http://schemas.microsoft.com/office/drawing/2014/main" id="{02124F0C-D7CA-1E86-BA25-86B4AD4EF40D}"/>
                </a:ext>
              </a:extLst>
            </p:cNvPr>
            <p:cNvSpPr/>
            <p:nvPr/>
          </p:nvSpPr>
          <p:spPr>
            <a:xfrm>
              <a:off x="466940" y="5791059"/>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t2</a:t>
              </a:r>
              <a:endParaRPr lang="zh-CN" altLang="en-US" dirty="0">
                <a:solidFill>
                  <a:schemeClr val="tx1"/>
                </a:solidFill>
              </a:endParaRPr>
            </a:p>
          </p:txBody>
        </p:sp>
        <p:sp>
          <p:nvSpPr>
            <p:cNvPr id="41" name="矩形: 圆角 40">
              <a:extLst>
                <a:ext uri="{FF2B5EF4-FFF2-40B4-BE49-F238E27FC236}">
                  <a16:creationId xmlns:a16="http://schemas.microsoft.com/office/drawing/2014/main" id="{60C8070D-08A0-30C4-70E8-65A57B47CD54}"/>
                </a:ext>
              </a:extLst>
            </p:cNvPr>
            <p:cNvSpPr/>
            <p:nvPr/>
          </p:nvSpPr>
          <p:spPr>
            <a:xfrm>
              <a:off x="466940" y="6167887"/>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t3</a:t>
              </a:r>
              <a:endParaRPr lang="zh-CN" altLang="en-US" dirty="0">
                <a:solidFill>
                  <a:schemeClr val="tx1"/>
                </a:solidFill>
              </a:endParaRPr>
            </a:p>
          </p:txBody>
        </p:sp>
        <p:sp>
          <p:nvSpPr>
            <p:cNvPr id="42" name="矩形: 圆角 41">
              <a:extLst>
                <a:ext uri="{FF2B5EF4-FFF2-40B4-BE49-F238E27FC236}">
                  <a16:creationId xmlns:a16="http://schemas.microsoft.com/office/drawing/2014/main" id="{0080F0CA-873E-0176-EE49-CE4439C3EBAD}"/>
                </a:ext>
              </a:extLst>
            </p:cNvPr>
            <p:cNvSpPr/>
            <p:nvPr/>
          </p:nvSpPr>
          <p:spPr>
            <a:xfrm>
              <a:off x="1742681" y="5818103"/>
              <a:ext cx="648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J123</a:t>
              </a:r>
              <a:endParaRPr lang="zh-CN" altLang="en-US" dirty="0">
                <a:solidFill>
                  <a:schemeClr val="tx1"/>
                </a:solidFill>
              </a:endParaRPr>
            </a:p>
          </p:txBody>
        </p:sp>
        <p:cxnSp>
          <p:nvCxnSpPr>
            <p:cNvPr id="43" name="直接箭头连接符 42">
              <a:extLst>
                <a:ext uri="{FF2B5EF4-FFF2-40B4-BE49-F238E27FC236}">
                  <a16:creationId xmlns:a16="http://schemas.microsoft.com/office/drawing/2014/main" id="{1AC76FDD-D8D8-A552-A701-925D5CEB6EC5}"/>
                </a:ext>
              </a:extLst>
            </p:cNvPr>
            <p:cNvCxnSpPr>
              <a:cxnSpLocks/>
              <a:stCxn id="40" idx="3"/>
              <a:endCxn id="61" idx="1"/>
            </p:cNvCxnSpPr>
            <p:nvPr/>
          </p:nvCxnSpPr>
          <p:spPr>
            <a:xfrm>
              <a:off x="898940" y="5935059"/>
              <a:ext cx="116820" cy="347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D03355C4-08CF-051A-6829-0EBEEA5F24E0}"/>
                </a:ext>
              </a:extLst>
            </p:cNvPr>
            <p:cNvCxnSpPr>
              <a:cxnSpLocks/>
              <a:stCxn id="39" idx="3"/>
              <a:endCxn id="46" idx="1"/>
            </p:cNvCxnSpPr>
            <p:nvPr/>
          </p:nvCxnSpPr>
          <p:spPr>
            <a:xfrm>
              <a:off x="898940" y="5559214"/>
              <a:ext cx="123552" cy="160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CE01D9E5-10EC-2728-BDDB-78136CE3F1F1}"/>
                </a:ext>
              </a:extLst>
            </p:cNvPr>
            <p:cNvCxnSpPr>
              <a:cxnSpLocks/>
              <a:stCxn id="41" idx="3"/>
              <a:endCxn id="61" idx="1"/>
            </p:cNvCxnSpPr>
            <p:nvPr/>
          </p:nvCxnSpPr>
          <p:spPr>
            <a:xfrm flipV="1">
              <a:off x="898940" y="6282361"/>
              <a:ext cx="116820" cy="29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矩形: 圆角 45">
              <a:extLst>
                <a:ext uri="{FF2B5EF4-FFF2-40B4-BE49-F238E27FC236}">
                  <a16:creationId xmlns:a16="http://schemas.microsoft.com/office/drawing/2014/main" id="{6C7B919E-733A-143F-3621-45C9CA1B2DA2}"/>
                </a:ext>
              </a:extLst>
            </p:cNvPr>
            <p:cNvSpPr/>
            <p:nvPr/>
          </p:nvSpPr>
          <p:spPr>
            <a:xfrm>
              <a:off x="1022492" y="5575775"/>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t>
              </a:r>
              <a:endParaRPr lang="zh-CN" altLang="en-US" dirty="0">
                <a:solidFill>
                  <a:schemeClr val="tx1"/>
                </a:solidFill>
              </a:endParaRPr>
            </a:p>
          </p:txBody>
        </p:sp>
        <p:cxnSp>
          <p:nvCxnSpPr>
            <p:cNvPr id="47" name="直接箭头连接符 46">
              <a:extLst>
                <a:ext uri="{FF2B5EF4-FFF2-40B4-BE49-F238E27FC236}">
                  <a16:creationId xmlns:a16="http://schemas.microsoft.com/office/drawing/2014/main" id="{4B69DB65-1670-9399-39EA-9E35C168C583}"/>
                </a:ext>
              </a:extLst>
            </p:cNvPr>
            <p:cNvCxnSpPr>
              <a:cxnSpLocks/>
              <a:stCxn id="46" idx="3"/>
              <a:endCxn id="42" idx="1"/>
            </p:cNvCxnSpPr>
            <p:nvPr/>
          </p:nvCxnSpPr>
          <p:spPr>
            <a:xfrm>
              <a:off x="1454492" y="5719775"/>
              <a:ext cx="288189" cy="242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矩形: 圆角 47">
              <a:extLst>
                <a:ext uri="{FF2B5EF4-FFF2-40B4-BE49-F238E27FC236}">
                  <a16:creationId xmlns:a16="http://schemas.microsoft.com/office/drawing/2014/main" id="{2DB1A616-1CC2-2383-3489-DD155B4852CD}"/>
                </a:ext>
              </a:extLst>
            </p:cNvPr>
            <p:cNvSpPr/>
            <p:nvPr/>
          </p:nvSpPr>
          <p:spPr>
            <a:xfrm>
              <a:off x="2539426" y="5818103"/>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mv1</a:t>
              </a:r>
              <a:endParaRPr lang="zh-CN" altLang="en-US" dirty="0">
                <a:solidFill>
                  <a:schemeClr val="tx1"/>
                </a:solidFill>
              </a:endParaRPr>
            </a:p>
          </p:txBody>
        </p:sp>
        <p:cxnSp>
          <p:nvCxnSpPr>
            <p:cNvPr id="49" name="直接箭头连接符 48">
              <a:extLst>
                <a:ext uri="{FF2B5EF4-FFF2-40B4-BE49-F238E27FC236}">
                  <a16:creationId xmlns:a16="http://schemas.microsoft.com/office/drawing/2014/main" id="{0E84AC3B-5603-09D9-6236-55A6E7A000A5}"/>
                </a:ext>
              </a:extLst>
            </p:cNvPr>
            <p:cNvCxnSpPr>
              <a:cxnSpLocks/>
              <a:stCxn id="42" idx="3"/>
              <a:endCxn id="48" idx="1"/>
            </p:cNvCxnSpPr>
            <p:nvPr/>
          </p:nvCxnSpPr>
          <p:spPr>
            <a:xfrm>
              <a:off x="2390681" y="5962103"/>
              <a:ext cx="1487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矩形: 圆角 49">
              <a:extLst>
                <a:ext uri="{FF2B5EF4-FFF2-40B4-BE49-F238E27FC236}">
                  <a16:creationId xmlns:a16="http://schemas.microsoft.com/office/drawing/2014/main" id="{019CAD8D-E777-7010-035F-D7CB2F823AE0}"/>
                </a:ext>
              </a:extLst>
            </p:cNvPr>
            <p:cNvSpPr/>
            <p:nvPr/>
          </p:nvSpPr>
          <p:spPr>
            <a:xfrm>
              <a:off x="1697560" y="5431775"/>
              <a:ext cx="612000" cy="288000"/>
            </a:xfrm>
            <a:prstGeom prst="roundRect">
              <a:avLst/>
            </a:prstGeom>
            <a:solidFill>
              <a:srgbClr val="FEE6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mv2</a:t>
              </a:r>
              <a:endParaRPr lang="zh-CN" altLang="en-US" dirty="0">
                <a:solidFill>
                  <a:schemeClr val="tx1"/>
                </a:solidFill>
              </a:endParaRPr>
            </a:p>
          </p:txBody>
        </p:sp>
        <p:cxnSp>
          <p:nvCxnSpPr>
            <p:cNvPr id="51" name="直接箭头连接符 50">
              <a:extLst>
                <a:ext uri="{FF2B5EF4-FFF2-40B4-BE49-F238E27FC236}">
                  <a16:creationId xmlns:a16="http://schemas.microsoft.com/office/drawing/2014/main" id="{DF2702DD-D27D-3651-33EB-726EB599B5C7}"/>
                </a:ext>
              </a:extLst>
            </p:cNvPr>
            <p:cNvCxnSpPr>
              <a:cxnSpLocks/>
              <a:stCxn id="46" idx="3"/>
              <a:endCxn id="50" idx="1"/>
            </p:cNvCxnSpPr>
            <p:nvPr/>
          </p:nvCxnSpPr>
          <p:spPr>
            <a:xfrm flipV="1">
              <a:off x="1454492" y="5575775"/>
              <a:ext cx="243068" cy="14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矩形: 圆角 51">
              <a:extLst>
                <a:ext uri="{FF2B5EF4-FFF2-40B4-BE49-F238E27FC236}">
                  <a16:creationId xmlns:a16="http://schemas.microsoft.com/office/drawing/2014/main" id="{61D7165B-A02A-9222-9107-E5E18BCCB3E7}"/>
                </a:ext>
              </a:extLst>
            </p:cNvPr>
            <p:cNvSpPr/>
            <p:nvPr/>
          </p:nvSpPr>
          <p:spPr>
            <a:xfrm>
              <a:off x="2435966" y="6187435"/>
              <a:ext cx="61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mv3</a:t>
              </a:r>
              <a:endParaRPr lang="zh-CN" altLang="en-US" dirty="0">
                <a:solidFill>
                  <a:schemeClr val="tx1"/>
                </a:solidFill>
              </a:endParaRPr>
            </a:p>
          </p:txBody>
        </p:sp>
        <p:sp>
          <p:nvSpPr>
            <p:cNvPr id="55" name="矩形: 圆角 54">
              <a:extLst>
                <a:ext uri="{FF2B5EF4-FFF2-40B4-BE49-F238E27FC236}">
                  <a16:creationId xmlns:a16="http://schemas.microsoft.com/office/drawing/2014/main" id="{07A21604-88A1-3E7B-9E43-A0FE40559E33}"/>
                </a:ext>
              </a:extLst>
            </p:cNvPr>
            <p:cNvSpPr/>
            <p:nvPr/>
          </p:nvSpPr>
          <p:spPr>
            <a:xfrm>
              <a:off x="466940" y="6544716"/>
              <a:ext cx="432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t4</a:t>
              </a:r>
              <a:endParaRPr lang="zh-CN" altLang="en-US" dirty="0">
                <a:solidFill>
                  <a:schemeClr val="tx1"/>
                </a:solidFill>
              </a:endParaRPr>
            </a:p>
          </p:txBody>
        </p:sp>
        <p:cxnSp>
          <p:nvCxnSpPr>
            <p:cNvPr id="56" name="直接箭头连接符 55">
              <a:extLst>
                <a:ext uri="{FF2B5EF4-FFF2-40B4-BE49-F238E27FC236}">
                  <a16:creationId xmlns:a16="http://schemas.microsoft.com/office/drawing/2014/main" id="{18302E8A-03A0-B456-1974-8416EDFFF9C2}"/>
                </a:ext>
              </a:extLst>
            </p:cNvPr>
            <p:cNvCxnSpPr>
              <a:cxnSpLocks/>
              <a:stCxn id="55" idx="3"/>
              <a:endCxn id="52" idx="1"/>
            </p:cNvCxnSpPr>
            <p:nvPr/>
          </p:nvCxnSpPr>
          <p:spPr>
            <a:xfrm flipV="1">
              <a:off x="898940" y="6331435"/>
              <a:ext cx="1537026" cy="3572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D9A52916-67D8-543D-AA1F-A0EA9648536E}"/>
                </a:ext>
              </a:extLst>
            </p:cNvPr>
            <p:cNvCxnSpPr>
              <a:cxnSpLocks/>
              <a:stCxn id="61" idx="3"/>
              <a:endCxn id="52" idx="1"/>
            </p:cNvCxnSpPr>
            <p:nvPr/>
          </p:nvCxnSpPr>
          <p:spPr>
            <a:xfrm>
              <a:off x="1555760" y="6282361"/>
              <a:ext cx="880206" cy="490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矩形: 圆角 57">
              <a:extLst>
                <a:ext uri="{FF2B5EF4-FFF2-40B4-BE49-F238E27FC236}">
                  <a16:creationId xmlns:a16="http://schemas.microsoft.com/office/drawing/2014/main" id="{1E286B6F-E5D7-1B2F-B447-243028A3C388}"/>
                </a:ext>
              </a:extLst>
            </p:cNvPr>
            <p:cNvSpPr/>
            <p:nvPr/>
          </p:nvSpPr>
          <p:spPr>
            <a:xfrm>
              <a:off x="1778026" y="6538967"/>
              <a:ext cx="612000" cy="28800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mv4</a:t>
              </a:r>
              <a:endParaRPr lang="zh-CN" altLang="en-US" dirty="0">
                <a:solidFill>
                  <a:schemeClr val="tx1"/>
                </a:solidFill>
              </a:endParaRPr>
            </a:p>
          </p:txBody>
        </p:sp>
        <p:cxnSp>
          <p:nvCxnSpPr>
            <p:cNvPr id="59" name="直接箭头连接符 58">
              <a:extLst>
                <a:ext uri="{FF2B5EF4-FFF2-40B4-BE49-F238E27FC236}">
                  <a16:creationId xmlns:a16="http://schemas.microsoft.com/office/drawing/2014/main" id="{4003417F-D466-FAB9-502E-5F939E5241D4}"/>
                </a:ext>
              </a:extLst>
            </p:cNvPr>
            <p:cNvCxnSpPr>
              <a:cxnSpLocks/>
              <a:stCxn id="46" idx="2"/>
              <a:endCxn id="58" idx="0"/>
            </p:cNvCxnSpPr>
            <p:nvPr/>
          </p:nvCxnSpPr>
          <p:spPr>
            <a:xfrm>
              <a:off x="1238492" y="5863775"/>
              <a:ext cx="845534" cy="675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ABE491E0-98BC-C823-4D83-9F7B68310A46}"/>
                </a:ext>
              </a:extLst>
            </p:cNvPr>
            <p:cNvCxnSpPr>
              <a:cxnSpLocks/>
              <a:stCxn id="42" idx="2"/>
              <a:endCxn id="58" idx="0"/>
            </p:cNvCxnSpPr>
            <p:nvPr/>
          </p:nvCxnSpPr>
          <p:spPr>
            <a:xfrm>
              <a:off x="2066681" y="6106103"/>
              <a:ext cx="17345" cy="432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矩形: 圆角 60">
              <a:extLst>
                <a:ext uri="{FF2B5EF4-FFF2-40B4-BE49-F238E27FC236}">
                  <a16:creationId xmlns:a16="http://schemas.microsoft.com/office/drawing/2014/main" id="{B3474BEE-9501-49E8-7280-2ABFEF1BDB56}"/>
                </a:ext>
              </a:extLst>
            </p:cNvPr>
            <p:cNvSpPr/>
            <p:nvPr/>
          </p:nvSpPr>
          <p:spPr>
            <a:xfrm>
              <a:off x="1015760" y="6138361"/>
              <a:ext cx="540000" cy="2880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J23</a:t>
              </a:r>
              <a:endParaRPr lang="zh-CN" altLang="en-US" dirty="0">
                <a:solidFill>
                  <a:schemeClr val="tx1"/>
                </a:solidFill>
              </a:endParaRPr>
            </a:p>
          </p:txBody>
        </p:sp>
        <p:cxnSp>
          <p:nvCxnSpPr>
            <p:cNvPr id="62" name="直接箭头连接符 61">
              <a:extLst>
                <a:ext uri="{FF2B5EF4-FFF2-40B4-BE49-F238E27FC236}">
                  <a16:creationId xmlns:a16="http://schemas.microsoft.com/office/drawing/2014/main" id="{7E82FE1B-DDC9-E9C9-7472-736905CEE8CB}"/>
                </a:ext>
              </a:extLst>
            </p:cNvPr>
            <p:cNvCxnSpPr>
              <a:cxnSpLocks/>
              <a:stCxn id="61" idx="3"/>
              <a:endCxn id="42" idx="1"/>
            </p:cNvCxnSpPr>
            <p:nvPr/>
          </p:nvCxnSpPr>
          <p:spPr>
            <a:xfrm flipV="1">
              <a:off x="1555760" y="5962103"/>
              <a:ext cx="186921" cy="320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3" name="文本框 62">
            <a:extLst>
              <a:ext uri="{FF2B5EF4-FFF2-40B4-BE49-F238E27FC236}">
                <a16:creationId xmlns:a16="http://schemas.microsoft.com/office/drawing/2014/main" id="{DAC072C4-A039-6363-9828-369A8322E500}"/>
              </a:ext>
            </a:extLst>
          </p:cNvPr>
          <p:cNvSpPr txBox="1"/>
          <p:nvPr/>
        </p:nvSpPr>
        <p:spPr>
          <a:xfrm>
            <a:off x="8848677" y="6302677"/>
            <a:ext cx="1559705" cy="369332"/>
          </a:xfrm>
          <a:prstGeom prst="rect">
            <a:avLst/>
          </a:prstGeom>
          <a:noFill/>
        </p:spPr>
        <p:txBody>
          <a:bodyPr wrap="square">
            <a:spAutoFit/>
          </a:bodyPr>
          <a:lstStyle/>
          <a:p>
            <a:r>
              <a:rPr lang="zh-CN" altLang="en-US" b="1" dirty="0"/>
              <a:t>先选择</a:t>
            </a:r>
            <a:r>
              <a:rPr lang="en-US" altLang="zh-CN" b="1" dirty="0"/>
              <a:t>Sf</a:t>
            </a:r>
            <a:endParaRPr lang="zh-CN" altLang="en-US" b="1" dirty="0"/>
          </a:p>
        </p:txBody>
      </p:sp>
      <p:sp>
        <p:nvSpPr>
          <p:cNvPr id="448" name="文本框 447">
            <a:extLst>
              <a:ext uri="{FF2B5EF4-FFF2-40B4-BE49-F238E27FC236}">
                <a16:creationId xmlns:a16="http://schemas.microsoft.com/office/drawing/2014/main" id="{0931DD3D-48F1-1F4E-D702-9487217F0A90}"/>
              </a:ext>
            </a:extLst>
          </p:cNvPr>
          <p:cNvSpPr txBox="1"/>
          <p:nvPr/>
        </p:nvSpPr>
        <p:spPr>
          <a:xfrm>
            <a:off x="9042050" y="5933345"/>
            <a:ext cx="485592" cy="369332"/>
          </a:xfrm>
          <a:prstGeom prst="rect">
            <a:avLst/>
          </a:prstGeom>
          <a:noFill/>
        </p:spPr>
        <p:txBody>
          <a:bodyPr wrap="square">
            <a:spAutoFit/>
          </a:bodyPr>
          <a:lstStyle/>
          <a:p>
            <a:r>
              <a:rPr lang="en-US" altLang="zh-CN" b="1" dirty="0"/>
              <a:t>VS</a:t>
            </a:r>
            <a:endParaRPr lang="zh-CN" altLang="en-US" b="1" dirty="0"/>
          </a:p>
        </p:txBody>
      </p:sp>
    </p:spTree>
    <p:extLst>
      <p:ext uri="{BB962C8B-B14F-4D97-AF65-F5344CB8AC3E}">
        <p14:creationId xmlns:p14="http://schemas.microsoft.com/office/powerpoint/2010/main" val="1012121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菱形 73">
            <a:extLst>
              <a:ext uri="{FF2B5EF4-FFF2-40B4-BE49-F238E27FC236}">
                <a16:creationId xmlns:a16="http://schemas.microsoft.com/office/drawing/2014/main" id="{3B36FECD-F53A-C223-3638-F0EF5DB38EB7}"/>
              </a:ext>
            </a:extLst>
          </p:cNvPr>
          <p:cNvSpPr/>
          <p:nvPr/>
        </p:nvSpPr>
        <p:spPr>
          <a:xfrm>
            <a:off x="2840125" y="5581192"/>
            <a:ext cx="1616660" cy="607162"/>
          </a:xfrm>
          <a:prstGeom prst="diamond">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4" name="矩形 3">
            <a:extLst>
              <a:ext uri="{FF2B5EF4-FFF2-40B4-BE49-F238E27FC236}">
                <a16:creationId xmlns:a16="http://schemas.microsoft.com/office/drawing/2014/main" id="{B6A23A45-A795-9083-312D-23DCCE0101F9}"/>
              </a:ext>
            </a:extLst>
          </p:cNvPr>
          <p:cNvSpPr/>
          <p:nvPr/>
        </p:nvSpPr>
        <p:spPr>
          <a:xfrm>
            <a:off x="1024128" y="877824"/>
            <a:ext cx="1170431" cy="5193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插入视图</a:t>
            </a:r>
          </a:p>
        </p:txBody>
      </p:sp>
      <p:sp>
        <p:nvSpPr>
          <p:cNvPr id="5" name="矩形 4">
            <a:extLst>
              <a:ext uri="{FF2B5EF4-FFF2-40B4-BE49-F238E27FC236}">
                <a16:creationId xmlns:a16="http://schemas.microsoft.com/office/drawing/2014/main" id="{8C0A2D8F-6DB5-6236-215C-698831E3BE44}"/>
              </a:ext>
            </a:extLst>
          </p:cNvPr>
          <p:cNvSpPr/>
          <p:nvPr/>
        </p:nvSpPr>
        <p:spPr>
          <a:xfrm>
            <a:off x="2568245" y="877823"/>
            <a:ext cx="1617878" cy="5193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建立基本路径</a:t>
            </a:r>
          </a:p>
        </p:txBody>
      </p:sp>
      <p:sp>
        <p:nvSpPr>
          <p:cNvPr id="6" name="矩形 5">
            <a:extLst>
              <a:ext uri="{FF2B5EF4-FFF2-40B4-BE49-F238E27FC236}">
                <a16:creationId xmlns:a16="http://schemas.microsoft.com/office/drawing/2014/main" id="{EF8C01A5-8DDE-FF37-E10E-8CF28BE98BC2}"/>
              </a:ext>
            </a:extLst>
          </p:cNvPr>
          <p:cNvSpPr/>
          <p:nvPr/>
        </p:nvSpPr>
        <p:spPr>
          <a:xfrm>
            <a:off x="4673196" y="877822"/>
            <a:ext cx="1617878" cy="5193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检索相关节点</a:t>
            </a:r>
          </a:p>
        </p:txBody>
      </p:sp>
      <p:sp>
        <p:nvSpPr>
          <p:cNvPr id="7" name="矩形 6">
            <a:extLst>
              <a:ext uri="{FF2B5EF4-FFF2-40B4-BE49-F238E27FC236}">
                <a16:creationId xmlns:a16="http://schemas.microsoft.com/office/drawing/2014/main" id="{B84149ED-B64F-A923-805A-83C4993EF826}"/>
              </a:ext>
            </a:extLst>
          </p:cNvPr>
          <p:cNvSpPr/>
          <p:nvPr/>
        </p:nvSpPr>
        <p:spPr>
          <a:xfrm>
            <a:off x="6858612" y="877821"/>
            <a:ext cx="1617878" cy="5193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验证并拓展</a:t>
            </a:r>
          </a:p>
        </p:txBody>
      </p:sp>
      <p:cxnSp>
        <p:nvCxnSpPr>
          <p:cNvPr id="9" name="直接箭头连接符 8">
            <a:extLst>
              <a:ext uri="{FF2B5EF4-FFF2-40B4-BE49-F238E27FC236}">
                <a16:creationId xmlns:a16="http://schemas.microsoft.com/office/drawing/2014/main" id="{FEC24E43-194D-9E57-8A07-9A95BBA683C0}"/>
              </a:ext>
            </a:extLst>
          </p:cNvPr>
          <p:cNvCxnSpPr>
            <a:cxnSpLocks/>
            <a:stCxn id="4" idx="3"/>
            <a:endCxn id="5" idx="1"/>
          </p:cNvCxnSpPr>
          <p:nvPr/>
        </p:nvCxnSpPr>
        <p:spPr>
          <a:xfrm flipV="1">
            <a:off x="2194559" y="1137513"/>
            <a:ext cx="37368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D6AA10D6-7D97-5319-54EF-7DD5B669BC24}"/>
              </a:ext>
            </a:extLst>
          </p:cNvPr>
          <p:cNvCxnSpPr>
            <a:cxnSpLocks/>
            <a:stCxn id="5" idx="3"/>
            <a:endCxn id="6" idx="1"/>
          </p:cNvCxnSpPr>
          <p:nvPr/>
        </p:nvCxnSpPr>
        <p:spPr>
          <a:xfrm flipV="1">
            <a:off x="4186123" y="1137512"/>
            <a:ext cx="48707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5967D308-1C0C-8337-C5F2-5FCD6C3F549C}"/>
              </a:ext>
            </a:extLst>
          </p:cNvPr>
          <p:cNvCxnSpPr>
            <a:cxnSpLocks/>
            <a:stCxn id="6" idx="3"/>
            <a:endCxn id="7" idx="1"/>
          </p:cNvCxnSpPr>
          <p:nvPr/>
        </p:nvCxnSpPr>
        <p:spPr>
          <a:xfrm flipV="1">
            <a:off x="6291074" y="1137511"/>
            <a:ext cx="56753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188AFA72-3E61-6072-E9C8-A7D3E909983E}"/>
              </a:ext>
            </a:extLst>
          </p:cNvPr>
          <p:cNvCxnSpPr>
            <a:cxnSpLocks/>
            <a:stCxn id="7" idx="2"/>
            <a:endCxn id="4" idx="2"/>
          </p:cNvCxnSpPr>
          <p:nvPr/>
        </p:nvCxnSpPr>
        <p:spPr>
          <a:xfrm rot="5400000">
            <a:off x="4638447" y="-1631902"/>
            <a:ext cx="3" cy="6058207"/>
          </a:xfrm>
          <a:prstGeom prst="bentConnector3">
            <a:avLst>
              <a:gd name="adj1" fmla="val 76201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矩形: 圆角 31">
            <a:extLst>
              <a:ext uri="{FF2B5EF4-FFF2-40B4-BE49-F238E27FC236}">
                <a16:creationId xmlns:a16="http://schemas.microsoft.com/office/drawing/2014/main" id="{CB95D54D-B792-7B92-7997-F92DF237A861}"/>
              </a:ext>
            </a:extLst>
          </p:cNvPr>
          <p:cNvSpPr/>
          <p:nvPr/>
        </p:nvSpPr>
        <p:spPr>
          <a:xfrm>
            <a:off x="603810" y="1976018"/>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逐个插入</a:t>
            </a:r>
            <a:endParaRPr lang="en-US" altLang="zh-CN" dirty="0">
              <a:solidFill>
                <a:schemeClr val="tx1"/>
              </a:solidFill>
            </a:endParaRPr>
          </a:p>
          <a:p>
            <a:pPr algn="ctr"/>
            <a:r>
              <a:rPr lang="zh-CN" altLang="en-US" dirty="0">
                <a:solidFill>
                  <a:schemeClr val="tx1"/>
                </a:solidFill>
              </a:rPr>
              <a:t>物化视图</a:t>
            </a:r>
          </a:p>
        </p:txBody>
      </p:sp>
      <p:sp>
        <p:nvSpPr>
          <p:cNvPr id="33" name="矩形: 圆角 32">
            <a:extLst>
              <a:ext uri="{FF2B5EF4-FFF2-40B4-BE49-F238E27FC236}">
                <a16:creationId xmlns:a16="http://schemas.microsoft.com/office/drawing/2014/main" id="{1169E87A-0102-D4AE-64D2-47BBEC502A55}"/>
              </a:ext>
            </a:extLst>
          </p:cNvPr>
          <p:cNvSpPr/>
          <p:nvPr/>
        </p:nvSpPr>
        <p:spPr>
          <a:xfrm>
            <a:off x="2747773" y="1976018"/>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建立一条</a:t>
            </a:r>
            <a:endParaRPr lang="en-US" altLang="zh-CN" dirty="0">
              <a:solidFill>
                <a:schemeClr val="tx1"/>
              </a:solidFill>
            </a:endParaRPr>
          </a:p>
          <a:p>
            <a:pPr algn="ctr"/>
            <a:r>
              <a:rPr lang="zh-CN" altLang="en-US" dirty="0">
                <a:solidFill>
                  <a:schemeClr val="tx1"/>
                </a:solidFill>
              </a:rPr>
              <a:t>基本计算路径</a:t>
            </a:r>
          </a:p>
        </p:txBody>
      </p:sp>
      <p:sp>
        <p:nvSpPr>
          <p:cNvPr id="34" name="矩形: 圆角 33">
            <a:extLst>
              <a:ext uri="{FF2B5EF4-FFF2-40B4-BE49-F238E27FC236}">
                <a16:creationId xmlns:a16="http://schemas.microsoft.com/office/drawing/2014/main" id="{91605441-3E5A-0C7C-691B-B5EA5D6F946C}"/>
              </a:ext>
            </a:extLst>
          </p:cNvPr>
          <p:cNvSpPr/>
          <p:nvPr/>
        </p:nvSpPr>
        <p:spPr>
          <a:xfrm>
            <a:off x="5016248" y="1976018"/>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新增节点</a:t>
            </a:r>
            <a:endParaRPr lang="en-US" altLang="zh-CN" dirty="0">
              <a:solidFill>
                <a:schemeClr val="tx1"/>
              </a:solidFill>
            </a:endParaRPr>
          </a:p>
          <a:p>
            <a:pPr algn="ctr"/>
            <a:r>
              <a:rPr lang="zh-CN" altLang="en-US" dirty="0">
                <a:solidFill>
                  <a:schemeClr val="tx1"/>
                </a:solidFill>
              </a:rPr>
              <a:t>进入工作队列</a:t>
            </a:r>
          </a:p>
        </p:txBody>
      </p:sp>
      <p:sp>
        <p:nvSpPr>
          <p:cNvPr id="35" name="矩形: 圆角 34">
            <a:extLst>
              <a:ext uri="{FF2B5EF4-FFF2-40B4-BE49-F238E27FC236}">
                <a16:creationId xmlns:a16="http://schemas.microsoft.com/office/drawing/2014/main" id="{0E6BBEEB-84C8-A06A-283B-660CB4E68D76}"/>
              </a:ext>
            </a:extLst>
          </p:cNvPr>
          <p:cNvSpPr/>
          <p:nvPr/>
        </p:nvSpPr>
        <p:spPr>
          <a:xfrm>
            <a:off x="7284724" y="1976018"/>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检索关联节点</a:t>
            </a:r>
          </a:p>
        </p:txBody>
      </p:sp>
      <p:sp>
        <p:nvSpPr>
          <p:cNvPr id="36" name="矩形 35">
            <a:extLst>
              <a:ext uri="{FF2B5EF4-FFF2-40B4-BE49-F238E27FC236}">
                <a16:creationId xmlns:a16="http://schemas.microsoft.com/office/drawing/2014/main" id="{91D8E6FD-782B-6BF9-4164-E61C3A75EA5D}"/>
              </a:ext>
            </a:extLst>
          </p:cNvPr>
          <p:cNvSpPr/>
          <p:nvPr/>
        </p:nvSpPr>
        <p:spPr>
          <a:xfrm>
            <a:off x="9612172" y="2211011"/>
            <a:ext cx="2345739" cy="1110999"/>
          </a:xfrm>
          <a:prstGeom prst="rect">
            <a:avLst/>
          </a:prstGeom>
          <a:solidFill>
            <a:schemeClr val="accent2">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数据包含关系</a:t>
            </a:r>
            <a:endParaRPr lang="en-US" altLang="zh-CN" dirty="0">
              <a:solidFill>
                <a:schemeClr val="tx1"/>
              </a:solidFill>
            </a:endParaRPr>
          </a:p>
          <a:p>
            <a:pPr algn="ctr"/>
            <a:r>
              <a:rPr lang="zh-CN" altLang="en-US" dirty="0">
                <a:solidFill>
                  <a:schemeClr val="tx1"/>
                </a:solidFill>
              </a:rPr>
              <a:t>增量维护语义</a:t>
            </a:r>
            <a:endParaRPr lang="en-US" altLang="zh-CN" dirty="0">
              <a:solidFill>
                <a:schemeClr val="tx1"/>
              </a:solidFill>
            </a:endParaRPr>
          </a:p>
          <a:p>
            <a:pPr algn="ctr"/>
            <a:r>
              <a:rPr lang="zh-CN" altLang="en-US" dirty="0">
                <a:solidFill>
                  <a:schemeClr val="tx1"/>
                </a:solidFill>
              </a:rPr>
              <a:t>约束与统计信息</a:t>
            </a:r>
          </a:p>
        </p:txBody>
      </p:sp>
      <p:sp>
        <p:nvSpPr>
          <p:cNvPr id="37" name="矩形: 圆角 36">
            <a:extLst>
              <a:ext uri="{FF2B5EF4-FFF2-40B4-BE49-F238E27FC236}">
                <a16:creationId xmlns:a16="http://schemas.microsoft.com/office/drawing/2014/main" id="{34B6D212-8D07-CA03-10D1-D1FF9FC54388}"/>
              </a:ext>
            </a:extLst>
          </p:cNvPr>
          <p:cNvSpPr/>
          <p:nvPr/>
        </p:nvSpPr>
        <p:spPr>
          <a:xfrm>
            <a:off x="7284724" y="3018430"/>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生成共享节点</a:t>
            </a:r>
          </a:p>
        </p:txBody>
      </p:sp>
      <p:sp>
        <p:nvSpPr>
          <p:cNvPr id="38" name="矩形: 圆角 37">
            <a:extLst>
              <a:ext uri="{FF2B5EF4-FFF2-40B4-BE49-F238E27FC236}">
                <a16:creationId xmlns:a16="http://schemas.microsoft.com/office/drawing/2014/main" id="{7955E8C8-EBEA-C90D-6CFA-E3D8FE5C997B}"/>
              </a:ext>
            </a:extLst>
          </p:cNvPr>
          <p:cNvSpPr/>
          <p:nvPr/>
        </p:nvSpPr>
        <p:spPr>
          <a:xfrm>
            <a:off x="5026155" y="3018430"/>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补充计算路径</a:t>
            </a:r>
          </a:p>
        </p:txBody>
      </p:sp>
      <p:cxnSp>
        <p:nvCxnSpPr>
          <p:cNvPr id="41" name="直接箭头连接符 40">
            <a:extLst>
              <a:ext uri="{FF2B5EF4-FFF2-40B4-BE49-F238E27FC236}">
                <a16:creationId xmlns:a16="http://schemas.microsoft.com/office/drawing/2014/main" id="{E5E8E5E1-9A12-8E35-DDDA-55FCF9C50033}"/>
              </a:ext>
            </a:extLst>
          </p:cNvPr>
          <p:cNvCxnSpPr>
            <a:cxnSpLocks/>
            <a:stCxn id="32" idx="3"/>
            <a:endCxn id="33" idx="1"/>
          </p:cNvCxnSpPr>
          <p:nvPr/>
        </p:nvCxnSpPr>
        <p:spPr>
          <a:xfrm>
            <a:off x="2285696" y="2279599"/>
            <a:ext cx="4620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BBCB6FCC-330F-233A-9EAD-BC02EA7AF1C8}"/>
              </a:ext>
            </a:extLst>
          </p:cNvPr>
          <p:cNvCxnSpPr>
            <a:cxnSpLocks/>
            <a:stCxn id="33" idx="3"/>
            <a:endCxn id="34" idx="1"/>
          </p:cNvCxnSpPr>
          <p:nvPr/>
        </p:nvCxnSpPr>
        <p:spPr>
          <a:xfrm>
            <a:off x="4429659" y="2279599"/>
            <a:ext cx="5865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11C947A6-0420-F94F-9C87-CE0E9FAFE833}"/>
              </a:ext>
            </a:extLst>
          </p:cNvPr>
          <p:cNvCxnSpPr>
            <a:cxnSpLocks/>
            <a:stCxn id="34" idx="3"/>
            <a:endCxn id="35" idx="1"/>
          </p:cNvCxnSpPr>
          <p:nvPr/>
        </p:nvCxnSpPr>
        <p:spPr>
          <a:xfrm>
            <a:off x="6698134" y="2279599"/>
            <a:ext cx="5865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4D88CA04-623E-5198-F2C4-2327CC5D31F2}"/>
              </a:ext>
            </a:extLst>
          </p:cNvPr>
          <p:cNvCxnSpPr>
            <a:cxnSpLocks/>
            <a:stCxn id="35" idx="2"/>
            <a:endCxn id="37" idx="0"/>
          </p:cNvCxnSpPr>
          <p:nvPr/>
        </p:nvCxnSpPr>
        <p:spPr>
          <a:xfrm>
            <a:off x="8125667" y="2583180"/>
            <a:ext cx="0" cy="435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13F97E5B-5F66-3F67-D409-46A3F87DB3FD}"/>
              </a:ext>
            </a:extLst>
          </p:cNvPr>
          <p:cNvCxnSpPr>
            <a:cxnSpLocks/>
            <a:endCxn id="38" idx="3"/>
          </p:cNvCxnSpPr>
          <p:nvPr/>
        </p:nvCxnSpPr>
        <p:spPr>
          <a:xfrm flipH="1">
            <a:off x="6708041" y="3322010"/>
            <a:ext cx="56937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A2CA85D9-7A7F-6BB8-5750-CAA3C188621A}"/>
              </a:ext>
            </a:extLst>
          </p:cNvPr>
          <p:cNvCxnSpPr>
            <a:cxnSpLocks/>
            <a:stCxn id="38" idx="0"/>
            <a:endCxn id="34" idx="2"/>
          </p:cNvCxnSpPr>
          <p:nvPr/>
        </p:nvCxnSpPr>
        <p:spPr>
          <a:xfrm flipH="1" flipV="1">
            <a:off x="5857191" y="2583180"/>
            <a:ext cx="9907" cy="435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BF813361-9476-041B-46DF-84F6E4E6D6EF}"/>
              </a:ext>
            </a:extLst>
          </p:cNvPr>
          <p:cNvCxnSpPr>
            <a:cxnSpLocks/>
            <a:endCxn id="35" idx="3"/>
          </p:cNvCxnSpPr>
          <p:nvPr/>
        </p:nvCxnSpPr>
        <p:spPr>
          <a:xfrm flipH="1" flipV="1">
            <a:off x="8966610" y="2279599"/>
            <a:ext cx="645562" cy="19293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FBAC2035-6C1A-484B-63EF-0E9F6E5F5D65}"/>
              </a:ext>
            </a:extLst>
          </p:cNvPr>
          <p:cNvCxnSpPr>
            <a:cxnSpLocks/>
            <a:endCxn id="37" idx="3"/>
          </p:cNvCxnSpPr>
          <p:nvPr/>
        </p:nvCxnSpPr>
        <p:spPr>
          <a:xfrm flipH="1">
            <a:off x="8966610" y="3087014"/>
            <a:ext cx="645562" cy="23499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矩形: 圆角 71">
            <a:extLst>
              <a:ext uri="{FF2B5EF4-FFF2-40B4-BE49-F238E27FC236}">
                <a16:creationId xmlns:a16="http://schemas.microsoft.com/office/drawing/2014/main" id="{E476BBF0-B7F8-E5B9-34DF-993D6B70A698}"/>
              </a:ext>
            </a:extLst>
          </p:cNvPr>
          <p:cNvSpPr/>
          <p:nvPr/>
        </p:nvSpPr>
        <p:spPr>
          <a:xfrm>
            <a:off x="512673" y="5581192"/>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选择最高</a:t>
            </a:r>
            <a:endParaRPr lang="en-US" altLang="zh-CN" dirty="0">
              <a:solidFill>
                <a:schemeClr val="tx1"/>
              </a:solidFill>
            </a:endParaRPr>
          </a:p>
          <a:p>
            <a:pPr algn="ctr"/>
            <a:r>
              <a:rPr lang="zh-CN" altLang="en-US" dirty="0">
                <a:solidFill>
                  <a:schemeClr val="tx1"/>
                </a:solidFill>
              </a:rPr>
              <a:t>权重节点</a:t>
            </a:r>
          </a:p>
        </p:txBody>
      </p:sp>
      <p:sp>
        <p:nvSpPr>
          <p:cNvPr id="73" name="矩形: 圆角 72">
            <a:extLst>
              <a:ext uri="{FF2B5EF4-FFF2-40B4-BE49-F238E27FC236}">
                <a16:creationId xmlns:a16="http://schemas.microsoft.com/office/drawing/2014/main" id="{F71EF229-7C6A-0D86-2C39-6B17E380CC3C}"/>
              </a:ext>
            </a:extLst>
          </p:cNvPr>
          <p:cNvSpPr/>
          <p:nvPr/>
        </p:nvSpPr>
        <p:spPr>
          <a:xfrm>
            <a:off x="2774899" y="3465576"/>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选择最高权重节点</a:t>
            </a:r>
          </a:p>
        </p:txBody>
      </p:sp>
      <p:cxnSp>
        <p:nvCxnSpPr>
          <p:cNvPr id="75" name="直接箭头连接符 74">
            <a:extLst>
              <a:ext uri="{FF2B5EF4-FFF2-40B4-BE49-F238E27FC236}">
                <a16:creationId xmlns:a16="http://schemas.microsoft.com/office/drawing/2014/main" id="{24A6648B-F258-1AA4-9B36-15B893200F82}"/>
              </a:ext>
            </a:extLst>
          </p:cNvPr>
          <p:cNvCxnSpPr>
            <a:cxnSpLocks/>
            <a:stCxn id="72" idx="3"/>
            <a:endCxn id="74" idx="1"/>
          </p:cNvCxnSpPr>
          <p:nvPr/>
        </p:nvCxnSpPr>
        <p:spPr>
          <a:xfrm>
            <a:off x="2194559" y="5884773"/>
            <a:ext cx="6455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矩形: 圆角 77">
            <a:extLst>
              <a:ext uri="{FF2B5EF4-FFF2-40B4-BE49-F238E27FC236}">
                <a16:creationId xmlns:a16="http://schemas.microsoft.com/office/drawing/2014/main" id="{251C6E20-642A-70A2-125A-3EBAB24F75EC}"/>
              </a:ext>
            </a:extLst>
          </p:cNvPr>
          <p:cNvSpPr/>
          <p:nvPr/>
        </p:nvSpPr>
        <p:spPr>
          <a:xfrm>
            <a:off x="6096000" y="4853638"/>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更新剩余</a:t>
            </a:r>
            <a:endParaRPr lang="en-US" altLang="zh-CN" dirty="0">
              <a:solidFill>
                <a:schemeClr val="tx1"/>
              </a:solidFill>
            </a:endParaRPr>
          </a:p>
          <a:p>
            <a:pPr algn="ctr"/>
            <a:r>
              <a:rPr lang="zh-CN" altLang="en-US" dirty="0">
                <a:solidFill>
                  <a:schemeClr val="tx1"/>
                </a:solidFill>
              </a:rPr>
              <a:t>节点权重</a:t>
            </a:r>
          </a:p>
        </p:txBody>
      </p:sp>
      <p:sp>
        <p:nvSpPr>
          <p:cNvPr id="79" name="矩形: 圆角 78">
            <a:extLst>
              <a:ext uri="{FF2B5EF4-FFF2-40B4-BE49-F238E27FC236}">
                <a16:creationId xmlns:a16="http://schemas.microsoft.com/office/drawing/2014/main" id="{9BD3937C-15A5-9A28-3E60-A6C95027E4CE}"/>
              </a:ext>
            </a:extLst>
          </p:cNvPr>
          <p:cNvSpPr/>
          <p:nvPr/>
        </p:nvSpPr>
        <p:spPr>
          <a:xfrm>
            <a:off x="4892957" y="5980178"/>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竞争分支试算</a:t>
            </a:r>
          </a:p>
        </p:txBody>
      </p:sp>
      <p:sp>
        <p:nvSpPr>
          <p:cNvPr id="80" name="矩形: 圆角 79">
            <a:extLst>
              <a:ext uri="{FF2B5EF4-FFF2-40B4-BE49-F238E27FC236}">
                <a16:creationId xmlns:a16="http://schemas.microsoft.com/office/drawing/2014/main" id="{88D0E20F-E98C-E68A-64EC-DD7F45DA56AA}"/>
              </a:ext>
            </a:extLst>
          </p:cNvPr>
          <p:cNvSpPr/>
          <p:nvPr/>
        </p:nvSpPr>
        <p:spPr>
          <a:xfrm>
            <a:off x="7155183" y="5980178"/>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各分支更新权重</a:t>
            </a:r>
            <a:endParaRPr lang="en-US" altLang="zh-CN" sz="1600" dirty="0">
              <a:solidFill>
                <a:schemeClr val="tx1"/>
              </a:solidFill>
            </a:endParaRPr>
          </a:p>
          <a:p>
            <a:pPr algn="ctr"/>
            <a:r>
              <a:rPr lang="zh-CN" altLang="en-US" sz="1600" dirty="0">
                <a:solidFill>
                  <a:schemeClr val="tx1"/>
                </a:solidFill>
              </a:rPr>
              <a:t>继续贪心选择</a:t>
            </a:r>
          </a:p>
        </p:txBody>
      </p:sp>
      <p:sp>
        <p:nvSpPr>
          <p:cNvPr id="81" name="矩形: 圆角 80">
            <a:extLst>
              <a:ext uri="{FF2B5EF4-FFF2-40B4-BE49-F238E27FC236}">
                <a16:creationId xmlns:a16="http://schemas.microsoft.com/office/drawing/2014/main" id="{1DAC0567-B4B8-5FD1-ABC4-B9659055985C}"/>
              </a:ext>
            </a:extLst>
          </p:cNvPr>
          <p:cNvSpPr/>
          <p:nvPr/>
        </p:nvSpPr>
        <p:spPr>
          <a:xfrm>
            <a:off x="9485382" y="5980178"/>
            <a:ext cx="1681886"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选择得分最高的分支</a:t>
            </a:r>
          </a:p>
        </p:txBody>
      </p:sp>
      <p:cxnSp>
        <p:nvCxnSpPr>
          <p:cNvPr id="84" name="连接符: 肘形 83">
            <a:extLst>
              <a:ext uri="{FF2B5EF4-FFF2-40B4-BE49-F238E27FC236}">
                <a16:creationId xmlns:a16="http://schemas.microsoft.com/office/drawing/2014/main" id="{BF79EF81-73DC-44F4-FA26-7AC6FF3F6D2B}"/>
              </a:ext>
            </a:extLst>
          </p:cNvPr>
          <p:cNvCxnSpPr>
            <a:cxnSpLocks/>
            <a:stCxn id="78" idx="1"/>
            <a:endCxn id="72" idx="0"/>
          </p:cNvCxnSpPr>
          <p:nvPr/>
        </p:nvCxnSpPr>
        <p:spPr>
          <a:xfrm rot="10800000" flipV="1">
            <a:off x="1353616" y="5157218"/>
            <a:ext cx="4742384" cy="4239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A0A5F0DC-FE9F-B679-8D1C-F905FF23E53E}"/>
              </a:ext>
            </a:extLst>
          </p:cNvPr>
          <p:cNvCxnSpPr>
            <a:cxnSpLocks/>
            <a:stCxn id="80" idx="3"/>
            <a:endCxn id="81" idx="1"/>
          </p:cNvCxnSpPr>
          <p:nvPr/>
        </p:nvCxnSpPr>
        <p:spPr>
          <a:xfrm>
            <a:off x="8837069" y="6283759"/>
            <a:ext cx="6483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CBC65A36-09C1-8BA4-FC39-15D4351567D3}"/>
              </a:ext>
            </a:extLst>
          </p:cNvPr>
          <p:cNvCxnSpPr>
            <a:cxnSpLocks/>
            <a:stCxn id="79" idx="3"/>
            <a:endCxn id="80" idx="1"/>
          </p:cNvCxnSpPr>
          <p:nvPr/>
        </p:nvCxnSpPr>
        <p:spPr>
          <a:xfrm>
            <a:off x="6574843" y="6283759"/>
            <a:ext cx="5803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连接符: 肘形 100">
            <a:extLst>
              <a:ext uri="{FF2B5EF4-FFF2-40B4-BE49-F238E27FC236}">
                <a16:creationId xmlns:a16="http://schemas.microsoft.com/office/drawing/2014/main" id="{EA7EAE15-CA6F-4B4E-854C-C83410F95792}"/>
              </a:ext>
            </a:extLst>
          </p:cNvPr>
          <p:cNvCxnSpPr>
            <a:cxnSpLocks/>
            <a:stCxn id="81" idx="0"/>
            <a:endCxn id="78" idx="3"/>
          </p:cNvCxnSpPr>
          <p:nvPr/>
        </p:nvCxnSpPr>
        <p:spPr>
          <a:xfrm rot="16200000" flipV="1">
            <a:off x="8640627" y="4294479"/>
            <a:ext cx="822959" cy="25484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614E1DDF-E27E-1028-CE91-B28517E35C5D}"/>
              </a:ext>
            </a:extLst>
          </p:cNvPr>
          <p:cNvSpPr txBox="1"/>
          <p:nvPr/>
        </p:nvSpPr>
        <p:spPr>
          <a:xfrm>
            <a:off x="2887368" y="5670714"/>
            <a:ext cx="1583436" cy="523220"/>
          </a:xfrm>
          <a:prstGeom prst="rect">
            <a:avLst/>
          </a:prstGeom>
          <a:noFill/>
        </p:spPr>
        <p:txBody>
          <a:bodyPr wrap="square" rtlCol="0">
            <a:spAutoFit/>
          </a:bodyPr>
          <a:lstStyle/>
          <a:p>
            <a:pPr algn="ctr"/>
            <a:r>
              <a:rPr lang="zh-CN" altLang="en-US" sz="1400" dirty="0"/>
              <a:t>存在同权重的</a:t>
            </a:r>
            <a:endParaRPr lang="en-US" altLang="zh-CN" sz="1400" dirty="0"/>
          </a:p>
          <a:p>
            <a:pPr algn="ctr"/>
            <a:r>
              <a:rPr lang="zh-CN" altLang="en-US" sz="1400" dirty="0"/>
              <a:t>竞争节点</a:t>
            </a:r>
          </a:p>
        </p:txBody>
      </p:sp>
      <p:cxnSp>
        <p:nvCxnSpPr>
          <p:cNvPr id="106" name="连接符: 肘形 105">
            <a:extLst>
              <a:ext uri="{FF2B5EF4-FFF2-40B4-BE49-F238E27FC236}">
                <a16:creationId xmlns:a16="http://schemas.microsoft.com/office/drawing/2014/main" id="{8F0825EB-00D7-53B3-C84F-D51FC318C9CE}"/>
              </a:ext>
            </a:extLst>
          </p:cNvPr>
          <p:cNvCxnSpPr>
            <a:cxnSpLocks/>
            <a:stCxn id="74" idx="3"/>
            <a:endCxn id="79" idx="1"/>
          </p:cNvCxnSpPr>
          <p:nvPr/>
        </p:nvCxnSpPr>
        <p:spPr>
          <a:xfrm>
            <a:off x="4456785" y="5884773"/>
            <a:ext cx="436172" cy="398986"/>
          </a:xfrm>
          <a:prstGeom prst="bentConnector3">
            <a:avLst>
              <a:gd name="adj1" fmla="val -314"/>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文本框 118">
            <a:extLst>
              <a:ext uri="{FF2B5EF4-FFF2-40B4-BE49-F238E27FC236}">
                <a16:creationId xmlns:a16="http://schemas.microsoft.com/office/drawing/2014/main" id="{E6CA5371-C148-A124-62C1-DFC299FC7850}"/>
              </a:ext>
            </a:extLst>
          </p:cNvPr>
          <p:cNvSpPr txBox="1"/>
          <p:nvPr/>
        </p:nvSpPr>
        <p:spPr>
          <a:xfrm>
            <a:off x="4411526" y="6005166"/>
            <a:ext cx="453844" cy="307777"/>
          </a:xfrm>
          <a:prstGeom prst="rect">
            <a:avLst/>
          </a:prstGeom>
          <a:noFill/>
        </p:spPr>
        <p:txBody>
          <a:bodyPr wrap="square" rtlCol="0">
            <a:spAutoFit/>
          </a:bodyPr>
          <a:lstStyle/>
          <a:p>
            <a:pPr algn="ctr"/>
            <a:r>
              <a:rPr lang="en-US" altLang="zh-CN" sz="1400" dirty="0"/>
              <a:t>yes</a:t>
            </a:r>
            <a:endParaRPr lang="zh-CN" altLang="en-US" sz="1400" dirty="0"/>
          </a:p>
        </p:txBody>
      </p:sp>
      <p:cxnSp>
        <p:nvCxnSpPr>
          <p:cNvPr id="120" name="连接符: 肘形 119">
            <a:extLst>
              <a:ext uri="{FF2B5EF4-FFF2-40B4-BE49-F238E27FC236}">
                <a16:creationId xmlns:a16="http://schemas.microsoft.com/office/drawing/2014/main" id="{9B4DAE2C-E0FC-BD33-08B9-1772C327B6E3}"/>
              </a:ext>
            </a:extLst>
          </p:cNvPr>
          <p:cNvCxnSpPr>
            <a:cxnSpLocks/>
            <a:stCxn id="74" idx="3"/>
            <a:endCxn id="78" idx="2"/>
          </p:cNvCxnSpPr>
          <p:nvPr/>
        </p:nvCxnSpPr>
        <p:spPr>
          <a:xfrm flipV="1">
            <a:off x="4456785" y="5460800"/>
            <a:ext cx="2480158" cy="4239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C84763E6-51C0-5C97-52FE-4564023E6250}"/>
              </a:ext>
            </a:extLst>
          </p:cNvPr>
          <p:cNvSpPr txBox="1"/>
          <p:nvPr/>
        </p:nvSpPr>
        <p:spPr>
          <a:xfrm>
            <a:off x="4427146" y="5639291"/>
            <a:ext cx="453844" cy="307777"/>
          </a:xfrm>
          <a:prstGeom prst="rect">
            <a:avLst/>
          </a:prstGeom>
          <a:noFill/>
        </p:spPr>
        <p:txBody>
          <a:bodyPr wrap="square" rtlCol="0">
            <a:spAutoFit/>
          </a:bodyPr>
          <a:lstStyle/>
          <a:p>
            <a:pPr algn="ctr"/>
            <a:r>
              <a:rPr lang="en-US" altLang="zh-CN" sz="1400" dirty="0"/>
              <a:t>no</a:t>
            </a:r>
            <a:endParaRPr lang="zh-CN" altLang="en-US" sz="1400" dirty="0"/>
          </a:p>
        </p:txBody>
      </p:sp>
    </p:spTree>
    <p:extLst>
      <p:ext uri="{BB962C8B-B14F-4D97-AF65-F5344CB8AC3E}">
        <p14:creationId xmlns:p14="http://schemas.microsoft.com/office/powerpoint/2010/main" val="3681331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A83D2-6580-58C7-9C2A-B594C410D8CB}"/>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E4656264-8E3E-0CA5-ED3D-AF12F5E59978}"/>
              </a:ext>
            </a:extLst>
          </p:cNvPr>
          <p:cNvSpPr/>
          <p:nvPr/>
        </p:nvSpPr>
        <p:spPr>
          <a:xfrm>
            <a:off x="2702355" y="-213759"/>
            <a:ext cx="1432560"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选择</a:t>
            </a:r>
            <a:r>
              <a:rPr lang="en-US" altLang="zh-CN" dirty="0">
                <a:solidFill>
                  <a:schemeClr val="tx1"/>
                </a:solidFill>
              </a:rPr>
              <a:t>F</a:t>
            </a:r>
            <a:r>
              <a:rPr lang="zh-CN" altLang="en-US" dirty="0">
                <a:solidFill>
                  <a:schemeClr val="tx1"/>
                </a:solidFill>
              </a:rPr>
              <a:t>、</a:t>
            </a:r>
            <a:r>
              <a:rPr lang="en-US" altLang="zh-CN" dirty="0">
                <a:solidFill>
                  <a:schemeClr val="tx1"/>
                </a:solidFill>
              </a:rPr>
              <a:t>J23</a:t>
            </a:r>
          </a:p>
          <a:p>
            <a:pPr algn="ctr"/>
            <a:r>
              <a:rPr lang="zh-CN" altLang="en-US" dirty="0">
                <a:solidFill>
                  <a:schemeClr val="tx1"/>
                </a:solidFill>
              </a:rPr>
              <a:t>评分</a:t>
            </a:r>
            <a:r>
              <a:rPr lang="en-US" altLang="zh-CN" dirty="0">
                <a:solidFill>
                  <a:schemeClr val="tx1"/>
                </a:solidFill>
              </a:rPr>
              <a:t>+4</a:t>
            </a:r>
            <a:endParaRPr lang="zh-CN" altLang="en-US" dirty="0">
              <a:solidFill>
                <a:schemeClr val="tx1"/>
              </a:solidFill>
            </a:endParaRPr>
          </a:p>
        </p:txBody>
      </p:sp>
      <p:sp>
        <p:nvSpPr>
          <p:cNvPr id="3" name="矩形: 圆角 2">
            <a:extLst>
              <a:ext uri="{FF2B5EF4-FFF2-40B4-BE49-F238E27FC236}">
                <a16:creationId xmlns:a16="http://schemas.microsoft.com/office/drawing/2014/main" id="{CE8BA7F3-BE0C-02E9-7C60-9E47E2ACBE9A}"/>
              </a:ext>
            </a:extLst>
          </p:cNvPr>
          <p:cNvSpPr/>
          <p:nvPr/>
        </p:nvSpPr>
        <p:spPr>
          <a:xfrm>
            <a:off x="2352595" y="773994"/>
            <a:ext cx="2132079" cy="607162"/>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剩余候选</a:t>
            </a:r>
            <a:endParaRPr lang="en-US" altLang="zh-CN" dirty="0">
              <a:solidFill>
                <a:schemeClr val="tx1"/>
              </a:solidFill>
            </a:endParaRPr>
          </a:p>
          <a:p>
            <a:pPr algn="ctr"/>
            <a:r>
              <a:rPr lang="en-US" altLang="zh-CN" dirty="0">
                <a:solidFill>
                  <a:schemeClr val="tx1"/>
                </a:solidFill>
              </a:rPr>
              <a:t>J23:2;  Sf:2;  mv3:2</a:t>
            </a:r>
            <a:endParaRPr lang="zh-CN" altLang="en-US" dirty="0">
              <a:solidFill>
                <a:schemeClr val="tx1"/>
              </a:solidFill>
            </a:endParaRPr>
          </a:p>
        </p:txBody>
      </p:sp>
      <p:sp>
        <p:nvSpPr>
          <p:cNvPr id="8" name="矩形: 圆角 7">
            <a:extLst>
              <a:ext uri="{FF2B5EF4-FFF2-40B4-BE49-F238E27FC236}">
                <a16:creationId xmlns:a16="http://schemas.microsoft.com/office/drawing/2014/main" id="{F1945B58-8936-7B8F-0192-5FB7BBE00157}"/>
              </a:ext>
            </a:extLst>
          </p:cNvPr>
          <p:cNvSpPr/>
          <p:nvPr/>
        </p:nvSpPr>
        <p:spPr>
          <a:xfrm>
            <a:off x="1565601" y="1871079"/>
            <a:ext cx="1573988"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先选</a:t>
            </a:r>
            <a:r>
              <a:rPr lang="en-US" altLang="zh-CN" dirty="0">
                <a:solidFill>
                  <a:schemeClr val="tx1"/>
                </a:solidFill>
              </a:rPr>
              <a:t>J23</a:t>
            </a:r>
          </a:p>
          <a:p>
            <a:pPr algn="ctr"/>
            <a:r>
              <a:rPr lang="zh-CN" altLang="en-US" dirty="0">
                <a:solidFill>
                  <a:schemeClr val="tx1"/>
                </a:solidFill>
              </a:rPr>
              <a:t>服务</a:t>
            </a:r>
            <a:r>
              <a:rPr lang="en-US" altLang="zh-CN" dirty="0">
                <a:solidFill>
                  <a:schemeClr val="tx1"/>
                </a:solidFill>
              </a:rPr>
              <a:t>mv1,mv4</a:t>
            </a:r>
          </a:p>
        </p:txBody>
      </p:sp>
      <p:sp>
        <p:nvSpPr>
          <p:cNvPr id="10" name="矩形: 圆角 9">
            <a:extLst>
              <a:ext uri="{FF2B5EF4-FFF2-40B4-BE49-F238E27FC236}">
                <a16:creationId xmlns:a16="http://schemas.microsoft.com/office/drawing/2014/main" id="{DAF26086-9A0F-EFB6-171A-BA4C3E986279}"/>
              </a:ext>
            </a:extLst>
          </p:cNvPr>
          <p:cNvSpPr/>
          <p:nvPr/>
        </p:nvSpPr>
        <p:spPr>
          <a:xfrm>
            <a:off x="3697680" y="1871079"/>
            <a:ext cx="1573988"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先选</a:t>
            </a:r>
            <a:r>
              <a:rPr lang="en-US" altLang="zh-CN" dirty="0">
                <a:solidFill>
                  <a:schemeClr val="tx1"/>
                </a:solidFill>
              </a:rPr>
              <a:t>Sf</a:t>
            </a:r>
          </a:p>
          <a:p>
            <a:pPr algn="ctr"/>
            <a:r>
              <a:rPr lang="zh-CN" altLang="en-US" dirty="0">
                <a:solidFill>
                  <a:schemeClr val="tx1"/>
                </a:solidFill>
              </a:rPr>
              <a:t>服务</a:t>
            </a:r>
            <a:r>
              <a:rPr lang="en-US" altLang="zh-CN" dirty="0">
                <a:solidFill>
                  <a:schemeClr val="tx1"/>
                </a:solidFill>
              </a:rPr>
              <a:t>mv1,mv2</a:t>
            </a:r>
          </a:p>
        </p:txBody>
      </p:sp>
      <p:sp>
        <p:nvSpPr>
          <p:cNvPr id="12" name="矩形: 圆角 11">
            <a:extLst>
              <a:ext uri="{FF2B5EF4-FFF2-40B4-BE49-F238E27FC236}">
                <a16:creationId xmlns:a16="http://schemas.microsoft.com/office/drawing/2014/main" id="{8C5E3500-8CC2-EC9A-123B-E448AD098751}"/>
              </a:ext>
            </a:extLst>
          </p:cNvPr>
          <p:cNvSpPr/>
          <p:nvPr/>
        </p:nvSpPr>
        <p:spPr>
          <a:xfrm>
            <a:off x="1214323" y="2833377"/>
            <a:ext cx="2033936" cy="607162"/>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Sf</a:t>
            </a:r>
            <a:r>
              <a:rPr lang="zh-CN" altLang="en-US" dirty="0">
                <a:solidFill>
                  <a:schemeClr val="tx1"/>
                </a:solidFill>
              </a:rPr>
              <a:t>失去</a:t>
            </a:r>
            <a:r>
              <a:rPr lang="en-US" altLang="zh-CN" dirty="0">
                <a:solidFill>
                  <a:schemeClr val="tx1"/>
                </a:solidFill>
              </a:rPr>
              <a:t>mv1:2-&gt;1  </a:t>
            </a:r>
          </a:p>
          <a:p>
            <a:pPr algn="ctr"/>
            <a:r>
              <a:rPr lang="en-US" altLang="zh-CN" dirty="0">
                <a:solidFill>
                  <a:schemeClr val="tx1"/>
                </a:solidFill>
              </a:rPr>
              <a:t>mv3</a:t>
            </a:r>
            <a:r>
              <a:rPr lang="zh-CN" altLang="en-US" dirty="0">
                <a:solidFill>
                  <a:schemeClr val="tx1"/>
                </a:solidFill>
              </a:rPr>
              <a:t>失去</a:t>
            </a:r>
            <a:r>
              <a:rPr lang="en-US" altLang="zh-CN" dirty="0">
                <a:solidFill>
                  <a:schemeClr val="tx1"/>
                </a:solidFill>
              </a:rPr>
              <a:t>mv4:2-&gt;1</a:t>
            </a:r>
            <a:endParaRPr lang="zh-CN" altLang="en-US" dirty="0">
              <a:solidFill>
                <a:schemeClr val="tx1"/>
              </a:solidFill>
            </a:endParaRPr>
          </a:p>
        </p:txBody>
      </p:sp>
      <p:sp>
        <p:nvSpPr>
          <p:cNvPr id="13" name="矩形: 圆角 12">
            <a:extLst>
              <a:ext uri="{FF2B5EF4-FFF2-40B4-BE49-F238E27FC236}">
                <a16:creationId xmlns:a16="http://schemas.microsoft.com/office/drawing/2014/main" id="{8888C20E-A637-72A6-982A-29DFACA68303}"/>
              </a:ext>
            </a:extLst>
          </p:cNvPr>
          <p:cNvSpPr/>
          <p:nvPr/>
        </p:nvSpPr>
        <p:spPr>
          <a:xfrm>
            <a:off x="3551837" y="2833377"/>
            <a:ext cx="2033936" cy="355135"/>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J123</a:t>
            </a:r>
            <a:r>
              <a:rPr lang="zh-CN" altLang="en-US" dirty="0">
                <a:solidFill>
                  <a:schemeClr val="tx1"/>
                </a:solidFill>
              </a:rPr>
              <a:t>失去</a:t>
            </a:r>
            <a:r>
              <a:rPr lang="en-US" altLang="zh-CN" dirty="0">
                <a:solidFill>
                  <a:schemeClr val="tx1"/>
                </a:solidFill>
              </a:rPr>
              <a:t>mv1:2-&gt;1  </a:t>
            </a:r>
          </a:p>
        </p:txBody>
      </p:sp>
      <p:sp>
        <p:nvSpPr>
          <p:cNvPr id="15" name="矩形: 圆角 14">
            <a:extLst>
              <a:ext uri="{FF2B5EF4-FFF2-40B4-BE49-F238E27FC236}">
                <a16:creationId xmlns:a16="http://schemas.microsoft.com/office/drawing/2014/main" id="{3EB741B9-BD0B-C2BD-832E-3A5A73496544}"/>
              </a:ext>
            </a:extLst>
          </p:cNvPr>
          <p:cNvSpPr/>
          <p:nvPr/>
        </p:nvSpPr>
        <p:spPr>
          <a:xfrm>
            <a:off x="1274448" y="4375905"/>
            <a:ext cx="1913685" cy="607162"/>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无额外共享候选</a:t>
            </a:r>
            <a:endParaRPr lang="en-US" altLang="zh-CN" dirty="0">
              <a:solidFill>
                <a:schemeClr val="tx1"/>
              </a:solidFill>
            </a:endParaRPr>
          </a:p>
          <a:p>
            <a:pPr algn="ctr"/>
            <a:r>
              <a:rPr lang="zh-CN" altLang="en-US" dirty="0">
                <a:solidFill>
                  <a:schemeClr val="tx1"/>
                </a:solidFill>
              </a:rPr>
              <a:t>补全计算路径</a:t>
            </a:r>
          </a:p>
        </p:txBody>
      </p:sp>
      <p:sp>
        <p:nvSpPr>
          <p:cNvPr id="16" name="矩形: 圆角 15">
            <a:extLst>
              <a:ext uri="{FF2B5EF4-FFF2-40B4-BE49-F238E27FC236}">
                <a16:creationId xmlns:a16="http://schemas.microsoft.com/office/drawing/2014/main" id="{0B887E0B-E2EA-FBAA-6B5D-69799D548CFC}"/>
              </a:ext>
            </a:extLst>
          </p:cNvPr>
          <p:cNvSpPr/>
          <p:nvPr/>
        </p:nvSpPr>
        <p:spPr>
          <a:xfrm>
            <a:off x="3781811" y="3454294"/>
            <a:ext cx="1573988"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选择</a:t>
            </a:r>
            <a:r>
              <a:rPr lang="en-US" altLang="zh-CN" dirty="0">
                <a:solidFill>
                  <a:schemeClr val="tx1"/>
                </a:solidFill>
              </a:rPr>
              <a:t>mv3</a:t>
            </a:r>
          </a:p>
          <a:p>
            <a:pPr algn="ctr"/>
            <a:r>
              <a:rPr lang="zh-CN" altLang="en-US" dirty="0">
                <a:solidFill>
                  <a:schemeClr val="tx1"/>
                </a:solidFill>
              </a:rPr>
              <a:t>服务</a:t>
            </a:r>
            <a:r>
              <a:rPr lang="en-US" altLang="zh-CN" dirty="0">
                <a:solidFill>
                  <a:schemeClr val="tx1"/>
                </a:solidFill>
              </a:rPr>
              <a:t>mv3,mv4</a:t>
            </a:r>
          </a:p>
        </p:txBody>
      </p:sp>
      <p:sp>
        <p:nvSpPr>
          <p:cNvPr id="17" name="矩形: 圆角 16">
            <a:extLst>
              <a:ext uri="{FF2B5EF4-FFF2-40B4-BE49-F238E27FC236}">
                <a16:creationId xmlns:a16="http://schemas.microsoft.com/office/drawing/2014/main" id="{8BF1329F-539C-8D6B-A8C2-0F387E7E4928}"/>
              </a:ext>
            </a:extLst>
          </p:cNvPr>
          <p:cNvSpPr/>
          <p:nvPr/>
        </p:nvSpPr>
        <p:spPr>
          <a:xfrm>
            <a:off x="1414883" y="5279377"/>
            <a:ext cx="1632814" cy="405170"/>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得分</a:t>
            </a:r>
            <a:r>
              <a:rPr lang="en-US" altLang="zh-CN" dirty="0">
                <a:solidFill>
                  <a:schemeClr val="tx1"/>
                </a:solidFill>
              </a:rPr>
              <a:t>:4+1=5</a:t>
            </a:r>
            <a:endParaRPr lang="zh-CN" altLang="en-US" dirty="0">
              <a:solidFill>
                <a:schemeClr val="tx1"/>
              </a:solidFill>
            </a:endParaRPr>
          </a:p>
        </p:txBody>
      </p:sp>
      <p:sp>
        <p:nvSpPr>
          <p:cNvPr id="18" name="矩形: 圆角 17">
            <a:extLst>
              <a:ext uri="{FF2B5EF4-FFF2-40B4-BE49-F238E27FC236}">
                <a16:creationId xmlns:a16="http://schemas.microsoft.com/office/drawing/2014/main" id="{68BF753C-D4BC-CE63-3F4C-BDCBD15DFEEB}"/>
              </a:ext>
            </a:extLst>
          </p:cNvPr>
          <p:cNvSpPr/>
          <p:nvPr/>
        </p:nvSpPr>
        <p:spPr>
          <a:xfrm>
            <a:off x="3752397" y="5276845"/>
            <a:ext cx="1632814" cy="405170"/>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得分</a:t>
            </a:r>
            <a:r>
              <a:rPr lang="en-US" altLang="zh-CN" dirty="0">
                <a:solidFill>
                  <a:schemeClr val="tx1"/>
                </a:solidFill>
              </a:rPr>
              <a:t>:4+1+1=6</a:t>
            </a:r>
            <a:endParaRPr lang="zh-CN" altLang="en-US" dirty="0">
              <a:solidFill>
                <a:schemeClr val="tx1"/>
              </a:solidFill>
            </a:endParaRPr>
          </a:p>
        </p:txBody>
      </p:sp>
      <p:cxnSp>
        <p:nvCxnSpPr>
          <p:cNvPr id="21" name="直接箭头连接符 20">
            <a:extLst>
              <a:ext uri="{FF2B5EF4-FFF2-40B4-BE49-F238E27FC236}">
                <a16:creationId xmlns:a16="http://schemas.microsoft.com/office/drawing/2014/main" id="{DF290B32-48D6-92F9-90D8-350D96E40E66}"/>
              </a:ext>
            </a:extLst>
          </p:cNvPr>
          <p:cNvCxnSpPr>
            <a:cxnSpLocks/>
            <a:stCxn id="2" idx="2"/>
            <a:endCxn id="3" idx="0"/>
          </p:cNvCxnSpPr>
          <p:nvPr/>
        </p:nvCxnSpPr>
        <p:spPr>
          <a:xfrm>
            <a:off x="3418635" y="393403"/>
            <a:ext cx="0" cy="38059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939BFBA-4590-AAD4-2737-773BFDFABA9F}"/>
              </a:ext>
            </a:extLst>
          </p:cNvPr>
          <p:cNvCxnSpPr>
            <a:cxnSpLocks/>
            <a:stCxn id="10" idx="2"/>
            <a:endCxn id="13" idx="0"/>
          </p:cNvCxnSpPr>
          <p:nvPr/>
        </p:nvCxnSpPr>
        <p:spPr>
          <a:xfrm>
            <a:off x="4484674" y="2478241"/>
            <a:ext cx="84131" cy="355136"/>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E2994BA1-E63C-41C2-5603-A51DC42CBE50}"/>
              </a:ext>
            </a:extLst>
          </p:cNvPr>
          <p:cNvCxnSpPr>
            <a:cxnSpLocks/>
            <a:stCxn id="3" idx="2"/>
            <a:endCxn id="8" idx="0"/>
          </p:cNvCxnSpPr>
          <p:nvPr/>
        </p:nvCxnSpPr>
        <p:spPr>
          <a:xfrm rot="5400000">
            <a:off x="2640654" y="1093097"/>
            <a:ext cx="489923" cy="106604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B4A26FB3-E28F-F5B8-435D-43D895C59304}"/>
              </a:ext>
            </a:extLst>
          </p:cNvPr>
          <p:cNvCxnSpPr>
            <a:cxnSpLocks/>
            <a:stCxn id="3" idx="2"/>
            <a:endCxn id="10" idx="0"/>
          </p:cNvCxnSpPr>
          <p:nvPr/>
        </p:nvCxnSpPr>
        <p:spPr>
          <a:xfrm rot="16200000" flipH="1">
            <a:off x="3706693" y="1093097"/>
            <a:ext cx="489923" cy="106603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A70F13B-1FB0-1FF0-DC83-313A468A4894}"/>
              </a:ext>
            </a:extLst>
          </p:cNvPr>
          <p:cNvCxnSpPr>
            <a:cxnSpLocks/>
            <a:stCxn id="8" idx="2"/>
            <a:endCxn id="12" idx="0"/>
          </p:cNvCxnSpPr>
          <p:nvPr/>
        </p:nvCxnSpPr>
        <p:spPr>
          <a:xfrm flipH="1">
            <a:off x="2231291" y="2478241"/>
            <a:ext cx="121304" cy="355136"/>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矩形: 圆角 50">
            <a:extLst>
              <a:ext uri="{FF2B5EF4-FFF2-40B4-BE49-F238E27FC236}">
                <a16:creationId xmlns:a16="http://schemas.microsoft.com/office/drawing/2014/main" id="{04A687B7-DEFF-403D-481F-0EDA8B544F86}"/>
              </a:ext>
            </a:extLst>
          </p:cNvPr>
          <p:cNvSpPr/>
          <p:nvPr/>
        </p:nvSpPr>
        <p:spPr>
          <a:xfrm>
            <a:off x="3611962" y="4375905"/>
            <a:ext cx="1913685" cy="607162"/>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无额外共享候选</a:t>
            </a:r>
            <a:endParaRPr lang="en-US" altLang="zh-CN" dirty="0">
              <a:solidFill>
                <a:schemeClr val="tx1"/>
              </a:solidFill>
            </a:endParaRPr>
          </a:p>
          <a:p>
            <a:pPr algn="ctr"/>
            <a:r>
              <a:rPr lang="zh-CN" altLang="en-US" dirty="0">
                <a:solidFill>
                  <a:schemeClr val="tx1"/>
                </a:solidFill>
              </a:rPr>
              <a:t>补全计算路径</a:t>
            </a:r>
          </a:p>
        </p:txBody>
      </p:sp>
      <p:cxnSp>
        <p:nvCxnSpPr>
          <p:cNvPr id="54" name="直接箭头连接符 53">
            <a:extLst>
              <a:ext uri="{FF2B5EF4-FFF2-40B4-BE49-F238E27FC236}">
                <a16:creationId xmlns:a16="http://schemas.microsoft.com/office/drawing/2014/main" id="{4301AD32-7BC1-C665-C394-6662BF027351}"/>
              </a:ext>
            </a:extLst>
          </p:cNvPr>
          <p:cNvCxnSpPr>
            <a:cxnSpLocks/>
            <a:stCxn id="13" idx="2"/>
            <a:endCxn id="16" idx="0"/>
          </p:cNvCxnSpPr>
          <p:nvPr/>
        </p:nvCxnSpPr>
        <p:spPr>
          <a:xfrm>
            <a:off x="4568805" y="3188512"/>
            <a:ext cx="0" cy="265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1FE91423-78A2-EE93-A6E7-F25D04CED864}"/>
              </a:ext>
            </a:extLst>
          </p:cNvPr>
          <p:cNvCxnSpPr>
            <a:cxnSpLocks/>
            <a:stCxn id="16" idx="2"/>
            <a:endCxn id="51" idx="0"/>
          </p:cNvCxnSpPr>
          <p:nvPr/>
        </p:nvCxnSpPr>
        <p:spPr>
          <a:xfrm>
            <a:off x="4568805" y="4061456"/>
            <a:ext cx="0" cy="314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C0772217-F7EF-429D-EF5C-EC072E475B0E}"/>
              </a:ext>
            </a:extLst>
          </p:cNvPr>
          <p:cNvCxnSpPr>
            <a:cxnSpLocks/>
            <a:stCxn id="12" idx="2"/>
            <a:endCxn id="15" idx="0"/>
          </p:cNvCxnSpPr>
          <p:nvPr/>
        </p:nvCxnSpPr>
        <p:spPr>
          <a:xfrm>
            <a:off x="2231291" y="3440539"/>
            <a:ext cx="0" cy="935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5509C37D-71B7-F6F9-7587-29B9BC4E977F}"/>
              </a:ext>
            </a:extLst>
          </p:cNvPr>
          <p:cNvCxnSpPr>
            <a:cxnSpLocks/>
            <a:stCxn id="15" idx="2"/>
            <a:endCxn id="17" idx="0"/>
          </p:cNvCxnSpPr>
          <p:nvPr/>
        </p:nvCxnSpPr>
        <p:spPr>
          <a:xfrm flipH="1">
            <a:off x="2231290" y="4983067"/>
            <a:ext cx="1" cy="296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C905AF2A-168E-8D9E-4969-98442B578F06}"/>
              </a:ext>
            </a:extLst>
          </p:cNvPr>
          <p:cNvCxnSpPr>
            <a:cxnSpLocks/>
            <a:stCxn id="51" idx="2"/>
            <a:endCxn id="18" idx="0"/>
          </p:cNvCxnSpPr>
          <p:nvPr/>
        </p:nvCxnSpPr>
        <p:spPr>
          <a:xfrm flipH="1">
            <a:off x="4568804" y="4983067"/>
            <a:ext cx="1" cy="29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矩形: 圆角 85">
            <a:extLst>
              <a:ext uri="{FF2B5EF4-FFF2-40B4-BE49-F238E27FC236}">
                <a16:creationId xmlns:a16="http://schemas.microsoft.com/office/drawing/2014/main" id="{3E75D49A-89C3-6C10-AF47-771304924F6E}"/>
              </a:ext>
            </a:extLst>
          </p:cNvPr>
          <p:cNvSpPr/>
          <p:nvPr/>
        </p:nvSpPr>
        <p:spPr>
          <a:xfrm>
            <a:off x="2502101" y="6263089"/>
            <a:ext cx="1632814" cy="405170"/>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选择</a:t>
            </a:r>
            <a:r>
              <a:rPr lang="en-US" altLang="zh-CN" dirty="0">
                <a:solidFill>
                  <a:schemeClr val="tx1"/>
                </a:solidFill>
              </a:rPr>
              <a:t>Sf,mv3</a:t>
            </a:r>
            <a:endParaRPr lang="zh-CN" altLang="en-US" dirty="0">
              <a:solidFill>
                <a:schemeClr val="tx1"/>
              </a:solidFill>
            </a:endParaRPr>
          </a:p>
        </p:txBody>
      </p:sp>
      <p:cxnSp>
        <p:nvCxnSpPr>
          <p:cNvPr id="90" name="连接符: 肘形 89">
            <a:extLst>
              <a:ext uri="{FF2B5EF4-FFF2-40B4-BE49-F238E27FC236}">
                <a16:creationId xmlns:a16="http://schemas.microsoft.com/office/drawing/2014/main" id="{59CD1A2F-63A1-AAA9-9BD5-2634B96FCCDC}"/>
              </a:ext>
            </a:extLst>
          </p:cNvPr>
          <p:cNvCxnSpPr>
            <a:cxnSpLocks/>
            <a:stCxn id="17" idx="2"/>
            <a:endCxn id="86" idx="0"/>
          </p:cNvCxnSpPr>
          <p:nvPr/>
        </p:nvCxnSpPr>
        <p:spPr>
          <a:xfrm rot="16200000" flipH="1">
            <a:off x="2485628" y="5430209"/>
            <a:ext cx="578542" cy="108721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连接符: 肘形 93">
            <a:extLst>
              <a:ext uri="{FF2B5EF4-FFF2-40B4-BE49-F238E27FC236}">
                <a16:creationId xmlns:a16="http://schemas.microsoft.com/office/drawing/2014/main" id="{54A2EF3D-85AF-7701-4119-DEE5050E35B7}"/>
              </a:ext>
            </a:extLst>
          </p:cNvPr>
          <p:cNvCxnSpPr>
            <a:cxnSpLocks/>
            <a:stCxn id="18" idx="2"/>
            <a:endCxn id="86" idx="0"/>
          </p:cNvCxnSpPr>
          <p:nvPr/>
        </p:nvCxnSpPr>
        <p:spPr>
          <a:xfrm rot="5400000">
            <a:off x="3653119" y="5347404"/>
            <a:ext cx="581074" cy="125029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8261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1CED7-6E16-AA98-2FC1-FC496134EAD8}"/>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19753B49-1306-09DF-AB31-4EA77DA6430C}"/>
              </a:ext>
            </a:extLst>
          </p:cNvPr>
          <p:cNvSpPr/>
          <p:nvPr/>
        </p:nvSpPr>
        <p:spPr>
          <a:xfrm>
            <a:off x="971670" y="1083523"/>
            <a:ext cx="1432560"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选择</a:t>
            </a:r>
            <a:r>
              <a:rPr lang="en-US" altLang="zh-CN" dirty="0">
                <a:solidFill>
                  <a:schemeClr val="tx1"/>
                </a:solidFill>
              </a:rPr>
              <a:t>F</a:t>
            </a:r>
            <a:r>
              <a:rPr lang="zh-CN" altLang="en-US" dirty="0">
                <a:solidFill>
                  <a:schemeClr val="tx1"/>
                </a:solidFill>
              </a:rPr>
              <a:t>、</a:t>
            </a:r>
            <a:r>
              <a:rPr lang="en-US" altLang="zh-CN" dirty="0">
                <a:solidFill>
                  <a:schemeClr val="tx1"/>
                </a:solidFill>
              </a:rPr>
              <a:t>J23</a:t>
            </a:r>
          </a:p>
          <a:p>
            <a:pPr algn="ctr"/>
            <a:r>
              <a:rPr lang="zh-CN" altLang="en-US" dirty="0">
                <a:solidFill>
                  <a:schemeClr val="tx1"/>
                </a:solidFill>
              </a:rPr>
              <a:t>评分</a:t>
            </a:r>
            <a:r>
              <a:rPr lang="en-US" altLang="zh-CN" dirty="0">
                <a:solidFill>
                  <a:schemeClr val="tx1"/>
                </a:solidFill>
              </a:rPr>
              <a:t>+4</a:t>
            </a:r>
            <a:endParaRPr lang="zh-CN" altLang="en-US" dirty="0">
              <a:solidFill>
                <a:schemeClr val="tx1"/>
              </a:solidFill>
            </a:endParaRPr>
          </a:p>
        </p:txBody>
      </p:sp>
      <p:sp>
        <p:nvSpPr>
          <p:cNvPr id="3" name="矩形: 圆角 2">
            <a:extLst>
              <a:ext uri="{FF2B5EF4-FFF2-40B4-BE49-F238E27FC236}">
                <a16:creationId xmlns:a16="http://schemas.microsoft.com/office/drawing/2014/main" id="{63ED2F20-D449-BE87-4BFA-E712D95449E3}"/>
              </a:ext>
            </a:extLst>
          </p:cNvPr>
          <p:cNvSpPr/>
          <p:nvPr/>
        </p:nvSpPr>
        <p:spPr>
          <a:xfrm>
            <a:off x="641381" y="2041424"/>
            <a:ext cx="2132079" cy="607162"/>
          </a:xfrm>
          <a:prstGeom prst="roundRect">
            <a:avLst/>
          </a:prstGeom>
          <a:solidFill>
            <a:schemeClr val="accent2">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剩余候选</a:t>
            </a:r>
            <a:endParaRPr lang="en-US" altLang="zh-CN" dirty="0">
              <a:solidFill>
                <a:schemeClr val="tx1"/>
              </a:solidFill>
            </a:endParaRPr>
          </a:p>
          <a:p>
            <a:pPr algn="ctr"/>
            <a:r>
              <a:rPr lang="en-US" altLang="zh-CN" dirty="0">
                <a:solidFill>
                  <a:schemeClr val="tx1"/>
                </a:solidFill>
              </a:rPr>
              <a:t>J23:2;  Sf:2;  mv3:2</a:t>
            </a:r>
            <a:endParaRPr lang="zh-CN" altLang="en-US" dirty="0">
              <a:solidFill>
                <a:schemeClr val="tx1"/>
              </a:solidFill>
            </a:endParaRPr>
          </a:p>
        </p:txBody>
      </p:sp>
      <p:sp>
        <p:nvSpPr>
          <p:cNvPr id="10" name="矩形: 圆角 9">
            <a:extLst>
              <a:ext uri="{FF2B5EF4-FFF2-40B4-BE49-F238E27FC236}">
                <a16:creationId xmlns:a16="http://schemas.microsoft.com/office/drawing/2014/main" id="{11FABCB4-DCFE-E7A8-CFF1-95B2A2DA9E7E}"/>
              </a:ext>
            </a:extLst>
          </p:cNvPr>
          <p:cNvSpPr/>
          <p:nvPr/>
        </p:nvSpPr>
        <p:spPr>
          <a:xfrm>
            <a:off x="3235079" y="2579214"/>
            <a:ext cx="1573988"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先选</a:t>
            </a:r>
            <a:r>
              <a:rPr lang="en-US" altLang="zh-CN" dirty="0">
                <a:solidFill>
                  <a:schemeClr val="tx1"/>
                </a:solidFill>
              </a:rPr>
              <a:t>Sf</a:t>
            </a:r>
          </a:p>
          <a:p>
            <a:pPr algn="ctr"/>
            <a:r>
              <a:rPr lang="zh-CN" altLang="en-US" dirty="0">
                <a:solidFill>
                  <a:schemeClr val="tx1"/>
                </a:solidFill>
              </a:rPr>
              <a:t>服务</a:t>
            </a:r>
            <a:r>
              <a:rPr lang="en-US" altLang="zh-CN" dirty="0">
                <a:solidFill>
                  <a:schemeClr val="tx1"/>
                </a:solidFill>
              </a:rPr>
              <a:t>mv1,mv2</a:t>
            </a:r>
          </a:p>
        </p:txBody>
      </p:sp>
      <p:sp>
        <p:nvSpPr>
          <p:cNvPr id="13" name="矩形: 圆角 12">
            <a:extLst>
              <a:ext uri="{FF2B5EF4-FFF2-40B4-BE49-F238E27FC236}">
                <a16:creationId xmlns:a16="http://schemas.microsoft.com/office/drawing/2014/main" id="{7C2A564F-D684-0F4F-FDE3-59A9A51692F3}"/>
              </a:ext>
            </a:extLst>
          </p:cNvPr>
          <p:cNvSpPr/>
          <p:nvPr/>
        </p:nvSpPr>
        <p:spPr>
          <a:xfrm>
            <a:off x="3004269" y="3489957"/>
            <a:ext cx="2033936" cy="355135"/>
          </a:xfrm>
          <a:prstGeom prst="roundRect">
            <a:avLst/>
          </a:prstGeom>
          <a:solidFill>
            <a:schemeClr val="accent2">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J123</a:t>
            </a:r>
            <a:r>
              <a:rPr lang="zh-CN" altLang="en-US" dirty="0">
                <a:solidFill>
                  <a:schemeClr val="tx1"/>
                </a:solidFill>
              </a:rPr>
              <a:t>失去</a:t>
            </a:r>
            <a:r>
              <a:rPr lang="en-US" altLang="zh-CN" dirty="0">
                <a:solidFill>
                  <a:schemeClr val="tx1"/>
                </a:solidFill>
              </a:rPr>
              <a:t>mv1:2-&gt;1  </a:t>
            </a:r>
          </a:p>
        </p:txBody>
      </p:sp>
      <p:sp>
        <p:nvSpPr>
          <p:cNvPr id="16" name="矩形: 圆角 15">
            <a:extLst>
              <a:ext uri="{FF2B5EF4-FFF2-40B4-BE49-F238E27FC236}">
                <a16:creationId xmlns:a16="http://schemas.microsoft.com/office/drawing/2014/main" id="{24978A6C-ABDC-35F1-BCF3-F6DC176B3C4D}"/>
              </a:ext>
            </a:extLst>
          </p:cNvPr>
          <p:cNvSpPr/>
          <p:nvPr/>
        </p:nvSpPr>
        <p:spPr>
          <a:xfrm>
            <a:off x="5094547" y="2581452"/>
            <a:ext cx="1573988"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选择</a:t>
            </a:r>
            <a:r>
              <a:rPr lang="en-US" altLang="zh-CN" dirty="0">
                <a:solidFill>
                  <a:schemeClr val="tx1"/>
                </a:solidFill>
              </a:rPr>
              <a:t>mv3</a:t>
            </a:r>
          </a:p>
          <a:p>
            <a:pPr algn="ctr"/>
            <a:r>
              <a:rPr lang="zh-CN" altLang="en-US" dirty="0">
                <a:solidFill>
                  <a:schemeClr val="tx1"/>
                </a:solidFill>
              </a:rPr>
              <a:t>服务</a:t>
            </a:r>
            <a:r>
              <a:rPr lang="en-US" altLang="zh-CN" dirty="0">
                <a:solidFill>
                  <a:schemeClr val="tx1"/>
                </a:solidFill>
              </a:rPr>
              <a:t>mv3,mv4</a:t>
            </a:r>
          </a:p>
        </p:txBody>
      </p:sp>
      <p:cxnSp>
        <p:nvCxnSpPr>
          <p:cNvPr id="21" name="直接箭头连接符 20">
            <a:extLst>
              <a:ext uri="{FF2B5EF4-FFF2-40B4-BE49-F238E27FC236}">
                <a16:creationId xmlns:a16="http://schemas.microsoft.com/office/drawing/2014/main" id="{7209D02B-D276-A23F-3730-39AF8B926601}"/>
              </a:ext>
            </a:extLst>
          </p:cNvPr>
          <p:cNvCxnSpPr>
            <a:cxnSpLocks/>
            <a:stCxn id="2" idx="2"/>
            <a:endCxn id="3" idx="0"/>
          </p:cNvCxnSpPr>
          <p:nvPr/>
        </p:nvCxnSpPr>
        <p:spPr>
          <a:xfrm>
            <a:off x="1687950" y="1690685"/>
            <a:ext cx="19471" cy="35073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9B70C9E6-C0D5-7D1D-AC02-4AB6EA2E0053}"/>
              </a:ext>
            </a:extLst>
          </p:cNvPr>
          <p:cNvCxnSpPr>
            <a:cxnSpLocks/>
            <a:stCxn id="10" idx="2"/>
            <a:endCxn id="13" idx="0"/>
          </p:cNvCxnSpPr>
          <p:nvPr/>
        </p:nvCxnSpPr>
        <p:spPr>
          <a:xfrm flipH="1">
            <a:off x="4021237" y="3186376"/>
            <a:ext cx="836" cy="30358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8D725ED6-8BC7-93FB-620B-90C34373FB25}"/>
              </a:ext>
            </a:extLst>
          </p:cNvPr>
          <p:cNvCxnSpPr>
            <a:cxnSpLocks/>
            <a:stCxn id="3" idx="3"/>
            <a:endCxn id="10" idx="1"/>
          </p:cNvCxnSpPr>
          <p:nvPr/>
        </p:nvCxnSpPr>
        <p:spPr>
          <a:xfrm>
            <a:off x="2773460" y="2345005"/>
            <a:ext cx="461619" cy="53779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圆角 18">
            <a:extLst>
              <a:ext uri="{FF2B5EF4-FFF2-40B4-BE49-F238E27FC236}">
                <a16:creationId xmlns:a16="http://schemas.microsoft.com/office/drawing/2014/main" id="{51B82655-90FF-950E-FACE-2A7DF98A70E3}"/>
              </a:ext>
            </a:extLst>
          </p:cNvPr>
          <p:cNvSpPr/>
          <p:nvPr/>
        </p:nvSpPr>
        <p:spPr>
          <a:xfrm>
            <a:off x="3235079" y="1560276"/>
            <a:ext cx="1573988" cy="6071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先选</a:t>
            </a:r>
            <a:r>
              <a:rPr lang="en-US" altLang="zh-CN" dirty="0">
                <a:solidFill>
                  <a:schemeClr val="tx1"/>
                </a:solidFill>
              </a:rPr>
              <a:t>J23</a:t>
            </a:r>
          </a:p>
          <a:p>
            <a:pPr algn="ctr"/>
            <a:r>
              <a:rPr lang="zh-CN" altLang="en-US" dirty="0">
                <a:solidFill>
                  <a:schemeClr val="tx1"/>
                </a:solidFill>
              </a:rPr>
              <a:t>服务</a:t>
            </a:r>
            <a:r>
              <a:rPr lang="en-US" altLang="zh-CN" dirty="0">
                <a:solidFill>
                  <a:schemeClr val="tx1"/>
                </a:solidFill>
              </a:rPr>
              <a:t>mv1,mv4</a:t>
            </a:r>
          </a:p>
        </p:txBody>
      </p:sp>
      <p:cxnSp>
        <p:nvCxnSpPr>
          <p:cNvPr id="20" name="连接符: 肘形 19">
            <a:extLst>
              <a:ext uri="{FF2B5EF4-FFF2-40B4-BE49-F238E27FC236}">
                <a16:creationId xmlns:a16="http://schemas.microsoft.com/office/drawing/2014/main" id="{8BFE412A-F23C-CFC4-79E7-470F460CCA1B}"/>
              </a:ext>
            </a:extLst>
          </p:cNvPr>
          <p:cNvCxnSpPr>
            <a:cxnSpLocks/>
            <a:stCxn id="3" idx="3"/>
            <a:endCxn id="19" idx="1"/>
          </p:cNvCxnSpPr>
          <p:nvPr/>
        </p:nvCxnSpPr>
        <p:spPr>
          <a:xfrm flipV="1">
            <a:off x="2773460" y="1863857"/>
            <a:ext cx="461619" cy="48114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矩形: 圆角 33">
            <a:extLst>
              <a:ext uri="{FF2B5EF4-FFF2-40B4-BE49-F238E27FC236}">
                <a16:creationId xmlns:a16="http://schemas.microsoft.com/office/drawing/2014/main" id="{FE7B3AE5-46A1-0125-067F-D08F2A240124}"/>
              </a:ext>
            </a:extLst>
          </p:cNvPr>
          <p:cNvSpPr/>
          <p:nvPr/>
        </p:nvSpPr>
        <p:spPr>
          <a:xfrm>
            <a:off x="3004269" y="684289"/>
            <a:ext cx="2033936" cy="607162"/>
          </a:xfrm>
          <a:prstGeom prst="roundRect">
            <a:avLst/>
          </a:prstGeom>
          <a:solidFill>
            <a:schemeClr val="accent2">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Sf</a:t>
            </a:r>
            <a:r>
              <a:rPr lang="zh-CN" altLang="en-US" dirty="0">
                <a:solidFill>
                  <a:schemeClr val="tx1"/>
                </a:solidFill>
              </a:rPr>
              <a:t>失去</a:t>
            </a:r>
            <a:r>
              <a:rPr lang="en-US" altLang="zh-CN" dirty="0">
                <a:solidFill>
                  <a:schemeClr val="tx1"/>
                </a:solidFill>
              </a:rPr>
              <a:t>mv1:2-&gt;1  </a:t>
            </a:r>
          </a:p>
          <a:p>
            <a:pPr algn="ctr"/>
            <a:r>
              <a:rPr lang="en-US" altLang="zh-CN" dirty="0">
                <a:solidFill>
                  <a:schemeClr val="tx1"/>
                </a:solidFill>
              </a:rPr>
              <a:t>mv3</a:t>
            </a:r>
            <a:r>
              <a:rPr lang="zh-CN" altLang="en-US" dirty="0">
                <a:solidFill>
                  <a:schemeClr val="tx1"/>
                </a:solidFill>
              </a:rPr>
              <a:t>失去</a:t>
            </a:r>
            <a:r>
              <a:rPr lang="en-US" altLang="zh-CN" dirty="0">
                <a:solidFill>
                  <a:schemeClr val="tx1"/>
                </a:solidFill>
              </a:rPr>
              <a:t>mv4:2-&gt;1</a:t>
            </a:r>
            <a:endParaRPr lang="zh-CN" altLang="en-US" dirty="0">
              <a:solidFill>
                <a:schemeClr val="tx1"/>
              </a:solidFill>
            </a:endParaRPr>
          </a:p>
        </p:txBody>
      </p:sp>
      <p:cxnSp>
        <p:nvCxnSpPr>
          <p:cNvPr id="38" name="直接箭头连接符 37">
            <a:extLst>
              <a:ext uri="{FF2B5EF4-FFF2-40B4-BE49-F238E27FC236}">
                <a16:creationId xmlns:a16="http://schemas.microsoft.com/office/drawing/2014/main" id="{3CC28109-17C2-D68C-E84A-E931B98AB88E}"/>
              </a:ext>
            </a:extLst>
          </p:cNvPr>
          <p:cNvCxnSpPr>
            <a:cxnSpLocks/>
            <a:stCxn id="19" idx="0"/>
            <a:endCxn id="34" idx="2"/>
          </p:cNvCxnSpPr>
          <p:nvPr/>
        </p:nvCxnSpPr>
        <p:spPr>
          <a:xfrm flipH="1" flipV="1">
            <a:off x="4021237" y="1291451"/>
            <a:ext cx="836" cy="26882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42" name="矩形: 圆角 41">
            <a:extLst>
              <a:ext uri="{FF2B5EF4-FFF2-40B4-BE49-F238E27FC236}">
                <a16:creationId xmlns:a16="http://schemas.microsoft.com/office/drawing/2014/main" id="{289F21F2-BFDF-A301-8148-6551189625FF}"/>
              </a:ext>
            </a:extLst>
          </p:cNvPr>
          <p:cNvSpPr/>
          <p:nvPr/>
        </p:nvSpPr>
        <p:spPr>
          <a:xfrm>
            <a:off x="5374783" y="1560276"/>
            <a:ext cx="1913685" cy="607162"/>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无额外共享候选</a:t>
            </a:r>
            <a:endParaRPr lang="en-US" altLang="zh-CN" dirty="0">
              <a:solidFill>
                <a:schemeClr val="tx1"/>
              </a:solidFill>
            </a:endParaRPr>
          </a:p>
          <a:p>
            <a:pPr algn="ctr"/>
            <a:r>
              <a:rPr lang="zh-CN" altLang="en-US" dirty="0">
                <a:solidFill>
                  <a:schemeClr val="tx1"/>
                </a:solidFill>
              </a:rPr>
              <a:t>补全计算路径</a:t>
            </a:r>
          </a:p>
        </p:txBody>
      </p:sp>
      <p:cxnSp>
        <p:nvCxnSpPr>
          <p:cNvPr id="46" name="连接符: 肘形 45">
            <a:extLst>
              <a:ext uri="{FF2B5EF4-FFF2-40B4-BE49-F238E27FC236}">
                <a16:creationId xmlns:a16="http://schemas.microsoft.com/office/drawing/2014/main" id="{BFC97128-82B7-7671-C945-2095A08B968D}"/>
              </a:ext>
            </a:extLst>
          </p:cNvPr>
          <p:cNvCxnSpPr>
            <a:cxnSpLocks/>
            <a:stCxn id="34" idx="3"/>
            <a:endCxn id="42" idx="0"/>
          </p:cNvCxnSpPr>
          <p:nvPr/>
        </p:nvCxnSpPr>
        <p:spPr>
          <a:xfrm>
            <a:off x="5038205" y="987870"/>
            <a:ext cx="1293421" cy="57240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矩形: 圆角 48">
            <a:extLst>
              <a:ext uri="{FF2B5EF4-FFF2-40B4-BE49-F238E27FC236}">
                <a16:creationId xmlns:a16="http://schemas.microsoft.com/office/drawing/2014/main" id="{C17EC3C8-034B-B248-5A4A-44EC5A9043C3}"/>
              </a:ext>
            </a:extLst>
          </p:cNvPr>
          <p:cNvSpPr/>
          <p:nvPr/>
        </p:nvSpPr>
        <p:spPr>
          <a:xfrm>
            <a:off x="7625046" y="1560277"/>
            <a:ext cx="1021418" cy="607161"/>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得分</a:t>
            </a:r>
            <a:r>
              <a:rPr lang="en-US" altLang="zh-CN" dirty="0">
                <a:solidFill>
                  <a:schemeClr val="tx1"/>
                </a:solidFill>
              </a:rPr>
              <a:t>:</a:t>
            </a:r>
          </a:p>
          <a:p>
            <a:pPr algn="ctr"/>
            <a:r>
              <a:rPr lang="en-US" altLang="zh-CN" dirty="0">
                <a:solidFill>
                  <a:schemeClr val="tx1"/>
                </a:solidFill>
              </a:rPr>
              <a:t>4+1=5</a:t>
            </a:r>
            <a:endParaRPr lang="zh-CN" altLang="en-US" dirty="0">
              <a:solidFill>
                <a:schemeClr val="tx1"/>
              </a:solidFill>
            </a:endParaRPr>
          </a:p>
        </p:txBody>
      </p:sp>
      <p:cxnSp>
        <p:nvCxnSpPr>
          <p:cNvPr id="50" name="直接箭头连接符 49">
            <a:extLst>
              <a:ext uri="{FF2B5EF4-FFF2-40B4-BE49-F238E27FC236}">
                <a16:creationId xmlns:a16="http://schemas.microsoft.com/office/drawing/2014/main" id="{0C4D4892-09D7-D434-1AAC-AB5AE2DFCEBE}"/>
              </a:ext>
            </a:extLst>
          </p:cNvPr>
          <p:cNvCxnSpPr>
            <a:cxnSpLocks/>
            <a:stCxn id="42" idx="3"/>
            <a:endCxn id="49" idx="1"/>
          </p:cNvCxnSpPr>
          <p:nvPr/>
        </p:nvCxnSpPr>
        <p:spPr>
          <a:xfrm>
            <a:off x="7288468" y="1863857"/>
            <a:ext cx="33657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连接符: 肘形 62">
            <a:extLst>
              <a:ext uri="{FF2B5EF4-FFF2-40B4-BE49-F238E27FC236}">
                <a16:creationId xmlns:a16="http://schemas.microsoft.com/office/drawing/2014/main" id="{D79251F8-A4B1-9E50-5229-852D411691F2}"/>
              </a:ext>
            </a:extLst>
          </p:cNvPr>
          <p:cNvCxnSpPr>
            <a:cxnSpLocks/>
            <a:stCxn id="13" idx="3"/>
            <a:endCxn id="16" idx="2"/>
          </p:cNvCxnSpPr>
          <p:nvPr/>
        </p:nvCxnSpPr>
        <p:spPr>
          <a:xfrm flipV="1">
            <a:off x="5038205" y="3188614"/>
            <a:ext cx="843336" cy="4789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矩形: 圆角 67">
            <a:extLst>
              <a:ext uri="{FF2B5EF4-FFF2-40B4-BE49-F238E27FC236}">
                <a16:creationId xmlns:a16="http://schemas.microsoft.com/office/drawing/2014/main" id="{CC31FF26-FF3F-D32B-DFB8-F72716A865F3}"/>
              </a:ext>
            </a:extLst>
          </p:cNvPr>
          <p:cNvSpPr/>
          <p:nvPr/>
        </p:nvSpPr>
        <p:spPr>
          <a:xfrm>
            <a:off x="6897673" y="2579214"/>
            <a:ext cx="1913685" cy="607162"/>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无额外共享候选</a:t>
            </a:r>
            <a:endParaRPr lang="en-US" altLang="zh-CN" dirty="0">
              <a:solidFill>
                <a:schemeClr val="tx1"/>
              </a:solidFill>
            </a:endParaRPr>
          </a:p>
          <a:p>
            <a:pPr algn="ctr"/>
            <a:r>
              <a:rPr lang="zh-CN" altLang="en-US" dirty="0">
                <a:solidFill>
                  <a:schemeClr val="tx1"/>
                </a:solidFill>
              </a:rPr>
              <a:t>补全计算路径</a:t>
            </a:r>
          </a:p>
        </p:txBody>
      </p:sp>
      <p:cxnSp>
        <p:nvCxnSpPr>
          <p:cNvPr id="70" name="直接箭头连接符 69">
            <a:extLst>
              <a:ext uri="{FF2B5EF4-FFF2-40B4-BE49-F238E27FC236}">
                <a16:creationId xmlns:a16="http://schemas.microsoft.com/office/drawing/2014/main" id="{F55FF88E-EBAA-4122-3727-F53C5AF416D7}"/>
              </a:ext>
            </a:extLst>
          </p:cNvPr>
          <p:cNvCxnSpPr>
            <a:cxnSpLocks/>
            <a:stCxn id="16" idx="3"/>
            <a:endCxn id="68" idx="1"/>
          </p:cNvCxnSpPr>
          <p:nvPr/>
        </p:nvCxnSpPr>
        <p:spPr>
          <a:xfrm flipV="1">
            <a:off x="6668535" y="2882795"/>
            <a:ext cx="229138" cy="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矩形: 圆角 72">
            <a:extLst>
              <a:ext uri="{FF2B5EF4-FFF2-40B4-BE49-F238E27FC236}">
                <a16:creationId xmlns:a16="http://schemas.microsoft.com/office/drawing/2014/main" id="{90832FB6-3CBC-D895-1360-6DCD8ED52534}"/>
              </a:ext>
            </a:extLst>
          </p:cNvPr>
          <p:cNvSpPr/>
          <p:nvPr/>
        </p:nvSpPr>
        <p:spPr>
          <a:xfrm>
            <a:off x="9096213" y="2579214"/>
            <a:ext cx="1072474" cy="607162"/>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得分</a:t>
            </a:r>
            <a:endParaRPr lang="en-US" altLang="zh-CN" dirty="0">
              <a:solidFill>
                <a:schemeClr val="tx1"/>
              </a:solidFill>
            </a:endParaRPr>
          </a:p>
          <a:p>
            <a:pPr algn="ctr"/>
            <a:r>
              <a:rPr lang="en-US" altLang="zh-CN" dirty="0">
                <a:solidFill>
                  <a:schemeClr val="tx1"/>
                </a:solidFill>
              </a:rPr>
              <a:t>4+1+1=6</a:t>
            </a:r>
            <a:endParaRPr lang="zh-CN" altLang="en-US" dirty="0">
              <a:solidFill>
                <a:schemeClr val="tx1"/>
              </a:solidFill>
            </a:endParaRPr>
          </a:p>
        </p:txBody>
      </p:sp>
      <p:cxnSp>
        <p:nvCxnSpPr>
          <p:cNvPr id="74" name="直接箭头连接符 73">
            <a:extLst>
              <a:ext uri="{FF2B5EF4-FFF2-40B4-BE49-F238E27FC236}">
                <a16:creationId xmlns:a16="http://schemas.microsoft.com/office/drawing/2014/main" id="{70364FDE-2837-E1F4-4E18-16AF6E7B907A}"/>
              </a:ext>
            </a:extLst>
          </p:cNvPr>
          <p:cNvCxnSpPr>
            <a:cxnSpLocks/>
            <a:stCxn id="68" idx="3"/>
            <a:endCxn id="73" idx="1"/>
          </p:cNvCxnSpPr>
          <p:nvPr/>
        </p:nvCxnSpPr>
        <p:spPr>
          <a:xfrm>
            <a:off x="8811358" y="2882795"/>
            <a:ext cx="2848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矩形: 圆角 80">
            <a:extLst>
              <a:ext uri="{FF2B5EF4-FFF2-40B4-BE49-F238E27FC236}">
                <a16:creationId xmlns:a16="http://schemas.microsoft.com/office/drawing/2014/main" id="{59B666BC-BF28-702F-EBDE-AA27C20E6A32}"/>
              </a:ext>
            </a:extLst>
          </p:cNvPr>
          <p:cNvSpPr/>
          <p:nvPr/>
        </p:nvSpPr>
        <p:spPr>
          <a:xfrm>
            <a:off x="10676281" y="1858591"/>
            <a:ext cx="1024467" cy="638786"/>
          </a:xfrm>
          <a:prstGeom prst="roundRect">
            <a:avLst/>
          </a:prstGeom>
          <a:solidFill>
            <a:schemeClr val="accent1">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选择</a:t>
            </a:r>
            <a:r>
              <a:rPr lang="en-US" altLang="zh-CN" dirty="0">
                <a:solidFill>
                  <a:schemeClr val="tx1"/>
                </a:solidFill>
              </a:rPr>
              <a:t>Sf</a:t>
            </a:r>
            <a:r>
              <a:rPr lang="zh-CN" altLang="en-US" dirty="0">
                <a:solidFill>
                  <a:schemeClr val="tx1"/>
                </a:solidFill>
              </a:rPr>
              <a:t>，</a:t>
            </a:r>
            <a:endParaRPr lang="en-US" altLang="zh-CN" dirty="0">
              <a:solidFill>
                <a:schemeClr val="tx1"/>
              </a:solidFill>
            </a:endParaRPr>
          </a:p>
          <a:p>
            <a:pPr algn="ctr"/>
            <a:r>
              <a:rPr lang="en-US" altLang="zh-CN" dirty="0">
                <a:solidFill>
                  <a:schemeClr val="tx1"/>
                </a:solidFill>
              </a:rPr>
              <a:t>mv3</a:t>
            </a:r>
            <a:endParaRPr lang="zh-CN" altLang="en-US" dirty="0">
              <a:solidFill>
                <a:schemeClr val="tx1"/>
              </a:solidFill>
            </a:endParaRPr>
          </a:p>
        </p:txBody>
      </p:sp>
      <p:cxnSp>
        <p:nvCxnSpPr>
          <p:cNvPr id="99" name="连接符: 肘形 98">
            <a:extLst>
              <a:ext uri="{FF2B5EF4-FFF2-40B4-BE49-F238E27FC236}">
                <a16:creationId xmlns:a16="http://schemas.microsoft.com/office/drawing/2014/main" id="{BE095398-FCEF-5D48-524C-1FB5837B7BF5}"/>
              </a:ext>
            </a:extLst>
          </p:cNvPr>
          <p:cNvCxnSpPr>
            <a:cxnSpLocks/>
            <a:stCxn id="49" idx="3"/>
            <a:endCxn id="81" idx="1"/>
          </p:cNvCxnSpPr>
          <p:nvPr/>
        </p:nvCxnSpPr>
        <p:spPr>
          <a:xfrm>
            <a:off x="8646464" y="1863858"/>
            <a:ext cx="2029817" cy="314126"/>
          </a:xfrm>
          <a:prstGeom prst="bentConnector3">
            <a:avLst>
              <a:gd name="adj1" fmla="val 8754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连接符: 肘形 104">
            <a:extLst>
              <a:ext uri="{FF2B5EF4-FFF2-40B4-BE49-F238E27FC236}">
                <a16:creationId xmlns:a16="http://schemas.microsoft.com/office/drawing/2014/main" id="{9053D518-CA13-9687-F42C-7F9CC2AEDF5F}"/>
              </a:ext>
            </a:extLst>
          </p:cNvPr>
          <p:cNvCxnSpPr>
            <a:cxnSpLocks/>
            <a:stCxn id="73" idx="3"/>
            <a:endCxn id="81" idx="1"/>
          </p:cNvCxnSpPr>
          <p:nvPr/>
        </p:nvCxnSpPr>
        <p:spPr>
          <a:xfrm flipV="1">
            <a:off x="10168687" y="2177984"/>
            <a:ext cx="507594" cy="70481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5928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77F2ACDD-E72C-3D8F-3B45-713C4A04708F}"/>
              </a:ext>
            </a:extLst>
          </p:cNvPr>
          <p:cNvSpPr txBox="1"/>
          <p:nvPr/>
        </p:nvSpPr>
        <p:spPr>
          <a:xfrm>
            <a:off x="1122389" y="1698034"/>
            <a:ext cx="7362044" cy="2308324"/>
          </a:xfrm>
          <a:prstGeom prst="rect">
            <a:avLst/>
          </a:prstGeom>
          <a:noFill/>
        </p:spPr>
        <p:txBody>
          <a:bodyPr wrap="square">
            <a:spAutoFit/>
          </a:bodyPr>
          <a:lstStyle/>
          <a:p>
            <a:r>
              <a:rPr lang="zh-CN" altLang="en-US" dirty="0"/>
              <a:t>物化视图组 </a:t>
            </a:r>
            <a:r>
              <a:rPr lang="en-US" altLang="zh-CN" dirty="0"/>
              <a:t>V</a:t>
            </a:r>
            <a:r>
              <a:rPr lang="zh-CN" altLang="en-US" dirty="0"/>
              <a:t>、约束与统计信息、规则集合 </a:t>
            </a:r>
            <a:endParaRPr lang="en-US" altLang="zh-CN" dirty="0"/>
          </a:p>
          <a:p>
            <a:r>
              <a:rPr lang="en-US" altLang="zh-CN" dirty="0"/>
              <a:t>R← </a:t>
            </a:r>
            <a:r>
              <a:rPr lang="zh-CN" altLang="en-US" dirty="0"/>
              <a:t>空图；</a:t>
            </a:r>
            <a:endParaRPr lang="en-US" altLang="zh-CN" dirty="0"/>
          </a:p>
          <a:p>
            <a:r>
              <a:rPr lang="zh-CN" altLang="en-US" dirty="0"/>
              <a:t>对每个视图 </a:t>
            </a:r>
            <a:r>
              <a:rPr lang="en-US" altLang="zh-CN" dirty="0" err="1"/>
              <a:t>V_i</a:t>
            </a:r>
            <a:r>
              <a:rPr lang="zh-CN" altLang="en-US" dirty="0"/>
              <a:t>：    </a:t>
            </a:r>
            <a:endParaRPr lang="en-US" altLang="zh-CN" dirty="0"/>
          </a:p>
          <a:p>
            <a:r>
              <a:rPr lang="zh-CN" altLang="en-US" dirty="0"/>
              <a:t>从基表生成其基本关系路径及合法的替代路径    </a:t>
            </a:r>
            <a:endParaRPr lang="en-US" altLang="zh-CN" dirty="0"/>
          </a:p>
          <a:p>
            <a:r>
              <a:rPr lang="zh-CN" altLang="en-US" dirty="0"/>
              <a:t>应用增量语义、数据包含和约束驱动规则 </a:t>
            </a:r>
            <a:endParaRPr lang="en-US" altLang="zh-CN" dirty="0"/>
          </a:p>
          <a:p>
            <a:r>
              <a:rPr lang="zh-CN" altLang="en-US" dirty="0"/>
              <a:t>将路径插入 </a:t>
            </a:r>
            <a:r>
              <a:rPr lang="en-US" altLang="zh-CN" dirty="0"/>
              <a:t>G</a:t>
            </a:r>
            <a:r>
              <a:rPr lang="zh-CN" altLang="en-US" dirty="0"/>
              <a:t>，复用语义相同的数据节点，更新权重  </a:t>
            </a:r>
            <a:endParaRPr lang="en-US" altLang="zh-CN" dirty="0"/>
          </a:p>
          <a:p>
            <a:r>
              <a:rPr lang="zh-CN" altLang="en-US" dirty="0"/>
              <a:t>  </a:t>
            </a:r>
            <a:endParaRPr lang="en-US" altLang="zh-CN" dirty="0"/>
          </a:p>
          <a:p>
            <a:r>
              <a:rPr lang="zh-CN" altLang="en-US" dirty="0"/>
              <a:t>输出：候选图 </a:t>
            </a:r>
            <a:r>
              <a:rPr lang="en-US" altLang="zh-CN" dirty="0"/>
              <a:t>G</a:t>
            </a:r>
            <a:r>
              <a:rPr lang="zh-CN" altLang="en-US" dirty="0"/>
              <a:t>、节点权重 </a:t>
            </a:r>
            <a:r>
              <a:rPr lang="en-US" altLang="zh-CN" dirty="0"/>
              <a:t>w</a:t>
            </a:r>
            <a:r>
              <a:rPr lang="zh-CN" altLang="en-US" dirty="0"/>
              <a:t>、基表集合 </a:t>
            </a:r>
            <a:r>
              <a:rPr lang="en-US" altLang="zh-CN" dirty="0"/>
              <a:t>B</a:t>
            </a:r>
            <a:r>
              <a:rPr lang="zh-CN" altLang="en-US" dirty="0"/>
              <a:t>、目标集合 </a:t>
            </a:r>
            <a:r>
              <a:rPr lang="en-US" altLang="zh-CN" dirty="0"/>
              <a:t>T</a:t>
            </a:r>
            <a:endParaRPr lang="zh-CN" altLang="en-US" dirty="0"/>
          </a:p>
        </p:txBody>
      </p:sp>
    </p:spTree>
    <p:extLst>
      <p:ext uri="{BB962C8B-B14F-4D97-AF65-F5344CB8AC3E}">
        <p14:creationId xmlns:p14="http://schemas.microsoft.com/office/powerpoint/2010/main" val="799566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0151A-2BEC-3AC1-5BEF-0EE6FA878F6C}"/>
            </a:ext>
          </a:extLst>
        </p:cNvPr>
        <p:cNvGrpSpPr/>
        <p:nvPr/>
      </p:nvGrpSpPr>
      <p:grpSpPr>
        <a:xfrm>
          <a:off x="0" y="0"/>
          <a:ext cx="0" cy="0"/>
          <a:chOff x="0" y="0"/>
          <a:chExt cx="0" cy="0"/>
        </a:xfrm>
      </p:grpSpPr>
      <p:sp>
        <p:nvSpPr>
          <p:cNvPr id="6" name="矩形: 圆角 5">
            <a:extLst>
              <a:ext uri="{FF2B5EF4-FFF2-40B4-BE49-F238E27FC236}">
                <a16:creationId xmlns:a16="http://schemas.microsoft.com/office/drawing/2014/main" id="{034CC2D7-EFED-8BB5-DB43-0AE16C4FA92C}"/>
              </a:ext>
            </a:extLst>
          </p:cNvPr>
          <p:cNvSpPr/>
          <p:nvPr/>
        </p:nvSpPr>
        <p:spPr>
          <a:xfrm>
            <a:off x="826618" y="840030"/>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 1</a:t>
            </a:r>
            <a:endParaRPr lang="zh-CN" altLang="en-US" dirty="0">
              <a:solidFill>
                <a:schemeClr val="tx1"/>
              </a:solidFill>
            </a:endParaRPr>
          </a:p>
        </p:txBody>
      </p:sp>
      <p:sp>
        <p:nvSpPr>
          <p:cNvPr id="7" name="矩形: 圆角 6">
            <a:extLst>
              <a:ext uri="{FF2B5EF4-FFF2-40B4-BE49-F238E27FC236}">
                <a16:creationId xmlns:a16="http://schemas.microsoft.com/office/drawing/2014/main" id="{2933C5E7-BF3B-3FC9-79E7-2D5F1EF52B52}"/>
              </a:ext>
            </a:extLst>
          </p:cNvPr>
          <p:cNvSpPr/>
          <p:nvPr/>
        </p:nvSpPr>
        <p:spPr>
          <a:xfrm>
            <a:off x="826617" y="1628852"/>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 2</a:t>
            </a:r>
            <a:endParaRPr lang="zh-CN" altLang="en-US" dirty="0">
              <a:solidFill>
                <a:schemeClr val="tx1"/>
              </a:solidFill>
            </a:endParaRPr>
          </a:p>
        </p:txBody>
      </p:sp>
      <p:sp>
        <p:nvSpPr>
          <p:cNvPr id="8" name="矩形: 圆角 7">
            <a:extLst>
              <a:ext uri="{FF2B5EF4-FFF2-40B4-BE49-F238E27FC236}">
                <a16:creationId xmlns:a16="http://schemas.microsoft.com/office/drawing/2014/main" id="{921F2D3C-1799-632E-E67A-8B6C6DA2AECC}"/>
              </a:ext>
            </a:extLst>
          </p:cNvPr>
          <p:cNvSpPr/>
          <p:nvPr/>
        </p:nvSpPr>
        <p:spPr>
          <a:xfrm>
            <a:off x="826616" y="2484730"/>
            <a:ext cx="826617"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C 2</a:t>
            </a:r>
            <a:endParaRPr lang="zh-CN" altLang="en-US" dirty="0">
              <a:solidFill>
                <a:schemeClr val="tx1"/>
              </a:solidFill>
            </a:endParaRPr>
          </a:p>
        </p:txBody>
      </p:sp>
      <p:sp>
        <p:nvSpPr>
          <p:cNvPr id="9" name="矩形: 圆角 8">
            <a:extLst>
              <a:ext uri="{FF2B5EF4-FFF2-40B4-BE49-F238E27FC236}">
                <a16:creationId xmlns:a16="http://schemas.microsoft.com/office/drawing/2014/main" id="{718AB4AF-ED87-EC10-2159-84151F13591D}"/>
              </a:ext>
            </a:extLst>
          </p:cNvPr>
          <p:cNvSpPr/>
          <p:nvPr/>
        </p:nvSpPr>
        <p:spPr>
          <a:xfrm>
            <a:off x="2617013" y="889107"/>
            <a:ext cx="12527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Join(A,B) 1</a:t>
            </a:r>
            <a:endParaRPr lang="zh-CN" altLang="en-US" dirty="0">
              <a:solidFill>
                <a:schemeClr val="tx1"/>
              </a:solidFill>
            </a:endParaRPr>
          </a:p>
        </p:txBody>
      </p:sp>
      <p:sp>
        <p:nvSpPr>
          <p:cNvPr id="10" name="矩形: 圆角 9">
            <a:extLst>
              <a:ext uri="{FF2B5EF4-FFF2-40B4-BE49-F238E27FC236}">
                <a16:creationId xmlns:a16="http://schemas.microsoft.com/office/drawing/2014/main" id="{CA8DD774-E7C1-BDCD-19DB-372E13000ABA}"/>
              </a:ext>
            </a:extLst>
          </p:cNvPr>
          <p:cNvSpPr/>
          <p:nvPr/>
        </p:nvSpPr>
        <p:spPr>
          <a:xfrm>
            <a:off x="2617013" y="2437637"/>
            <a:ext cx="12527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Join(B,C) 2</a:t>
            </a:r>
            <a:endParaRPr lang="zh-CN" altLang="en-US" dirty="0">
              <a:solidFill>
                <a:schemeClr val="tx1"/>
              </a:solidFill>
            </a:endParaRPr>
          </a:p>
        </p:txBody>
      </p:sp>
      <p:sp>
        <p:nvSpPr>
          <p:cNvPr id="11" name="矩形: 圆角 10">
            <a:extLst>
              <a:ext uri="{FF2B5EF4-FFF2-40B4-BE49-F238E27FC236}">
                <a16:creationId xmlns:a16="http://schemas.microsoft.com/office/drawing/2014/main" id="{9885120D-387B-AEEA-BB5C-128409A217F4}"/>
              </a:ext>
            </a:extLst>
          </p:cNvPr>
          <p:cNvSpPr/>
          <p:nvPr/>
        </p:nvSpPr>
        <p:spPr>
          <a:xfrm>
            <a:off x="4223613" y="1628852"/>
            <a:ext cx="1474928" cy="431596"/>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Join(A,B,C) 1</a:t>
            </a:r>
            <a:endParaRPr lang="zh-CN" altLang="en-US" dirty="0">
              <a:solidFill>
                <a:schemeClr val="tx1"/>
              </a:solidFill>
            </a:endParaRPr>
          </a:p>
        </p:txBody>
      </p:sp>
      <p:cxnSp>
        <p:nvCxnSpPr>
          <p:cNvPr id="12" name="直接箭头连接符 11">
            <a:extLst>
              <a:ext uri="{FF2B5EF4-FFF2-40B4-BE49-F238E27FC236}">
                <a16:creationId xmlns:a16="http://schemas.microsoft.com/office/drawing/2014/main" id="{075D0976-E77F-234A-7EFF-637381290D0E}"/>
              </a:ext>
            </a:extLst>
          </p:cNvPr>
          <p:cNvCxnSpPr>
            <a:cxnSpLocks/>
            <a:stCxn id="6" idx="3"/>
            <a:endCxn id="9" idx="1"/>
          </p:cNvCxnSpPr>
          <p:nvPr/>
        </p:nvCxnSpPr>
        <p:spPr>
          <a:xfrm>
            <a:off x="1653235" y="1055828"/>
            <a:ext cx="963778" cy="490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92042CDF-784A-C18B-B821-99CBAB7371F7}"/>
              </a:ext>
            </a:extLst>
          </p:cNvPr>
          <p:cNvCxnSpPr>
            <a:cxnSpLocks/>
            <a:stCxn id="7" idx="3"/>
            <a:endCxn id="10" idx="1"/>
          </p:cNvCxnSpPr>
          <p:nvPr/>
        </p:nvCxnSpPr>
        <p:spPr>
          <a:xfrm>
            <a:off x="1653234" y="1844650"/>
            <a:ext cx="963779" cy="808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5299611C-5E35-B97D-12B5-801DC099C612}"/>
              </a:ext>
            </a:extLst>
          </p:cNvPr>
          <p:cNvCxnSpPr>
            <a:cxnSpLocks/>
            <a:stCxn id="7" idx="3"/>
            <a:endCxn id="9" idx="1"/>
          </p:cNvCxnSpPr>
          <p:nvPr/>
        </p:nvCxnSpPr>
        <p:spPr>
          <a:xfrm flipV="1">
            <a:off x="1653234" y="1104905"/>
            <a:ext cx="963779" cy="739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E0BCF50D-FBFF-DEDE-EB70-FA87E4011773}"/>
              </a:ext>
            </a:extLst>
          </p:cNvPr>
          <p:cNvCxnSpPr>
            <a:cxnSpLocks/>
            <a:stCxn id="8" idx="3"/>
            <a:endCxn id="10" idx="1"/>
          </p:cNvCxnSpPr>
          <p:nvPr/>
        </p:nvCxnSpPr>
        <p:spPr>
          <a:xfrm flipV="1">
            <a:off x="1653233" y="2653435"/>
            <a:ext cx="963780" cy="470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328D060-DCB5-4C6E-C702-307F3A94BCE5}"/>
              </a:ext>
            </a:extLst>
          </p:cNvPr>
          <p:cNvCxnSpPr>
            <a:cxnSpLocks/>
            <a:stCxn id="9" idx="3"/>
            <a:endCxn id="11" idx="1"/>
          </p:cNvCxnSpPr>
          <p:nvPr/>
        </p:nvCxnSpPr>
        <p:spPr>
          <a:xfrm>
            <a:off x="3869741" y="1104905"/>
            <a:ext cx="353872" cy="739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14D9988B-400C-E2CC-C9DD-7A54C66CBEDA}"/>
              </a:ext>
            </a:extLst>
          </p:cNvPr>
          <p:cNvCxnSpPr>
            <a:cxnSpLocks/>
            <a:stCxn id="8" idx="3"/>
            <a:endCxn id="11" idx="1"/>
          </p:cNvCxnSpPr>
          <p:nvPr/>
        </p:nvCxnSpPr>
        <p:spPr>
          <a:xfrm flipV="1">
            <a:off x="1653233" y="1844650"/>
            <a:ext cx="2570380" cy="855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91B077B-5CD4-0267-7778-D6EF500AD5FF}"/>
              </a:ext>
            </a:extLst>
          </p:cNvPr>
          <p:cNvCxnSpPr>
            <a:cxnSpLocks/>
            <a:stCxn id="10" idx="3"/>
            <a:endCxn id="11" idx="1"/>
          </p:cNvCxnSpPr>
          <p:nvPr/>
        </p:nvCxnSpPr>
        <p:spPr>
          <a:xfrm flipV="1">
            <a:off x="3869741" y="1844650"/>
            <a:ext cx="353872" cy="808785"/>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9" name="直接箭头连接符 18">
            <a:extLst>
              <a:ext uri="{FF2B5EF4-FFF2-40B4-BE49-F238E27FC236}">
                <a16:creationId xmlns:a16="http://schemas.microsoft.com/office/drawing/2014/main" id="{C39C0449-DC5B-20B2-B831-028D1FC025EF}"/>
              </a:ext>
            </a:extLst>
          </p:cNvPr>
          <p:cNvCxnSpPr>
            <a:cxnSpLocks/>
            <a:stCxn id="6" idx="3"/>
            <a:endCxn id="11" idx="1"/>
          </p:cNvCxnSpPr>
          <p:nvPr/>
        </p:nvCxnSpPr>
        <p:spPr>
          <a:xfrm>
            <a:off x="1653235" y="1055828"/>
            <a:ext cx="2570378" cy="788822"/>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0" name="矩形: 圆角 19">
            <a:extLst>
              <a:ext uri="{FF2B5EF4-FFF2-40B4-BE49-F238E27FC236}">
                <a16:creationId xmlns:a16="http://schemas.microsoft.com/office/drawing/2014/main" id="{CFAC59E1-845C-1E16-7E6F-DCC47C159527}"/>
              </a:ext>
            </a:extLst>
          </p:cNvPr>
          <p:cNvSpPr/>
          <p:nvPr/>
        </p:nvSpPr>
        <p:spPr>
          <a:xfrm>
            <a:off x="826615" y="3395165"/>
            <a:ext cx="826617"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D 1</a:t>
            </a:r>
            <a:endParaRPr lang="zh-CN" altLang="en-US" dirty="0">
              <a:solidFill>
                <a:schemeClr val="tx1"/>
              </a:solidFill>
            </a:endParaRPr>
          </a:p>
        </p:txBody>
      </p:sp>
      <p:sp>
        <p:nvSpPr>
          <p:cNvPr id="21" name="矩形: 圆角 20">
            <a:extLst>
              <a:ext uri="{FF2B5EF4-FFF2-40B4-BE49-F238E27FC236}">
                <a16:creationId xmlns:a16="http://schemas.microsoft.com/office/drawing/2014/main" id="{29E328C7-4734-5F32-5538-240B8F3E92EA}"/>
              </a:ext>
            </a:extLst>
          </p:cNvPr>
          <p:cNvSpPr/>
          <p:nvPr/>
        </p:nvSpPr>
        <p:spPr>
          <a:xfrm>
            <a:off x="2617013" y="3395165"/>
            <a:ext cx="1252728"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Join(C,D) 1</a:t>
            </a:r>
            <a:endParaRPr lang="zh-CN" altLang="en-US" dirty="0">
              <a:solidFill>
                <a:schemeClr val="tx1"/>
              </a:solidFill>
            </a:endParaRPr>
          </a:p>
        </p:txBody>
      </p:sp>
      <p:cxnSp>
        <p:nvCxnSpPr>
          <p:cNvPr id="22" name="直接箭头连接符 21">
            <a:extLst>
              <a:ext uri="{FF2B5EF4-FFF2-40B4-BE49-F238E27FC236}">
                <a16:creationId xmlns:a16="http://schemas.microsoft.com/office/drawing/2014/main" id="{BDA43C33-A29F-C3BC-3DCC-CDD39086E268}"/>
              </a:ext>
            </a:extLst>
          </p:cNvPr>
          <p:cNvCxnSpPr>
            <a:cxnSpLocks/>
            <a:stCxn id="8" idx="3"/>
            <a:endCxn id="21" idx="1"/>
          </p:cNvCxnSpPr>
          <p:nvPr/>
        </p:nvCxnSpPr>
        <p:spPr>
          <a:xfrm>
            <a:off x="1653233" y="2700528"/>
            <a:ext cx="963780" cy="910435"/>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B12FC9A6-0C0C-43A9-6230-EA75A46D79FD}"/>
              </a:ext>
            </a:extLst>
          </p:cNvPr>
          <p:cNvCxnSpPr>
            <a:cxnSpLocks/>
            <a:stCxn id="20" idx="3"/>
            <a:endCxn id="21" idx="1"/>
          </p:cNvCxnSpPr>
          <p:nvPr/>
        </p:nvCxnSpPr>
        <p:spPr>
          <a:xfrm>
            <a:off x="1653232" y="3610963"/>
            <a:ext cx="963781" cy="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圆角 23">
            <a:extLst>
              <a:ext uri="{FF2B5EF4-FFF2-40B4-BE49-F238E27FC236}">
                <a16:creationId xmlns:a16="http://schemas.microsoft.com/office/drawing/2014/main" id="{CF007487-69FE-D643-B247-0DB570D01EB5}"/>
              </a:ext>
            </a:extLst>
          </p:cNvPr>
          <p:cNvSpPr/>
          <p:nvPr/>
        </p:nvSpPr>
        <p:spPr>
          <a:xfrm>
            <a:off x="4223612" y="2785718"/>
            <a:ext cx="1474927" cy="431596"/>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Join(B,C,D) 1</a:t>
            </a:r>
            <a:endParaRPr lang="zh-CN" altLang="en-US" dirty="0">
              <a:solidFill>
                <a:schemeClr val="tx1"/>
              </a:solidFill>
            </a:endParaRPr>
          </a:p>
        </p:txBody>
      </p:sp>
      <p:cxnSp>
        <p:nvCxnSpPr>
          <p:cNvPr id="25" name="直接箭头连接符 24">
            <a:extLst>
              <a:ext uri="{FF2B5EF4-FFF2-40B4-BE49-F238E27FC236}">
                <a16:creationId xmlns:a16="http://schemas.microsoft.com/office/drawing/2014/main" id="{21CD5FE9-4E0A-4514-1009-B906206DFB7D}"/>
              </a:ext>
            </a:extLst>
          </p:cNvPr>
          <p:cNvCxnSpPr>
            <a:cxnSpLocks/>
            <a:stCxn id="21" idx="3"/>
            <a:endCxn id="24" idx="1"/>
          </p:cNvCxnSpPr>
          <p:nvPr/>
        </p:nvCxnSpPr>
        <p:spPr>
          <a:xfrm flipV="1">
            <a:off x="3869741" y="3001516"/>
            <a:ext cx="353871" cy="609447"/>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61D52B82-31D4-BED7-6778-BFB8781EDEF6}"/>
              </a:ext>
            </a:extLst>
          </p:cNvPr>
          <p:cNvCxnSpPr>
            <a:cxnSpLocks/>
            <a:stCxn id="7" idx="3"/>
            <a:endCxn id="24" idx="1"/>
          </p:cNvCxnSpPr>
          <p:nvPr/>
        </p:nvCxnSpPr>
        <p:spPr>
          <a:xfrm>
            <a:off x="1653234" y="1844650"/>
            <a:ext cx="2570378" cy="1156866"/>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BC7E0FC9-7A1E-D1A0-A14C-B5290C3D6D7E}"/>
              </a:ext>
            </a:extLst>
          </p:cNvPr>
          <p:cNvCxnSpPr>
            <a:cxnSpLocks/>
            <a:stCxn id="20" idx="3"/>
            <a:endCxn id="24" idx="1"/>
          </p:cNvCxnSpPr>
          <p:nvPr/>
        </p:nvCxnSpPr>
        <p:spPr>
          <a:xfrm flipV="1">
            <a:off x="1653232" y="3001516"/>
            <a:ext cx="2570380" cy="609447"/>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606B8056-590A-624E-7B3A-620FFE84AFA5}"/>
              </a:ext>
            </a:extLst>
          </p:cNvPr>
          <p:cNvCxnSpPr>
            <a:cxnSpLocks/>
            <a:stCxn id="10" idx="3"/>
            <a:endCxn id="24" idx="1"/>
          </p:cNvCxnSpPr>
          <p:nvPr/>
        </p:nvCxnSpPr>
        <p:spPr>
          <a:xfrm>
            <a:off x="3869741" y="2653435"/>
            <a:ext cx="353871" cy="348081"/>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9BF07094-6347-552C-A388-5AABD1BEB351}"/>
              </a:ext>
            </a:extLst>
          </p:cNvPr>
          <p:cNvSpPr txBox="1"/>
          <p:nvPr/>
        </p:nvSpPr>
        <p:spPr>
          <a:xfrm>
            <a:off x="1047438" y="4203950"/>
            <a:ext cx="7362044" cy="923330"/>
          </a:xfrm>
          <a:prstGeom prst="rect">
            <a:avLst/>
          </a:prstGeom>
          <a:noFill/>
        </p:spPr>
        <p:txBody>
          <a:bodyPr wrap="square">
            <a:spAutoFit/>
          </a:bodyPr>
          <a:lstStyle/>
          <a:p>
            <a:r>
              <a:rPr lang="en-US" altLang="zh-CN" dirty="0"/>
              <a:t>Join(B,C)</a:t>
            </a:r>
            <a:r>
              <a:rPr lang="zh-CN" altLang="en-US" dirty="0"/>
              <a:t>只为两个物化视图使用，物化它带来空间与</a:t>
            </a:r>
            <a:r>
              <a:rPr lang="en-US" altLang="zh-CN" dirty="0"/>
              <a:t>IO</a:t>
            </a:r>
            <a:r>
              <a:rPr lang="zh-CN" altLang="en-US" dirty="0"/>
              <a:t>延迟，不一定值得。</a:t>
            </a:r>
            <a:endParaRPr lang="en-US" altLang="zh-CN" dirty="0"/>
          </a:p>
          <a:p>
            <a:r>
              <a:rPr lang="zh-CN" altLang="en-US" dirty="0"/>
              <a:t>如果本身</a:t>
            </a:r>
            <a:r>
              <a:rPr lang="en-US" altLang="zh-CN" dirty="0" err="1"/>
              <a:t>delta_Q</a:t>
            </a:r>
            <a:r>
              <a:rPr lang="en-US" altLang="zh-CN" dirty="0"/>
              <a:t>(Join(B,C))</a:t>
            </a:r>
            <a:r>
              <a:rPr lang="zh-CN" altLang="en-US" dirty="0"/>
              <a:t>开销较大，可以考虑物化</a:t>
            </a:r>
            <a:r>
              <a:rPr lang="en-US" altLang="zh-CN" dirty="0"/>
              <a:t>Join(B,C) </a:t>
            </a:r>
            <a:r>
              <a:rPr lang="zh-CN" altLang="en-US" dirty="0"/>
              <a:t>。</a:t>
            </a:r>
          </a:p>
        </p:txBody>
      </p:sp>
    </p:spTree>
    <p:extLst>
      <p:ext uri="{BB962C8B-B14F-4D97-AF65-F5344CB8AC3E}">
        <p14:creationId xmlns:p14="http://schemas.microsoft.com/office/powerpoint/2010/main" val="3017848349"/>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3727</TotalTime>
  <Words>4000</Words>
  <Application>Microsoft Office PowerPoint</Application>
  <PresentationFormat>宽屏</PresentationFormat>
  <Paragraphs>470</Paragraphs>
  <Slides>12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Arial</vt:lpstr>
      <vt:lpstr>Calibri</vt:lpstr>
      <vt:lpstr>Cambria</vt:lpstr>
      <vt:lpstr>Cambria Math</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zoe</dc:creator>
  <cp:lastModifiedBy>志强 程</cp:lastModifiedBy>
  <cp:revision>341</cp:revision>
  <dcterms:created xsi:type="dcterms:W3CDTF">2023-08-09T12:44:00Z</dcterms:created>
  <dcterms:modified xsi:type="dcterms:W3CDTF">2026-10-14T08:00:19Z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